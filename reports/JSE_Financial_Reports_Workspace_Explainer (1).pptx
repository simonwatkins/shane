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18.png"/><Relationship Id="rId13" Type="http://schemas.openxmlformats.org/officeDocument/2006/relationships/image" Target="../media/image21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1.png"/><Relationship Id="rId15" Type="http://schemas.openxmlformats.org/officeDocument/2006/relationships/image" Target="../media/image20.png"/><Relationship Id="rId14" Type="http://schemas.openxmlformats.org/officeDocument/2006/relationships/image" Target="../media/image19.png"/><Relationship Id="rId17" Type="http://schemas.openxmlformats.org/officeDocument/2006/relationships/image" Target="../media/image14.png"/><Relationship Id="rId16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7.png"/><Relationship Id="rId7" Type="http://schemas.openxmlformats.org/officeDocument/2006/relationships/image" Target="../media/image22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292608"/>
            <a:ext cx="112745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3243B"/>
                </a:solidFill>
                <a:latin typeface="Georgia"/>
                <a:ea typeface="Georgia"/>
                <a:cs typeface="Georgia"/>
                <a:sym typeface="Georgia"/>
              </a:rPr>
              <a:t>How the JSE Financial Reports workspace works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786384"/>
            <a:ext cx="112745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18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An automated research desk that finds, files and analyses reports for JSE-listed companies — so the team never hunts for a document.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2473452" y="3108960"/>
            <a:ext cx="118872" cy="45720"/>
          </a:xfrm>
          <a:prstGeom prst="rect">
            <a:avLst/>
          </a:prstGeom>
          <a:solidFill>
            <a:srgbClr val="0E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 rot="5400000">
            <a:off x="2574036" y="3022092"/>
            <a:ext cx="146304" cy="219456"/>
          </a:xfrm>
          <a:prstGeom prst="triangle">
            <a:avLst>
              <a:gd fmla="val 50000" name="adj"/>
            </a:avLst>
          </a:prstGeom>
          <a:solidFill>
            <a:srgbClr val="0E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725412" y="3108960"/>
            <a:ext cx="118872" cy="45720"/>
          </a:xfrm>
          <a:prstGeom prst="rect">
            <a:avLst/>
          </a:prstGeom>
          <a:solidFill>
            <a:srgbClr val="0E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 rot="5400000">
            <a:off x="6825996" y="3022092"/>
            <a:ext cx="146304" cy="219456"/>
          </a:xfrm>
          <a:prstGeom prst="triangle">
            <a:avLst>
              <a:gd fmla="val 50000" name="adj"/>
            </a:avLst>
          </a:prstGeom>
          <a:solidFill>
            <a:srgbClr val="0E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9697212" y="3108960"/>
            <a:ext cx="118872" cy="45720"/>
          </a:xfrm>
          <a:prstGeom prst="rect">
            <a:avLst/>
          </a:prstGeom>
          <a:solidFill>
            <a:srgbClr val="0E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 rot="5400000">
            <a:off x="9797796" y="3022092"/>
            <a:ext cx="146304" cy="219456"/>
          </a:xfrm>
          <a:prstGeom prst="triangle">
            <a:avLst>
              <a:gd fmla="val 50000" name="adj"/>
            </a:avLst>
          </a:prstGeom>
          <a:solidFill>
            <a:srgbClr val="0E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57200" y="1371600"/>
            <a:ext cx="1965960" cy="3520440"/>
          </a:xfrm>
          <a:prstGeom prst="roundRect">
            <a:avLst>
              <a:gd fmla="val 4186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3A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621792" y="1554480"/>
            <a:ext cx="457200" cy="457200"/>
          </a:xfrm>
          <a:prstGeom prst="ellipse">
            <a:avLst/>
          </a:prstGeom>
          <a:solidFill>
            <a:srgbClr val="0E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" name="Google Shape;2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664" y="16733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/>
          <p:nvPr/>
        </p:nvSpPr>
        <p:spPr>
          <a:xfrm>
            <a:off x="1170432" y="1618488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B8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E9B8E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21792" y="2121408"/>
            <a:ext cx="16367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350"/>
              <a:buFont typeface="Georgia"/>
              <a:buNone/>
            </a:pPr>
            <a:r>
              <a:rPr b="1" i="0" lang="en-US" sz="1350" u="none" cap="none" strike="noStrike">
                <a:solidFill>
                  <a:srgbClr val="13243B"/>
                </a:solidFill>
                <a:latin typeface="Georgia"/>
                <a:ea typeface="Georgia"/>
                <a:cs typeface="Georgia"/>
                <a:sym typeface="Georgia"/>
              </a:rPr>
              <a:t>The analyst asks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21792" y="2670048"/>
            <a:ext cx="1636776" cy="365760"/>
          </a:xfrm>
          <a:prstGeom prst="roundRect">
            <a:avLst>
              <a:gd fmla="val 12500" name="adj"/>
            </a:avLst>
          </a:prstGeom>
          <a:solidFill>
            <a:srgbClr val="DCEF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694944" y="2670048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3243B"/>
                </a:solidFill>
                <a:latin typeface="Calibri"/>
                <a:ea typeface="Calibri"/>
                <a:cs typeface="Calibri"/>
                <a:sym typeface="Calibri"/>
              </a:rPr>
              <a:t>“Tell me about Capitec”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621792" y="3127248"/>
            <a:ext cx="1636776" cy="365760"/>
          </a:xfrm>
          <a:prstGeom prst="roundRect">
            <a:avLst>
              <a:gd fmla="val 12500" name="adj"/>
            </a:avLst>
          </a:prstGeom>
          <a:solidFill>
            <a:srgbClr val="DCEF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694944" y="3127248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3243B"/>
                </a:solidFill>
                <a:latin typeface="Calibri"/>
                <a:ea typeface="Calibri"/>
                <a:cs typeface="Calibri"/>
                <a:sym typeface="Calibri"/>
              </a:rPr>
              <a:t>“What’s new today?”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621792" y="3584448"/>
            <a:ext cx="1636776" cy="365760"/>
          </a:xfrm>
          <a:prstGeom prst="roundRect">
            <a:avLst>
              <a:gd fmla="val 12500" name="adj"/>
            </a:avLst>
          </a:prstGeom>
          <a:solidFill>
            <a:srgbClr val="DCEF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694944" y="3584448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3243B"/>
                </a:solidFill>
                <a:latin typeface="Calibri"/>
                <a:ea typeface="Calibri"/>
                <a:cs typeface="Calibri"/>
                <a:sym typeface="Calibri"/>
              </a:rPr>
              <a:t>“Build the IC pack”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21792" y="4160520"/>
            <a:ext cx="16367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18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A plain-English request — that’s all the desk needs.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2743200" y="1371600"/>
            <a:ext cx="3977640" cy="3520440"/>
          </a:xfrm>
          <a:prstGeom prst="roundRect">
            <a:avLst>
              <a:gd fmla="val 2338" name="adj"/>
            </a:avLst>
          </a:prstGeom>
          <a:solidFill>
            <a:srgbClr val="13243B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3A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2926080" y="1572768"/>
            <a:ext cx="457200" cy="457200"/>
          </a:xfrm>
          <a:prstGeom prst="ellipse">
            <a:avLst/>
          </a:prstGeom>
          <a:solidFill>
            <a:srgbClr val="0E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4952" y="169164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3"/>
          <p:cNvSpPr/>
          <p:nvPr/>
        </p:nvSpPr>
        <p:spPr>
          <a:xfrm>
            <a:off x="3474720" y="162763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B8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E9B8E"/>
                </a:solidFill>
                <a:latin typeface="Calibri"/>
                <a:ea typeface="Calibri"/>
                <a:cs typeface="Calibri"/>
                <a:sym typeface="Calibri"/>
              </a:rPr>
              <a:t>THE ENGINE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2926080" y="208483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Skills do the work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2926080" y="2395728"/>
            <a:ext cx="3611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6E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C5D6E6"/>
                </a:solidFill>
                <a:latin typeface="Calibri"/>
                <a:ea typeface="Calibri"/>
                <a:cs typeface="Calibri"/>
                <a:sym typeface="Calibri"/>
              </a:rPr>
              <a:t>specialist assistants, switched on automatically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2944368" y="2688336"/>
            <a:ext cx="246888" cy="246888"/>
          </a:xfrm>
          <a:prstGeom prst="ellipse">
            <a:avLst/>
          </a:prstGeom>
          <a:solidFill>
            <a:srgbClr val="0E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08559" y="2752527"/>
            <a:ext cx="118506" cy="118506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3"/>
          <p:cNvSpPr/>
          <p:nvPr/>
        </p:nvSpPr>
        <p:spPr>
          <a:xfrm>
            <a:off x="3291840" y="2633472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Discover  </a:t>
            </a:r>
            <a:r>
              <a:rPr b="0" i="1" lang="en-US" sz="800" u="none" cap="none" strike="noStrike">
                <a:solidFill>
                  <a:srgbClr val="C5D6E6"/>
                </a:solidFill>
                <a:latin typeface="Calibri"/>
                <a:ea typeface="Calibri"/>
                <a:cs typeface="Calibri"/>
                <a:sym typeface="Calibri"/>
              </a:rPr>
              <a:t>· jse-company-discovery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3291840" y="2825496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6E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5D6E6"/>
                </a:solidFill>
                <a:latin typeface="Calibri"/>
                <a:ea typeface="Calibri"/>
                <a:cs typeface="Calibri"/>
                <a:sym typeface="Calibri"/>
              </a:rPr>
              <a:t>find its investor site &amp; where reports live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2944368" y="3072384"/>
            <a:ext cx="246888" cy="246888"/>
          </a:xfrm>
          <a:prstGeom prst="ellipse">
            <a:avLst/>
          </a:prstGeom>
          <a:solidFill>
            <a:srgbClr val="0E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08559" y="3136575"/>
            <a:ext cx="118506" cy="11850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"/>
          <p:cNvSpPr/>
          <p:nvPr/>
        </p:nvSpPr>
        <p:spPr>
          <a:xfrm>
            <a:off x="3291840" y="301752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Download  </a:t>
            </a:r>
            <a:r>
              <a:rPr b="0" i="1" lang="en-US" sz="800" u="none" cap="none" strike="noStrike">
                <a:solidFill>
                  <a:srgbClr val="C5D6E6"/>
                </a:solidFill>
                <a:latin typeface="Calibri"/>
                <a:ea typeface="Calibri"/>
                <a:cs typeface="Calibri"/>
                <a:sym typeface="Calibri"/>
              </a:rPr>
              <a:t>· jse-report-downloader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3291840" y="3209544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6E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5D6E6"/>
                </a:solidFill>
                <a:latin typeface="Calibri"/>
                <a:ea typeface="Calibri"/>
                <a:cs typeface="Calibri"/>
                <a:sym typeface="Calibri"/>
              </a:rPr>
              <a:t>annual &amp; interim results, updates, SENS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2944368" y="3456432"/>
            <a:ext cx="246888" cy="246888"/>
          </a:xfrm>
          <a:prstGeom prst="ellipse">
            <a:avLst/>
          </a:prstGeom>
          <a:solidFill>
            <a:srgbClr val="0E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08559" y="3520623"/>
            <a:ext cx="118506" cy="11850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"/>
          <p:cNvSpPr/>
          <p:nvPr/>
        </p:nvSpPr>
        <p:spPr>
          <a:xfrm>
            <a:off x="3291840" y="340156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Catalogue  </a:t>
            </a:r>
            <a:r>
              <a:rPr b="0" i="1" lang="en-US" sz="800" u="none" cap="none" strike="noStrike">
                <a:solidFill>
                  <a:srgbClr val="C5D6E6"/>
                </a:solidFill>
                <a:latin typeface="Calibri"/>
                <a:ea typeface="Calibri"/>
                <a:cs typeface="Calibri"/>
                <a:sym typeface="Calibri"/>
              </a:rPr>
              <a:t>· jse-manifest-manager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291840" y="3593592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6E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5D6E6"/>
                </a:solidFill>
                <a:latin typeface="Calibri"/>
                <a:ea typeface="Calibri"/>
                <a:cs typeface="Calibri"/>
                <a:sym typeface="Calibri"/>
              </a:rPr>
              <a:t>keep the master index current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944368" y="3840480"/>
            <a:ext cx="246888" cy="246888"/>
          </a:xfrm>
          <a:prstGeom prst="ellipse">
            <a:avLst/>
          </a:prstGeom>
          <a:solidFill>
            <a:srgbClr val="0E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08559" y="3904671"/>
            <a:ext cx="118506" cy="11850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/>
          <p:nvPr/>
        </p:nvSpPr>
        <p:spPr>
          <a:xfrm>
            <a:off x="3291840" y="3785616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Remember  </a:t>
            </a:r>
            <a:r>
              <a:rPr b="0" i="1" lang="en-US" sz="800" u="none" cap="none" strike="noStrike">
                <a:solidFill>
                  <a:srgbClr val="C5D6E6"/>
                </a:solidFill>
                <a:latin typeface="Calibri"/>
                <a:ea typeface="Calibri"/>
                <a:cs typeface="Calibri"/>
                <a:sym typeface="Calibri"/>
              </a:rPr>
              <a:t>· jse-skill-builder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291840" y="3977640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6E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5D6E6"/>
                </a:solidFill>
                <a:latin typeface="Calibri"/>
                <a:ea typeface="Calibri"/>
                <a:cs typeface="Calibri"/>
                <a:sym typeface="Calibri"/>
              </a:rPr>
              <a:t>save a per-company shortcut for next time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2944368" y="4224528"/>
            <a:ext cx="246888" cy="246888"/>
          </a:xfrm>
          <a:prstGeom prst="ellipse">
            <a:avLst/>
          </a:prstGeom>
          <a:solidFill>
            <a:srgbClr val="0E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008559" y="4288719"/>
            <a:ext cx="118506" cy="11850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/>
          <p:nvPr/>
        </p:nvSpPr>
        <p:spPr>
          <a:xfrm>
            <a:off x="3291840" y="416966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Analyse  </a:t>
            </a:r>
            <a:r>
              <a:rPr b="0" i="1" lang="en-US" sz="800" u="none" cap="none" strike="noStrike">
                <a:solidFill>
                  <a:srgbClr val="C5D6E6"/>
                </a:solidFill>
                <a:latin typeface="Calibri"/>
                <a:ea typeface="Calibri"/>
                <a:cs typeface="Calibri"/>
                <a:sym typeface="Calibri"/>
              </a:rPr>
              <a:t>· jse-analyst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291840" y="4361688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6E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5D6E6"/>
                </a:solidFill>
                <a:latin typeface="Calibri"/>
                <a:ea typeface="Calibri"/>
                <a:cs typeface="Calibri"/>
                <a:sym typeface="Calibri"/>
              </a:rPr>
              <a:t>extract the numbers &amp; compare periods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" name="Google Shape;62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944368" y="462686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/>
          <p:nvPr/>
        </p:nvSpPr>
        <p:spPr>
          <a:xfrm>
            <a:off x="3182112" y="4590288"/>
            <a:ext cx="33741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6E6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C5D6E6"/>
                </a:solidFill>
                <a:latin typeface="Calibri"/>
                <a:ea typeface="Calibri"/>
                <a:cs typeface="Calibri"/>
                <a:sym typeface="Calibri"/>
              </a:rPr>
              <a:t>Download &amp; Analyse run as background workers, keeping the desk fast.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949440" y="1371600"/>
            <a:ext cx="2743200" cy="352044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3A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7114032" y="1554480"/>
            <a:ext cx="457200" cy="457200"/>
          </a:xfrm>
          <a:prstGeom prst="ellipse">
            <a:avLst/>
          </a:prstGeom>
          <a:solidFill>
            <a:srgbClr val="3C5C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32904" y="16733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7662672" y="1618488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B8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E9B8E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114032" y="2121408"/>
            <a:ext cx="24140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350"/>
              <a:buFont typeface="Georgia"/>
              <a:buNone/>
            </a:pPr>
            <a:r>
              <a:rPr b="1" i="0" lang="en-US" sz="1350" u="none" cap="none" strike="noStrike">
                <a:solidFill>
                  <a:srgbClr val="13243B"/>
                </a:solidFill>
                <a:latin typeface="Georgia"/>
                <a:ea typeface="Georgia"/>
                <a:cs typeface="Georgia"/>
                <a:sym typeface="Georgia"/>
              </a:rPr>
              <a:t>Filed &amp; indexed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114032" y="2651760"/>
            <a:ext cx="2414016" cy="1005840"/>
          </a:xfrm>
          <a:prstGeom prst="roundRect">
            <a:avLst>
              <a:gd fmla="val 4545" name="adj"/>
            </a:avLst>
          </a:prstGeom>
          <a:solidFill>
            <a:srgbClr val="F3F6F9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7223760" y="2724912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3243B"/>
                </a:solidFill>
                <a:latin typeface="Calibri"/>
                <a:ea typeface="Calibri"/>
                <a:cs typeface="Calibri"/>
                <a:sym typeface="Calibri"/>
              </a:rPr>
              <a:t>Companies library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223760" y="2944368"/>
            <a:ext cx="22128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183"/>
              </a:buClr>
              <a:buSzPts val="830"/>
              <a:buFont typeface="Calibri"/>
              <a:buNone/>
            </a:pPr>
            <a:r>
              <a:rPr b="0" i="0" lang="en-US" sz="830" u="none" cap="none" strike="noStrike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One folder per company (10 today). Each sorted into annual &amp; interim reports, trading statements, SENS, presentations, press releases and analyst notes.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114032" y="3749040"/>
            <a:ext cx="2414016" cy="1005840"/>
          </a:xfrm>
          <a:prstGeom prst="roundRect">
            <a:avLst>
              <a:gd fmla="val 4545" name="adj"/>
            </a:avLst>
          </a:prstGeom>
          <a:solidFill>
            <a:srgbClr val="F3F6F9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7223760" y="3822192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3243B"/>
                </a:solidFill>
                <a:latin typeface="Calibri"/>
                <a:ea typeface="Calibri"/>
                <a:cs typeface="Calibri"/>
                <a:sym typeface="Calibri"/>
              </a:rPr>
              <a:t>Master index (manifest)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7223760" y="4041648"/>
            <a:ext cx="22128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183"/>
              </a:buClr>
              <a:buSzPts val="830"/>
              <a:buFont typeface="Calibri"/>
              <a:buNone/>
            </a:pPr>
            <a:r>
              <a:rPr b="0" i="0" lang="en-US" sz="830" u="none" cap="none" strike="noStrike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A single catalogue of what we hold, what’s missing and what’s due to refresh — built automatically, never edited by hand.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9921240" y="1371600"/>
            <a:ext cx="1810512" cy="352044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3A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10085832" y="1554480"/>
            <a:ext cx="457200" cy="457200"/>
          </a:xfrm>
          <a:prstGeom prst="ellipse">
            <a:avLst/>
          </a:prstGeom>
          <a:solidFill>
            <a:srgbClr val="BF8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204704" y="16733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/>
          <p:nvPr/>
        </p:nvSpPr>
        <p:spPr>
          <a:xfrm>
            <a:off x="10634472" y="1618488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B8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E9B8E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0085832" y="2121408"/>
            <a:ext cx="15361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13243B"/>
                </a:solidFill>
                <a:latin typeface="Georgia"/>
                <a:ea typeface="Georgia"/>
                <a:cs typeface="Georgia"/>
                <a:sym typeface="Georgia"/>
              </a:rPr>
              <a:t>You get analysis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" name="Google Shape;80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104120" y="27432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/>
          <p:nvPr/>
        </p:nvSpPr>
        <p:spPr>
          <a:xfrm>
            <a:off x="10469880" y="2715768"/>
            <a:ext cx="1170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3243B"/>
                </a:solidFill>
                <a:latin typeface="Calibri"/>
                <a:ea typeface="Calibri"/>
                <a:cs typeface="Calibri"/>
                <a:sym typeface="Calibri"/>
              </a:rPr>
              <a:t>Word memos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104120" y="32186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/>
          <p:nvPr/>
        </p:nvSpPr>
        <p:spPr>
          <a:xfrm>
            <a:off x="10469880" y="3191256"/>
            <a:ext cx="1170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3243B"/>
                </a:solidFill>
                <a:latin typeface="Calibri"/>
                <a:ea typeface="Calibri"/>
                <a:cs typeface="Calibri"/>
                <a:sym typeface="Calibri"/>
              </a:rPr>
              <a:t>Excel models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" name="Google Shape;84;p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104120" y="369417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/>
          <p:nvPr/>
        </p:nvSpPr>
        <p:spPr>
          <a:xfrm>
            <a:off x="10469880" y="3666744"/>
            <a:ext cx="1170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3243B"/>
                </a:solidFill>
                <a:latin typeface="Calibri"/>
                <a:ea typeface="Calibri"/>
                <a:cs typeface="Calibri"/>
                <a:sym typeface="Calibri"/>
              </a:rPr>
              <a:t>Slides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10085832" y="4297680"/>
            <a:ext cx="15361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183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Sourced, comparable, decision-ready.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57200" y="5138928"/>
            <a:ext cx="7360920" cy="1060704"/>
          </a:xfrm>
          <a:prstGeom prst="roundRect">
            <a:avLst>
              <a:gd fmla="val 6034" name="adj"/>
            </a:avLst>
          </a:prstGeom>
          <a:solidFill>
            <a:srgbClr val="F3F6F9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A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3C5C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77240" y="55595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/>
          <p:nvPr/>
        </p:nvSpPr>
        <p:spPr>
          <a:xfrm>
            <a:off x="1261872" y="5285232"/>
            <a:ext cx="6309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3243B"/>
                </a:solidFill>
                <a:latin typeface="Georgia"/>
                <a:ea typeface="Georgia"/>
                <a:cs typeface="Georgia"/>
                <a:sym typeface="Georgia"/>
              </a:rPr>
              <a:t>Where the documents come from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1261872" y="5596128"/>
            <a:ext cx="6355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183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Company investor websites and SENS announcements — fetched automatically. Optionally the fund’s email, SharePoint and Bloomberg, when connected.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8028432" y="5138928"/>
            <a:ext cx="3703320" cy="1060704"/>
          </a:xfrm>
          <a:prstGeom prst="roundRect">
            <a:avLst>
              <a:gd fmla="val 6034" name="adj"/>
            </a:avLst>
          </a:prstGeom>
          <a:solidFill>
            <a:srgbClr val="F6ECD3"/>
          </a:solidFill>
          <a:ln cap="flat" cmpd="sng" w="15875">
            <a:solidFill>
              <a:srgbClr val="BF8F3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A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8229600" y="5440680"/>
            <a:ext cx="457200" cy="457200"/>
          </a:xfrm>
          <a:prstGeom prst="ellipse">
            <a:avLst/>
          </a:prstGeom>
          <a:solidFill>
            <a:srgbClr val="BF8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348472" y="55595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/>
          <p:nvPr/>
        </p:nvSpPr>
        <p:spPr>
          <a:xfrm>
            <a:off x="8833104" y="52852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3243B"/>
                </a:solidFill>
                <a:latin typeface="Georgia"/>
                <a:ea typeface="Georgia"/>
                <a:cs typeface="Georgia"/>
                <a:sym typeface="Georgia"/>
              </a:rPr>
              <a:t>House rule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8833104" y="5596128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320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6B5320"/>
                </a:solidFill>
                <a:latin typeface="Calibri"/>
                <a:ea typeface="Calibri"/>
                <a:cs typeface="Calibri"/>
                <a:sym typeface="Calibri"/>
              </a:rPr>
              <a:t>Every number is traced to its source. Nothing is rounded or guessed.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57200" y="643737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18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JSE Equity Research · Cowork workspace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5486400" y="6437376"/>
            <a:ext cx="6245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718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For information only — not investment advice.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457200" y="292608"/>
            <a:ext cx="112745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3243B"/>
                </a:solidFill>
                <a:latin typeface="Georgia"/>
                <a:ea typeface="Georgia"/>
                <a:cs typeface="Georgia"/>
                <a:sym typeface="Georgia"/>
              </a:rPr>
              <a:t>Inside the workspace — what’s where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57200" y="786384"/>
            <a:ext cx="112745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18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A map of the folders and files that make the research desk run.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57200" y="1298448"/>
            <a:ext cx="3520440" cy="1883664"/>
          </a:xfrm>
          <a:prstGeom prst="roundRect">
            <a:avLst>
              <a:gd fmla="val 4369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3A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658368" y="1499616"/>
            <a:ext cx="475488" cy="475488"/>
          </a:xfrm>
          <a:prstGeom prst="ellipse">
            <a:avLst/>
          </a:prstGeom>
          <a:solidFill>
            <a:srgbClr val="13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995" y="1623243"/>
            <a:ext cx="228234" cy="22823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/>
          <p:nvPr/>
        </p:nvSpPr>
        <p:spPr>
          <a:xfrm>
            <a:off x="1243584" y="1499616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350"/>
              <a:buFont typeface="Georgia"/>
              <a:buNone/>
            </a:pPr>
            <a:r>
              <a:rPr b="1" i="0" lang="en-US" sz="1350" u="none" cap="none" strike="noStrike">
                <a:solidFill>
                  <a:srgbClr val="13243B"/>
                </a:solidFill>
                <a:latin typeface="Georgia"/>
                <a:ea typeface="Georgia"/>
                <a:cs typeface="Georgia"/>
                <a:sym typeface="Georgia"/>
              </a:rPr>
              <a:t>The rulebook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243584" y="1801368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B8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E9B8E"/>
                </a:solidFill>
                <a:latin typeface="Calibri"/>
                <a:ea typeface="Calibri"/>
                <a:cs typeface="Calibri"/>
                <a:sym typeface="Calibri"/>
              </a:rPr>
              <a:t>CLAUDE.md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76656" y="2176272"/>
            <a:ext cx="30998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E7183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Sets the standard for every task — numbers are sacred, source everything, always compare to the prior period. Loaded automatically each session.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334256" y="1298448"/>
            <a:ext cx="3520440" cy="1883664"/>
          </a:xfrm>
          <a:prstGeom prst="roundRect">
            <a:avLst>
              <a:gd fmla="val 4369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3A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4535424" y="1499616"/>
            <a:ext cx="475488" cy="475488"/>
          </a:xfrm>
          <a:prstGeom prst="ellipse">
            <a:avLst/>
          </a:prstGeom>
          <a:solidFill>
            <a:srgbClr val="0E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9051" y="1623243"/>
            <a:ext cx="228234" cy="22823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/>
          <p:nvPr/>
        </p:nvSpPr>
        <p:spPr>
          <a:xfrm>
            <a:off x="5120640" y="1499616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350"/>
              <a:buFont typeface="Georgia"/>
              <a:buNone/>
            </a:pPr>
            <a:r>
              <a:rPr b="1" i="0" lang="en-US" sz="1350" u="none" cap="none" strike="noStrike">
                <a:solidFill>
                  <a:srgbClr val="13243B"/>
                </a:solidFill>
                <a:latin typeface="Georgia"/>
                <a:ea typeface="Georgia"/>
                <a:cs typeface="Georgia"/>
                <a:sym typeface="Georgia"/>
              </a:rPr>
              <a:t>The skills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120640" y="1801368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B8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E9B8E"/>
                </a:solidFill>
                <a:latin typeface="Calibri"/>
                <a:ea typeface="Calibri"/>
                <a:cs typeface="Calibri"/>
                <a:sym typeface="Calibri"/>
              </a:rPr>
              <a:t>.claude/skills/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553712" y="2176272"/>
            <a:ext cx="30998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E7183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Specialist assistants that trigger by context: discover, download, catalogue, remember, analyse — plus an auto-built shortcut for each company and sector lenses.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8211312" y="1298448"/>
            <a:ext cx="3520440" cy="1883664"/>
          </a:xfrm>
          <a:prstGeom prst="roundRect">
            <a:avLst>
              <a:gd fmla="val 4369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3A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8412480" y="1499616"/>
            <a:ext cx="475488" cy="475488"/>
          </a:xfrm>
          <a:prstGeom prst="ellipse">
            <a:avLst/>
          </a:prstGeom>
          <a:solidFill>
            <a:srgbClr val="3C5C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36107" y="1623243"/>
            <a:ext cx="228234" cy="22823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/>
          <p:nvPr/>
        </p:nvSpPr>
        <p:spPr>
          <a:xfrm>
            <a:off x="8997696" y="1499616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350"/>
              <a:buFont typeface="Georgia"/>
              <a:buNone/>
            </a:pPr>
            <a:r>
              <a:rPr b="1" i="0" lang="en-US" sz="1350" u="none" cap="none" strike="noStrike">
                <a:solidFill>
                  <a:srgbClr val="13243B"/>
                </a:solidFill>
                <a:latin typeface="Georgia"/>
                <a:ea typeface="Georgia"/>
                <a:cs typeface="Georgia"/>
                <a:sym typeface="Georgia"/>
              </a:rPr>
              <a:t>The back-office workers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8997696" y="1801368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B8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E9B8E"/>
                </a:solidFill>
                <a:latin typeface="Calibri"/>
                <a:ea typeface="Calibri"/>
                <a:cs typeface="Calibri"/>
                <a:sym typeface="Calibri"/>
              </a:rPr>
              <a:t>.claude/agents/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8430768" y="2176272"/>
            <a:ext cx="30998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E7183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The two heaviest jobs — downloading and analysing — run here in isolation, so the main desk stays fast and clutter-free.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57200" y="3364992"/>
            <a:ext cx="3520440" cy="1883664"/>
          </a:xfrm>
          <a:prstGeom prst="roundRect">
            <a:avLst>
              <a:gd fmla="val 4369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3A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658368" y="3566160"/>
            <a:ext cx="475488" cy="475488"/>
          </a:xfrm>
          <a:prstGeom prst="ellipse">
            <a:avLst/>
          </a:prstGeom>
          <a:solidFill>
            <a:srgbClr val="13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995" y="3689787"/>
            <a:ext cx="228234" cy="22823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/>
          <p:nvPr/>
        </p:nvSpPr>
        <p:spPr>
          <a:xfrm>
            <a:off x="1243584" y="356616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350"/>
              <a:buFont typeface="Georgia"/>
              <a:buNone/>
            </a:pPr>
            <a:r>
              <a:rPr b="1" i="0" lang="en-US" sz="1350" u="none" cap="none" strike="noStrike">
                <a:solidFill>
                  <a:srgbClr val="13243B"/>
                </a:solidFill>
                <a:latin typeface="Georgia"/>
                <a:ea typeface="Georgia"/>
                <a:cs typeface="Georgia"/>
                <a:sym typeface="Georgia"/>
              </a:rPr>
              <a:t>The companies library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1243584" y="3867912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B8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E9B8E"/>
                </a:solidFill>
                <a:latin typeface="Calibri"/>
                <a:ea typeface="Calibri"/>
                <a:cs typeface="Calibri"/>
                <a:sym typeface="Calibri"/>
              </a:rPr>
              <a:t>companies/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76656" y="4242816"/>
            <a:ext cx="30998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E7183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One folder per company (10 today). Each holds annual &amp; interim reports, trading statements, SENS, presentations, press releases and analyst notes — plus a company.json fact sheet.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334256" y="3364992"/>
            <a:ext cx="3520440" cy="1883664"/>
          </a:xfrm>
          <a:prstGeom prst="roundRect">
            <a:avLst>
              <a:gd fmla="val 4369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3A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4535424" y="3566160"/>
            <a:ext cx="475488" cy="475488"/>
          </a:xfrm>
          <a:prstGeom prst="ellipse">
            <a:avLst/>
          </a:prstGeom>
          <a:solidFill>
            <a:srgbClr val="0E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59051" y="3689787"/>
            <a:ext cx="228234" cy="22823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/>
          <p:nvPr/>
        </p:nvSpPr>
        <p:spPr>
          <a:xfrm>
            <a:off x="5120640" y="356616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350"/>
              <a:buFont typeface="Georgia"/>
              <a:buNone/>
            </a:pPr>
            <a:r>
              <a:rPr b="1" i="0" lang="en-US" sz="1350" u="none" cap="none" strike="noStrike">
                <a:solidFill>
                  <a:srgbClr val="13243B"/>
                </a:solidFill>
                <a:latin typeface="Georgia"/>
                <a:ea typeface="Georgia"/>
                <a:cs typeface="Georgia"/>
                <a:sym typeface="Georgia"/>
              </a:rPr>
              <a:t>The master index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120640" y="3867912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B8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E9B8E"/>
                </a:solidFill>
                <a:latin typeface="Calibri"/>
                <a:ea typeface="Calibri"/>
                <a:cs typeface="Calibri"/>
                <a:sym typeface="Calibri"/>
              </a:rPr>
              <a:t>manifest.json · tools/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553712" y="4242816"/>
            <a:ext cx="30998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E7183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A single catalogue of everything held, missing or due to refresh — generated automatically from each company’s records, never edited by hand.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8211312" y="3364992"/>
            <a:ext cx="3520440" cy="1883664"/>
          </a:xfrm>
          <a:prstGeom prst="roundRect">
            <a:avLst>
              <a:gd fmla="val 4369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3A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8412480" y="3566160"/>
            <a:ext cx="475488" cy="475488"/>
          </a:xfrm>
          <a:prstGeom prst="ellipse">
            <a:avLst/>
          </a:prstGeom>
          <a:solidFill>
            <a:srgbClr val="BF8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" name="Google Shape;13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36107" y="3689787"/>
            <a:ext cx="228234" cy="22823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4"/>
          <p:cNvSpPr/>
          <p:nvPr/>
        </p:nvSpPr>
        <p:spPr>
          <a:xfrm>
            <a:off x="8997696" y="356616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350"/>
              <a:buFont typeface="Georgia"/>
              <a:buNone/>
            </a:pPr>
            <a:r>
              <a:rPr b="1" i="0" lang="en-US" sz="1350" u="none" cap="none" strike="noStrike">
                <a:solidFill>
                  <a:srgbClr val="13243B"/>
                </a:solidFill>
                <a:latin typeface="Georgia"/>
                <a:ea typeface="Georgia"/>
                <a:cs typeface="Georgia"/>
                <a:sym typeface="Georgia"/>
              </a:rPr>
              <a:t>The outputs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8997696" y="3867912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B8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E9B8E"/>
                </a:solidFill>
                <a:latin typeface="Calibri"/>
                <a:ea typeface="Calibri"/>
                <a:cs typeface="Calibri"/>
                <a:sym typeface="Calibri"/>
              </a:rPr>
              <a:t>Word · Excel · PowerPoint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8430768" y="4242816"/>
            <a:ext cx="30998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E7183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Finished analysis lands in the workspace root — sourced, comparable and ready for investment decisions.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57200" y="5358384"/>
            <a:ext cx="11274552" cy="749808"/>
          </a:xfrm>
          <a:prstGeom prst="roundRect">
            <a:avLst>
              <a:gd fmla="val 8537" name="adj"/>
            </a:avLst>
          </a:prstGeom>
          <a:solidFill>
            <a:srgbClr val="13243B"/>
          </a:solidFill>
          <a:ln>
            <a:noFill/>
          </a:ln>
          <a:effectLst>
            <a:outerShdw blurRad="76200" rotWithShape="0" algn="bl" dir="5400000" dist="25400">
              <a:srgbClr val="1B2A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676656" y="5541264"/>
            <a:ext cx="384048" cy="384048"/>
          </a:xfrm>
          <a:prstGeom prst="ellipse">
            <a:avLst/>
          </a:prstGeom>
          <a:solidFill>
            <a:srgbClr val="0E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6508" y="5641116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4"/>
          <p:cNvSpPr/>
          <p:nvPr/>
        </p:nvSpPr>
        <p:spPr>
          <a:xfrm>
            <a:off x="1207008" y="5358384"/>
            <a:ext cx="104241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Watchlist — 8 companies monitored for new results:  </a:t>
            </a:r>
            <a:r>
              <a:rPr b="0" i="0" lang="en-US" sz="1100" u="none" cap="none" strike="noStrike">
                <a:solidFill>
                  <a:srgbClr val="C5D6E6"/>
                </a:solidFill>
                <a:latin typeface="Calibri"/>
                <a:ea typeface="Calibri"/>
                <a:cs typeface="Calibri"/>
                <a:sym typeface="Calibri"/>
              </a:rPr>
              <a:t>Shoprite · Naspers · Woolworths · Clicks · Dis-Chem · Reinet · Richemont · Spar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57200" y="643737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18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JSE Equity Research · Cowork workspace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5486400" y="6437376"/>
            <a:ext cx="6245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718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E7183"/>
                </a:solidFill>
                <a:latin typeface="Calibri"/>
                <a:ea typeface="Calibri"/>
                <a:cs typeface="Calibri"/>
                <a:sym typeface="Calibri"/>
              </a:rPr>
              <a:t>For information only — not investment advice.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