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45"/>
  </p:notesMasterIdLst>
  <p:sldIdLst>
    <p:sldId id="256" r:id="rId3"/>
    <p:sldId id="278" r:id="rId4"/>
    <p:sldId id="257" r:id="rId5"/>
    <p:sldId id="291" r:id="rId6"/>
    <p:sldId id="280" r:id="rId7"/>
    <p:sldId id="279" r:id="rId8"/>
    <p:sldId id="283" r:id="rId9"/>
    <p:sldId id="262" r:id="rId10"/>
    <p:sldId id="296" r:id="rId11"/>
    <p:sldId id="295" r:id="rId12"/>
    <p:sldId id="263" r:id="rId13"/>
    <p:sldId id="281" r:id="rId14"/>
    <p:sldId id="265" r:id="rId15"/>
    <p:sldId id="282" r:id="rId16"/>
    <p:sldId id="260" r:id="rId17"/>
    <p:sldId id="266" r:id="rId18"/>
    <p:sldId id="285" r:id="rId19"/>
    <p:sldId id="298" r:id="rId20"/>
    <p:sldId id="286" r:id="rId21"/>
    <p:sldId id="269" r:id="rId22"/>
    <p:sldId id="261" r:id="rId23"/>
    <p:sldId id="267" r:id="rId24"/>
    <p:sldId id="268" r:id="rId25"/>
    <p:sldId id="284" r:id="rId26"/>
    <p:sldId id="272" r:id="rId27"/>
    <p:sldId id="288" r:id="rId28"/>
    <p:sldId id="292" r:id="rId29"/>
    <p:sldId id="273" r:id="rId30"/>
    <p:sldId id="274" r:id="rId31"/>
    <p:sldId id="277" r:id="rId32"/>
    <p:sldId id="299" r:id="rId33"/>
    <p:sldId id="300" r:id="rId34"/>
    <p:sldId id="287" r:id="rId35"/>
    <p:sldId id="270" r:id="rId36"/>
    <p:sldId id="289" r:id="rId37"/>
    <p:sldId id="290" r:id="rId38"/>
    <p:sldId id="264" r:id="rId39"/>
    <p:sldId id="271" r:id="rId40"/>
    <p:sldId id="275" r:id="rId41"/>
    <p:sldId id="276" r:id="rId42"/>
    <p:sldId id="258" r:id="rId43"/>
    <p:sldId id="259" r:id="rId4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8" d="100"/>
          <a:sy n="68" d="100"/>
        </p:scale>
        <p:origin x="864"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6299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warm, ~30s. "Thank you for your time — and your trust." Then the promise in one breath: by the end you'll have watched Claude research two JSE names end-to-end, seen where it can trip up, and watched a brand-new skill built live — from a sentence to a spreadsheet. Don't sell yet. [0:00–0:30]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Who I am: senior developer at Trayport, lead on the Automated Trading platform. The 85% = scale and credibility — CONFIRM against Trayport's current public wording before the day. Land the humility line: I build the tech, my finance is self-taught, please correct me. It disarms the experts and buys goodwill. Add your UK retail-energy detail here if you have it. [0:30–1:30]</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CRITICAL STAGING: start Demo A now. Switch to Cowork, paste the Clicks-vs-Dis-Chem prompt (see prompts pack), hit enter, LEAVE IT RUNNING. One line: "I've just asked it to compare two retailers — we'll come back to it." Then walk the agenda fast. It runs ~20 min in the background; you harvest at slide 19. [1:30–3:00]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opening FRAME — state the three plainly, slowly. This is the promise you bookend at the close. Objective 2 carries the big idea: codify your expertise ONCE, reuse it across every future problem — expertise that compounds. End with 'hold me to these three.' ~45s. [~2:00]</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model has read across human writing — calculus to cookbooks, annual reports to Sufi poetry. The point isn't trivia: the hard part is no longer operating the tool, it's knowing what to ask. That makes things EASIER, not harder. This reframes AI from threat to leverage. ~45s, then move. [5:30–6:15]</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big idea, plain English. System 1 = fast, intuitive, one-shot (the early chatbots). Agents = it learns to plan, use tools, check itself (slow thinking — nod to Kahneman if the room likes it). Skills = it picks up your know-how only when needed. Today = combine all three = a colleague. Keep it to ~90s, no jargon. [3:00–5:30]</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Glance at Demo A: 'it's read the interims, now comparing.' Explain the loop: Plan → Act (load the right skill only when needed) → Check &amp; repeat. The punchline sets up limitations: attention is finite, load everything at once and quality drops. ~90s. [15:30–17:00]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what I actually built. The before/after: hours of finding, downloading, re-keying per name — vs 'tell me about Capitec'. 10 JSE names tracked today, onboarded by asking, not building. ~60s. [12:00–13:00]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400" b="0" i="0" u="none" strike="noStrike" kern="0" cap="none" spc="0" normalizeH="0" baseline="0" noProof="0">
                <a:ln>
                  <a:noFill/>
                </a:ln>
                <a:solidFill>
                  <a:srgbClr val="000000"/>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a:t>
            </a:fld>
            <a:endParaRPr kumimoji="0" sz="1400" b="0" i="0" u="none" strike="noStrike" kern="0" cap="none" spc="0" normalizeH="0" baseline="0" noProof="0">
              <a:ln>
                <a:noFill/>
              </a:ln>
              <a:solidFill>
                <a:srgbClr val="000000"/>
              </a:solidFill>
              <a:effectLst/>
              <a:uLnTx/>
              <a:uFillTx/>
              <a:latin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architecture in one line each: discovery → downloader → manifest → skill-builder → analyst. Everything in one shared folder. The self-healing line is a good hook: if a website changes and a download breaks, it re-discovers and repairs its own skill. ~75s. [13:00–14:15]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Answers the question everyone's thinking: does this replace us? No. It carries the routine 80% — finding, re-keying, first-draft. You keep judgement, conviction, relationships, accountability, the call. Why now: the tools just crossed from chat to colleague. Deliver the right-hand list with conviction. ~90s. [9:00–10:30]</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LEADERSHIP SLIDE. Numbers are sacred; source everything; flag uncertainty; always prior-period context. These rules live in the workspace config — enforced every time, not left to memory. Slow down here. ~75s. [14:15–15:30]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even-handed — leadership is leaning Copilot. They ARE analogous: Copilot Cowork (Frontier, Mar 2026) is the same idea, also uses 'skills', and runs Claude among its models. Claude's edge: transparent, portable, plain-text skills, no lock-in. Copilot's edge: native to M365. The way of working ports either way — so this is low-risk whichever they pick. Full table is backup slide 28. ~90s. [10:30–12:00]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a REAL SKILL.md on screen — it's just a document. Read 3-4 lines aloud so they hear how plain it is. This is the 'demystify' payoff before they watch one get built. ~60s. [18:00–19:00]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skill has three parts, all plain English: description (when to act), instructions (what to do), rules (what never to do). 'If you can brief a junior analyst, you can write one.' ~60s. [17:00–18:00]</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honesty slice — protects your credibility. Four failure modes: the dumb zone (finite attention), hallucination (confident errors), misalignment (goal drift), non-determinism (not a calculator). Say plainly: these are real. Then promise the fixes on the next slide. ~120s. [19:00–21:00]</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mitigations, one per limit: cite everything; keep scope tight; send exact maths to code (deterministic); brief it explicitly; human sign-off. Bottom line is the keeper: deterministic where it must reconcile, non-deterministic where judgement helps. ~90s. [21:00–22:30]</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HARVEST DEMO A: switch back to Cowork, show the finished Clicks-vs-Dis-Chem note. Walk 2-3 cited figures; point out it raised the 6-vs-12-month caveat ITSELF. If it didn't finish, use the fallback in presentation/fallback/. This is the 'it actually works' moment — let it land. Invite a question or two. ~3 min. [22:30–25:30 — flex]</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Sets up MCP and the data story later. It plugs into SharePoint/Outlook/Teams/Bloomberg — connected once by an admin. For AllWeather, SharePoint becomes the system of record. Brief — full data story comes after the demo. ~45s. [8:15–9:00]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B starts. Build a skill from scratch — write the prompt WITH the room (ask: what does a mining analyst look at first?). Paste the mining prompt from the pack. Narrate: we're just writing down how an analyst reads a result. Fallback skill is pre-built in case generation misfires. ~3 min. [25:30–28:30] REFRAIN: stress we're codifying expertise that will be reused — not a one-off.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beats: it writes the SKILL.md (read a line back) → point it at a miner ('apply to the latest results') → then ask for Excel. Keep momentum; don't read every output line. ~2 min. [28:30–30:30] REFRAIN: land the bottom line hard — written once, it reads every miner forever. That IS objective 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Excel ask: same skill, new output — a formatted workbook, one row per company, ratios tab. THIS SLIDE IS AN ILLUSTRATIVE TEMPLATE (placeholders) — say so. If the live build lands, show the real .xlsx; otherwise this shows the structure. Name-drop real miners (Anglo, BHP, Sasol). ~90s. [30:30–32:00]</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AllWeather-specific architecture: research root in a SharePoint library, OneDrive-synced locally so Cowork works on fast local files while the team sees the same docs (versioning/retention free). Honesty: one writer to start to avoid sync conflicts. ~75s. [35:00–36:15]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take-aways: an Everyday guide (PMs/analysts), a Builder's guide (hands-on), the live workspace itself. The message: this is a collaboration, a starting point, and the guides grow with us. ~60s. [36:15–37:15]</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BOOKEND / payoff — mirror the opening slide. Walk the same three, fast, showing each was delivered; the mining line lands the codify-once-reuse refrain. ~45s, then straight into the ask. [~37:00]</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asks: nominate 2 pilot analysts; approve the SharePoint library + connector consent; 30 min in week 2 to review output. Then open Q&amp;A. Backups ready: Copilot deep-dive (28), determinism (29), security (32), cost (33), compliance (34), setup (31/35). [37:15–45:00]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Folder-scoped access; explicit permission prompts; admin controls; data handling (CONFIRM current Anthropic commercial terms at docs.claude.com before the session). The data-handling line is the one leadership will push 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The condensed end-to-end checklist if IT asks 'what do we actually do?'. Mirrors the written setup guide.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the data comes from: public web/IR/SENS → the download skill (+ Chrome for sites that block fetches) → your workspace; internal models via the SharePoint connector. The trust line: every fetch/write/connector is behind a permission prompt. ~90s. [32:00–33:30]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milestones: M1 workspace live (2 pilots) → M2 connect the estate → M3 automate the rhythm (morning updates, IC packs, analyst-authored skills) → M4 firm-wide. Each ships a one-page guide. Compress — point, don't read. ~90s. [33:30–35:00]</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Use if pressed on Copilot. Where Claude leads: portable plain-text skills, no M365 dependency, easiest to inspect/trust. Where Copilot leads: native M365, familiar governance, no new vendor. The '3 models' point: Copilot may already be running Claude — choose on fit, not the badge.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If asked 'can I trust the numbers?': the model is non-deterministic (great for drafting, risky for exact maths), so exact sums run in code — one answer, always. The workspace already does this (manifest tooling in Python). Model for judgement, code for arithmetic.</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The end-to-end flow for a single name ('tell me about Capitec' → find → download → catalogue → analyse cited → save) plus the 10 tracked names. Use if someone wants the single-company walk-through.</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What setup actually takes (~half a day): licences, workspace config, permissions+Chrome, SharePoint+consent, smoke tests. Full written guide accompanies the deck.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Team/Enterprise per seat; two seats for the pilot; setup ~half a day of IT; skills cost nothing to replicate. Quote current per-seat pricing at decision time (anthropic.com/pricing).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Informational only (never advice); citations enable spot-checks; human review before anything leaves; closed periods flagged; suspect PDF extractions flagged not presented.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grounding. Chat answers; an agent does. It reads (hundreds of pages), writes (your format), browses (IR sites), runs code (checked, not guessed). Don't dwell — the evolution slide did the conceptual lifting. ~60s. [6:15–7:15]</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Cowork = Claude with hands: a folder it can read/write, a real visible browser, connectors to your systems. The reassurance line matters to leadership: every action sits behind a permission prompt, nothing happens silently. ~60s. [7:15–8:15]</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extLst>
      <p:ext uri="{BB962C8B-B14F-4D97-AF65-F5344CB8AC3E}">
        <p14:creationId xmlns:p14="http://schemas.microsoft.com/office/powerpoint/2010/main" val="346526503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extLst>
      <p:ext uri="{BB962C8B-B14F-4D97-AF65-F5344CB8AC3E}">
        <p14:creationId xmlns:p14="http://schemas.microsoft.com/office/powerpoint/2010/main" val="190240678"/>
      </p:ext>
    </p:extLst>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5.png"/><Relationship Id="rId3" Type="http://schemas.openxmlformats.org/officeDocument/2006/relationships/image" Target="../media/image8.png"/><Relationship Id="rId7" Type="http://schemas.openxmlformats.org/officeDocument/2006/relationships/image" Target="../media/image11.png"/><Relationship Id="rId12" Type="http://schemas.openxmlformats.org/officeDocument/2006/relationships/image" Target="../media/image6.png"/><Relationship Id="rId17" Type="http://schemas.openxmlformats.org/officeDocument/2006/relationships/image" Target="../media/image19.png"/><Relationship Id="rId2" Type="http://schemas.openxmlformats.org/officeDocument/2006/relationships/notesSlide" Target="../notesSlides/notesSlide10.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4.png"/><Relationship Id="rId5" Type="http://schemas.openxmlformats.org/officeDocument/2006/relationships/image" Target="../media/image9.png"/><Relationship Id="rId15" Type="http://schemas.openxmlformats.org/officeDocument/2006/relationships/image" Target="../media/image17.png"/><Relationship Id="rId10" Type="http://schemas.openxmlformats.org/officeDocument/2006/relationships/image" Target="../media/image14.png"/><Relationship Id="rId4" Type="http://schemas.openxmlformats.org/officeDocument/2006/relationships/image" Target="../media/image2.png"/><Relationship Id="rId9" Type="http://schemas.openxmlformats.org/officeDocument/2006/relationships/image" Target="../media/image13.png"/><Relationship Id="rId1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31.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6949440" y="-1451610"/>
            <a:ext cx="4023360" cy="4023360"/>
          </a:xfrm>
          <a:prstGeom prst="ellipse">
            <a:avLst/>
          </a:prstGeom>
          <a:solidFill>
            <a:srgbClr val="2B3674">
              <a:alpha val="55000"/>
            </a:srgbClr>
          </a:solidFill>
          <a:ln/>
        </p:spPr>
        <p:txBody>
          <a:bodyPr/>
          <a:lstStyle/>
          <a:p>
            <a:endParaRPr lang="en-GB"/>
          </a:p>
        </p:txBody>
      </p:sp>
      <p:sp>
        <p:nvSpPr>
          <p:cNvPr id="3" name="Shape 1"/>
          <p:cNvSpPr/>
          <p:nvPr/>
        </p:nvSpPr>
        <p:spPr>
          <a:xfrm>
            <a:off x="7955280" y="3566160"/>
            <a:ext cx="2651760" cy="2651760"/>
          </a:xfrm>
          <a:prstGeom prst="ellipse">
            <a:avLst/>
          </a:prstGeom>
          <a:solidFill>
            <a:srgbClr val="2B3674">
              <a:alpha val="40000"/>
            </a:srgbClr>
          </a:solidFill>
          <a:ln/>
        </p:spPr>
        <p:txBody>
          <a:bodyPr/>
          <a:lstStyle/>
          <a:p>
            <a:endParaRPr lang="en-GB" dirty="0"/>
          </a:p>
        </p:txBody>
      </p:sp>
      <p:sp>
        <p:nvSpPr>
          <p:cNvPr id="4" name="Text 2"/>
          <p:cNvSpPr/>
          <p:nvPr/>
        </p:nvSpPr>
        <p:spPr>
          <a:xfrm>
            <a:off x="685800" y="914400"/>
            <a:ext cx="6400800" cy="320040"/>
          </a:xfrm>
          <a:prstGeom prst="rect">
            <a:avLst/>
          </a:prstGeom>
          <a:noFill/>
          <a:ln/>
        </p:spPr>
        <p:txBody>
          <a:bodyPr wrap="square" lIns="0" tIns="0" rIns="0" bIns="0" rtlCol="0" anchor="ctr"/>
          <a:lstStyle/>
          <a:p>
            <a:pPr marL="0" indent="0">
              <a:buNone/>
            </a:pPr>
            <a:r>
              <a:rPr lang="en-US" sz="1300" b="1" kern="0" spc="400" dirty="0">
                <a:solidFill>
                  <a:srgbClr val="CADCFC"/>
                </a:solidFill>
                <a:latin typeface="Calibri" pitchFamily="34" charset="0"/>
                <a:ea typeface="Calibri" pitchFamily="34" charset="-122"/>
                <a:cs typeface="Calibri" pitchFamily="34" charset="-120"/>
              </a:rPr>
              <a:t>ALLWEATHER CAPITAL</a:t>
            </a:r>
            <a:endParaRPr lang="en-US" sz="1300" dirty="0"/>
          </a:p>
        </p:txBody>
      </p:sp>
      <p:sp>
        <p:nvSpPr>
          <p:cNvPr id="5" name="Text 3"/>
          <p:cNvSpPr/>
          <p:nvPr/>
        </p:nvSpPr>
        <p:spPr>
          <a:xfrm>
            <a:off x="640080" y="1417320"/>
            <a:ext cx="8046720" cy="86868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Skills x Agents: Expertise at Scale</a:t>
            </a:r>
            <a:endParaRPr lang="en-US" sz="3600" dirty="0"/>
          </a:p>
        </p:txBody>
      </p:sp>
      <p:sp>
        <p:nvSpPr>
          <p:cNvPr id="6" name="Text 4"/>
          <p:cNvSpPr/>
          <p:nvPr/>
        </p:nvSpPr>
        <p:spPr>
          <a:xfrm>
            <a:off x="685800" y="2377440"/>
            <a:ext cx="7315200" cy="411480"/>
          </a:xfrm>
          <a:prstGeom prst="rect">
            <a:avLst/>
          </a:prstGeom>
          <a:noFill/>
          <a:ln/>
        </p:spPr>
        <p:txBody>
          <a:bodyPr wrap="square" lIns="0" tIns="0" rIns="0" bIns="0" rtlCol="0" anchor="ctr"/>
          <a:lstStyle/>
          <a:p>
            <a:pPr marL="0" indent="0">
              <a:buNone/>
            </a:pPr>
            <a:r>
              <a:rPr lang="en-US" sz="1800" dirty="0">
                <a:solidFill>
                  <a:srgbClr val="CADCFC"/>
                </a:solidFill>
                <a:latin typeface="Calibri" pitchFamily="34" charset="0"/>
                <a:ea typeface="Calibri" pitchFamily="34" charset="-122"/>
                <a:cs typeface="Calibri" pitchFamily="34" charset="-120"/>
              </a:rPr>
              <a:t>Bringing Large Language Models into the investment process</a:t>
            </a:r>
            <a:endParaRPr lang="en-US" sz="1800" dirty="0"/>
          </a:p>
        </p:txBody>
      </p:sp>
      <p:sp>
        <p:nvSpPr>
          <p:cNvPr id="7" name="Text 5"/>
          <p:cNvSpPr/>
          <p:nvPr/>
        </p:nvSpPr>
        <p:spPr>
          <a:xfrm>
            <a:off x="685800" y="2852928"/>
            <a:ext cx="7315200" cy="320040"/>
          </a:xfrm>
          <a:prstGeom prst="rect">
            <a:avLst/>
          </a:prstGeom>
          <a:noFill/>
          <a:ln/>
        </p:spPr>
        <p:txBody>
          <a:bodyPr wrap="square" lIns="0" tIns="0" rIns="0" bIns="0" rtlCol="0" anchor="ctr"/>
          <a:lstStyle/>
          <a:p>
            <a:pPr marL="0" indent="0">
              <a:buNone/>
            </a:pPr>
            <a:r>
              <a:rPr lang="en-US" sz="1350" i="1" dirty="0">
                <a:solidFill>
                  <a:srgbClr val="C9A227"/>
                </a:solidFill>
                <a:latin typeface="Calibri" pitchFamily="34" charset="0"/>
                <a:ea typeface="Calibri" pitchFamily="34" charset="-122"/>
                <a:cs typeface="Calibri" pitchFamily="34" charset="-120"/>
              </a:rPr>
              <a:t>Milestone 1 — the JSE research workspace, live</a:t>
            </a:r>
            <a:endParaRPr lang="en-US" sz="1350" dirty="0"/>
          </a:p>
        </p:txBody>
      </p:sp>
      <p:sp>
        <p:nvSpPr>
          <p:cNvPr id="8" name="Text 6"/>
          <p:cNvSpPr/>
          <p:nvPr/>
        </p:nvSpPr>
        <p:spPr>
          <a:xfrm>
            <a:off x="685800" y="4434840"/>
            <a:ext cx="5486400" cy="27432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Simon Watkins  ·  June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INTRODUCTION</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Where I'm coming from</a:t>
            </a:r>
            <a:endParaRPr lang="en-US" sz="2600" dirty="0"/>
          </a:p>
        </p:txBody>
      </p:sp>
      <p:sp>
        <p:nvSpPr>
          <p:cNvPr id="4" name="Shape 2"/>
          <p:cNvSpPr/>
          <p:nvPr/>
        </p:nvSpPr>
        <p:spPr>
          <a:xfrm>
            <a:off x="548640" y="1325880"/>
            <a:ext cx="3931920" cy="2204552"/>
          </a:xfrm>
          <a:prstGeom prst="roundRect">
            <a:avLst>
              <a:gd name="adj" fmla="val 3077"/>
            </a:avLst>
          </a:prstGeom>
          <a:solidFill>
            <a:srgbClr val="2B3674"/>
          </a:solidFill>
          <a:ln/>
        </p:spPr>
        <p:txBody>
          <a:bodyPr/>
          <a:lstStyle/>
          <a:p>
            <a:endParaRPr lang="en-GB"/>
          </a:p>
        </p:txBody>
      </p:sp>
      <p:sp>
        <p:nvSpPr>
          <p:cNvPr id="5" name="Text 3"/>
          <p:cNvSpPr/>
          <p:nvPr/>
        </p:nvSpPr>
        <p:spPr>
          <a:xfrm>
            <a:off x="7772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CADCFC"/>
                </a:solidFill>
                <a:latin typeface="Calibri" pitchFamily="34" charset="0"/>
                <a:ea typeface="Calibri" pitchFamily="34" charset="-122"/>
                <a:cs typeface="Calibri" pitchFamily="34" charset="-120"/>
              </a:rPr>
              <a:t>DAY JOB</a:t>
            </a:r>
            <a:endParaRPr lang="en-US" sz="1100" dirty="0"/>
          </a:p>
        </p:txBody>
      </p:sp>
      <p:sp>
        <p:nvSpPr>
          <p:cNvPr id="6" name="Text 4"/>
          <p:cNvSpPr/>
          <p:nvPr/>
        </p:nvSpPr>
        <p:spPr>
          <a:xfrm>
            <a:off x="777240" y="1828799"/>
            <a:ext cx="3474720" cy="1531621"/>
          </a:xfrm>
          <a:prstGeom prst="rect">
            <a:avLst/>
          </a:prstGeom>
          <a:noFill/>
          <a:ln/>
        </p:spPr>
        <p:txBody>
          <a:bodyPr wrap="square" lIns="0" tIns="0" rIns="0" bIns="0" rtlCol="0" anchor="ctr"/>
          <a:lstStyle/>
          <a:p>
            <a:r>
              <a:rPr lang="en-US" sz="1250" dirty="0">
                <a:solidFill>
                  <a:srgbClr val="FFFFFF"/>
                </a:solidFill>
                <a:latin typeface="Calibri" pitchFamily="34" charset="0"/>
                <a:ea typeface="Calibri" pitchFamily="34" charset="-122"/>
                <a:cs typeface="Calibri" pitchFamily="34" charset="-120"/>
              </a:rPr>
              <a:t>Senior developer at Trayport, London.</a:t>
            </a:r>
          </a:p>
          <a:p>
            <a:endParaRPr lang="en-US" sz="1250" dirty="0">
              <a:solidFill>
                <a:srgbClr val="FFFFFF"/>
              </a:solidFill>
              <a:latin typeface="Calibri" pitchFamily="34" charset="0"/>
              <a:ea typeface="Calibri" pitchFamily="34" charset="-122"/>
              <a:cs typeface="Calibri" pitchFamily="34" charset="-120"/>
            </a:endParaRPr>
          </a:p>
          <a:p>
            <a:r>
              <a:rPr lang="en-GB" sz="1250" dirty="0">
                <a:solidFill>
                  <a:srgbClr val="FFFFFF"/>
                </a:solidFill>
                <a:latin typeface="Calibri" pitchFamily="34" charset="0"/>
                <a:ea typeface="Calibri" pitchFamily="34" charset="-122"/>
                <a:cs typeface="Calibri" pitchFamily="34" charset="-120"/>
              </a:rPr>
              <a:t>Trayport is the primary network and data platform for European wholesale energy markets.</a:t>
            </a:r>
          </a:p>
          <a:p>
            <a:endParaRPr lang="en-US" sz="1250" dirty="0">
              <a:solidFill>
                <a:srgbClr val="FFFFFF"/>
              </a:solidFill>
              <a:latin typeface="Calibri" pitchFamily="34" charset="0"/>
              <a:ea typeface="Calibri" pitchFamily="34" charset="-122"/>
              <a:cs typeface="Calibri" pitchFamily="34" charset="-120"/>
            </a:endParaRPr>
          </a:p>
          <a:p>
            <a:r>
              <a:rPr lang="en-US" sz="1250" dirty="0">
                <a:solidFill>
                  <a:srgbClr val="FFFFFF"/>
                </a:solidFill>
                <a:latin typeface="Calibri" pitchFamily="34" charset="0"/>
                <a:ea typeface="Calibri" pitchFamily="34" charset="-122"/>
                <a:cs typeface="Calibri" pitchFamily="34" charset="-120"/>
              </a:rPr>
              <a:t>I am a lead engineer on our Automated Trading platform: the algorithmic layer that executes directly into European energy markets.</a:t>
            </a:r>
            <a:endParaRPr lang="en-US" sz="1250" dirty="0"/>
          </a:p>
        </p:txBody>
      </p:sp>
      <p:sp>
        <p:nvSpPr>
          <p:cNvPr id="7" name="Shape 5"/>
          <p:cNvSpPr/>
          <p:nvPr/>
        </p:nvSpPr>
        <p:spPr>
          <a:xfrm>
            <a:off x="4663440" y="1325880"/>
            <a:ext cx="3931920" cy="1783080"/>
          </a:xfrm>
          <a:prstGeom prst="roundRect">
            <a:avLst>
              <a:gd name="adj" fmla="val 3077"/>
            </a:avLst>
          </a:prstGeom>
          <a:solidFill>
            <a:srgbClr val="CADCFC"/>
          </a:solidFill>
          <a:ln/>
        </p:spPr>
        <p:txBody>
          <a:bodyPr/>
          <a:lstStyle/>
          <a:p>
            <a:endParaRPr lang="en-GB"/>
          </a:p>
        </p:txBody>
      </p:sp>
      <p:sp>
        <p:nvSpPr>
          <p:cNvPr id="8" name="Text 6"/>
          <p:cNvSpPr/>
          <p:nvPr/>
        </p:nvSpPr>
        <p:spPr>
          <a:xfrm>
            <a:off x="48920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1E2761"/>
                </a:solidFill>
                <a:latin typeface="Calibri" pitchFamily="34" charset="0"/>
                <a:ea typeface="Calibri" pitchFamily="34" charset="-122"/>
                <a:cs typeface="Calibri" pitchFamily="34" charset="-120"/>
              </a:rPr>
              <a:t>MY ANGLE</a:t>
            </a:r>
            <a:endParaRPr lang="en-US" sz="1100" dirty="0"/>
          </a:p>
        </p:txBody>
      </p:sp>
      <p:sp>
        <p:nvSpPr>
          <p:cNvPr id="9" name="Text 7"/>
          <p:cNvSpPr/>
          <p:nvPr/>
        </p:nvSpPr>
        <p:spPr>
          <a:xfrm>
            <a:off x="4892040" y="1828800"/>
            <a:ext cx="3474720" cy="1143000"/>
          </a:xfrm>
          <a:prstGeom prst="rect">
            <a:avLst/>
          </a:prstGeom>
          <a:noFill/>
          <a:ln/>
        </p:spPr>
        <p:txBody>
          <a:bodyPr wrap="square" lIns="0" tIns="0" rIns="0" bIns="0" rtlCol="0" anchor="ctr"/>
          <a:lstStyle/>
          <a:p>
            <a:pPr marL="0" indent="0">
              <a:buNone/>
            </a:pPr>
            <a:r>
              <a:rPr lang="en-US" sz="1250" dirty="0">
                <a:solidFill>
                  <a:srgbClr val="1A2238"/>
                </a:solidFill>
                <a:latin typeface="Calibri" pitchFamily="34" charset="0"/>
                <a:ea typeface="Calibri" pitchFamily="34" charset="-122"/>
                <a:cs typeface="Calibri" pitchFamily="34" charset="-120"/>
              </a:rPr>
              <a:t>I build the technology, not the trading strategy — my own finance is self-taught. Where I get it wrong, I ask your patience and your corrections.</a:t>
            </a:r>
            <a:endParaRPr lang="en-US" sz="1250" dirty="0"/>
          </a:p>
        </p:txBody>
      </p:sp>
      <p:sp>
        <p:nvSpPr>
          <p:cNvPr id="10" name="Text 8"/>
          <p:cNvSpPr/>
          <p:nvPr/>
        </p:nvSpPr>
        <p:spPr>
          <a:xfrm>
            <a:off x="548640" y="3474120"/>
            <a:ext cx="1371600" cy="914400"/>
          </a:xfrm>
          <a:prstGeom prst="rect">
            <a:avLst/>
          </a:prstGeom>
          <a:noFill/>
          <a:ln/>
        </p:spPr>
        <p:txBody>
          <a:bodyPr wrap="square" lIns="0" tIns="0" rIns="0" bIns="0" rtlCol="0" anchor="ctr"/>
          <a:lstStyle/>
          <a:p>
            <a:pPr marL="0" indent="0">
              <a:buNone/>
            </a:pPr>
            <a:r>
              <a:rPr lang="en-US" sz="4400" b="1" dirty="0">
                <a:solidFill>
                  <a:srgbClr val="C9A227"/>
                </a:solidFill>
                <a:latin typeface="Georgia" pitchFamily="34" charset="0"/>
                <a:ea typeface="Georgia" pitchFamily="34" charset="-122"/>
                <a:cs typeface="Georgia" pitchFamily="34" charset="-120"/>
              </a:rPr>
              <a:t>85%</a:t>
            </a:r>
            <a:endParaRPr lang="en-US" sz="6000" dirty="0"/>
          </a:p>
        </p:txBody>
      </p:sp>
      <p:sp>
        <p:nvSpPr>
          <p:cNvPr id="11" name="Text 9"/>
          <p:cNvSpPr/>
          <p:nvPr/>
        </p:nvSpPr>
        <p:spPr>
          <a:xfrm>
            <a:off x="2011680" y="3730152"/>
            <a:ext cx="6583680" cy="5486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of European utilities' derivatives trading flows across our platform — a business that has embraced AI at every level. Let me show you what that looks like.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AGENDA</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The next 45 minutes</a:t>
            </a:r>
            <a:endParaRPr lang="en-US" sz="2600" dirty="0"/>
          </a:p>
        </p:txBody>
      </p:sp>
      <p:sp>
        <p:nvSpPr>
          <p:cNvPr id="4" name="Text 2"/>
          <p:cNvSpPr/>
          <p:nvPr/>
        </p:nvSpPr>
        <p:spPr>
          <a:xfrm>
            <a:off x="548640" y="1207008"/>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00–03</a:t>
            </a:r>
            <a:endParaRPr lang="en-US" sz="1300" dirty="0"/>
          </a:p>
        </p:txBody>
      </p:sp>
      <p:sp>
        <p:nvSpPr>
          <p:cNvPr id="5" name="Text 3"/>
          <p:cNvSpPr/>
          <p:nvPr/>
        </p:nvSpPr>
        <p:spPr>
          <a:xfrm>
            <a:off x="1508760" y="1207008"/>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Who I am — and a live demo, started immediately</a:t>
            </a:r>
            <a:endParaRPr lang="en-US" sz="1350" dirty="0"/>
          </a:p>
        </p:txBody>
      </p:sp>
      <p:sp>
        <p:nvSpPr>
          <p:cNvPr id="6" name="Text 4"/>
          <p:cNvSpPr/>
          <p:nvPr/>
        </p:nvSpPr>
        <p:spPr>
          <a:xfrm>
            <a:off x="548640" y="1719072"/>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03–13</a:t>
            </a:r>
            <a:endParaRPr lang="en-US" sz="1300" dirty="0"/>
          </a:p>
        </p:txBody>
      </p:sp>
      <p:sp>
        <p:nvSpPr>
          <p:cNvPr id="7" name="Text 5"/>
          <p:cNvSpPr/>
          <p:nvPr/>
        </p:nvSpPr>
        <p:spPr>
          <a:xfrm>
            <a:off x="1508760" y="1719072"/>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How we got here, and what Claude really is</a:t>
            </a:r>
            <a:endParaRPr lang="en-US" sz="1350" dirty="0"/>
          </a:p>
        </p:txBody>
      </p:sp>
      <p:sp>
        <p:nvSpPr>
          <p:cNvPr id="8" name="Text 6"/>
          <p:cNvSpPr/>
          <p:nvPr/>
        </p:nvSpPr>
        <p:spPr>
          <a:xfrm>
            <a:off x="548640" y="2231136"/>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13–22</a:t>
            </a:r>
            <a:endParaRPr lang="en-US" sz="1300" dirty="0"/>
          </a:p>
        </p:txBody>
      </p:sp>
      <p:sp>
        <p:nvSpPr>
          <p:cNvPr id="9" name="Text 7"/>
          <p:cNvSpPr/>
          <p:nvPr/>
        </p:nvSpPr>
        <p:spPr>
          <a:xfrm>
            <a:off x="1508760" y="2231136"/>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The workspace I built — working as we watch</a:t>
            </a:r>
            <a:endParaRPr lang="en-US" sz="1350" dirty="0"/>
          </a:p>
        </p:txBody>
      </p:sp>
      <p:sp>
        <p:nvSpPr>
          <p:cNvPr id="10" name="Text 8"/>
          <p:cNvSpPr/>
          <p:nvPr/>
        </p:nvSpPr>
        <p:spPr>
          <a:xfrm>
            <a:off x="548640" y="2743200"/>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22–30</a:t>
            </a:r>
            <a:endParaRPr lang="en-US" sz="1300" dirty="0"/>
          </a:p>
        </p:txBody>
      </p:sp>
      <p:sp>
        <p:nvSpPr>
          <p:cNvPr id="11" name="Text 9"/>
          <p:cNvSpPr/>
          <p:nvPr/>
        </p:nvSpPr>
        <p:spPr>
          <a:xfrm>
            <a:off x="1508760" y="2743200"/>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The limits, staying honest — and the result</a:t>
            </a:r>
            <a:endParaRPr lang="en-US" sz="1350" dirty="0"/>
          </a:p>
        </p:txBody>
      </p:sp>
      <p:sp>
        <p:nvSpPr>
          <p:cNvPr id="12" name="Text 10"/>
          <p:cNvSpPr/>
          <p:nvPr/>
        </p:nvSpPr>
        <p:spPr>
          <a:xfrm>
            <a:off x="548640" y="3255264"/>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30–38</a:t>
            </a:r>
            <a:endParaRPr lang="en-US" sz="1300" dirty="0"/>
          </a:p>
        </p:txBody>
      </p:sp>
      <p:sp>
        <p:nvSpPr>
          <p:cNvPr id="13" name="Text 11"/>
          <p:cNvSpPr/>
          <p:nvPr/>
        </p:nvSpPr>
        <p:spPr>
          <a:xfrm>
            <a:off x="1508760" y="3255264"/>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Build a skill live: mining to Excel (no code)</a:t>
            </a:r>
            <a:endParaRPr lang="en-US" sz="1350" dirty="0"/>
          </a:p>
        </p:txBody>
      </p:sp>
      <p:sp>
        <p:nvSpPr>
          <p:cNvPr id="14" name="Text 12"/>
          <p:cNvSpPr/>
          <p:nvPr/>
        </p:nvSpPr>
        <p:spPr>
          <a:xfrm>
            <a:off x="548640" y="3767328"/>
            <a:ext cx="868680" cy="384048"/>
          </a:xfrm>
          <a:prstGeom prst="rect">
            <a:avLst/>
          </a:prstGeom>
          <a:noFill/>
          <a:ln/>
        </p:spPr>
        <p:txBody>
          <a:bodyPr wrap="square" lIns="0" tIns="0" rIns="0" bIns="0" rtlCol="0" anchor="ctr"/>
          <a:lstStyle/>
          <a:p>
            <a:pPr marL="0" indent="0">
              <a:buNone/>
            </a:pPr>
            <a:r>
              <a:rPr lang="en-US" sz="1300" b="1" dirty="0">
                <a:solidFill>
                  <a:srgbClr val="C9A227"/>
                </a:solidFill>
                <a:latin typeface="Calibri" pitchFamily="34" charset="0"/>
                <a:ea typeface="Calibri" pitchFamily="34" charset="-122"/>
                <a:cs typeface="Calibri" pitchFamily="34" charset="-120"/>
              </a:rPr>
              <a:t>38–45</a:t>
            </a:r>
            <a:endParaRPr lang="en-US" sz="1300" dirty="0"/>
          </a:p>
        </p:txBody>
      </p:sp>
      <p:sp>
        <p:nvSpPr>
          <p:cNvPr id="15" name="Text 13"/>
          <p:cNvSpPr/>
          <p:nvPr/>
        </p:nvSpPr>
        <p:spPr>
          <a:xfrm>
            <a:off x="1508760" y="3767328"/>
            <a:ext cx="4069080" cy="457200"/>
          </a:xfrm>
          <a:prstGeom prst="rect">
            <a:avLst/>
          </a:prstGeom>
          <a:noFill/>
          <a:ln/>
        </p:spPr>
        <p:txBody>
          <a:bodyPr wrap="square" lIns="0" tIns="0" rIns="0" bIns="0" rtlCol="0" anchor="ctr"/>
          <a:lstStyle/>
          <a:p>
            <a:pPr marL="0" indent="0">
              <a:buNone/>
            </a:pPr>
            <a:r>
              <a:rPr lang="en-US" sz="1350" dirty="0">
                <a:solidFill>
                  <a:srgbClr val="1A2238"/>
                </a:solidFill>
                <a:latin typeface="Calibri" pitchFamily="34" charset="0"/>
                <a:ea typeface="Calibri" pitchFamily="34" charset="-122"/>
                <a:cs typeface="Calibri" pitchFamily="34" charset="-120"/>
              </a:rPr>
              <a:t>Q&amp;A</a:t>
            </a:r>
            <a:endParaRPr lang="en-US" sz="1350" dirty="0"/>
          </a:p>
        </p:txBody>
      </p:sp>
      <p:sp>
        <p:nvSpPr>
          <p:cNvPr id="16" name="Shape 14"/>
          <p:cNvSpPr/>
          <p:nvPr/>
        </p:nvSpPr>
        <p:spPr>
          <a:xfrm>
            <a:off x="5897880" y="1207008"/>
            <a:ext cx="2743200" cy="2926080"/>
          </a:xfrm>
          <a:prstGeom prst="roundRect">
            <a:avLst>
              <a:gd name="adj" fmla="val 2000"/>
            </a:avLst>
          </a:prstGeom>
          <a:solidFill>
            <a:srgbClr val="EEF3FC"/>
          </a:solidFill>
          <a:ln/>
        </p:spPr>
        <p:txBody>
          <a:bodyPr/>
          <a:lstStyle/>
          <a:p>
            <a:endParaRPr lang="en-GB"/>
          </a:p>
        </p:txBody>
      </p:sp>
      <p:sp>
        <p:nvSpPr>
          <p:cNvPr id="17" name="Text 15"/>
          <p:cNvSpPr/>
          <p:nvPr/>
        </p:nvSpPr>
        <p:spPr>
          <a:xfrm>
            <a:off x="6126480" y="1417320"/>
            <a:ext cx="2286000" cy="274320"/>
          </a:xfrm>
          <a:prstGeom prst="rect">
            <a:avLst/>
          </a:prstGeom>
          <a:noFill/>
          <a:ln/>
        </p:spPr>
        <p:txBody>
          <a:bodyPr wrap="square" lIns="0" tIns="0" rIns="0" bIns="0" rtlCol="0" anchor="ctr"/>
          <a:lstStyle/>
          <a:p>
            <a:pPr marL="0" indent="0">
              <a:buNone/>
            </a:pPr>
            <a:r>
              <a:rPr lang="en-US" sz="1050" b="1" kern="0" spc="200" dirty="0">
                <a:solidFill>
                  <a:srgbClr val="C9A227"/>
                </a:solidFill>
                <a:latin typeface="Calibri" pitchFamily="34" charset="0"/>
                <a:ea typeface="Calibri" pitchFamily="34" charset="-122"/>
                <a:cs typeface="Calibri" pitchFamily="34" charset="-120"/>
              </a:rPr>
              <a:t>THE PROMISE</a:t>
            </a:r>
            <a:endParaRPr lang="en-US" sz="1050" dirty="0"/>
          </a:p>
        </p:txBody>
      </p:sp>
      <p:sp>
        <p:nvSpPr>
          <p:cNvPr id="18" name="Text 16"/>
          <p:cNvSpPr/>
          <p:nvPr/>
        </p:nvSpPr>
        <p:spPr>
          <a:xfrm>
            <a:off x="6126480" y="1783080"/>
            <a:ext cx="2331720" cy="1737360"/>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By the end you'll have watched Claude research two JSE companies end-to-end, seen exactly where it can trip up — and watched a brand-new skill built live, from a sentence to a spreadsheet.</a:t>
            </a:r>
            <a:endParaRPr lang="en-US" sz="1300" dirty="0"/>
          </a:p>
        </p:txBody>
      </p:sp>
      <p:sp>
        <p:nvSpPr>
          <p:cNvPr id="19" name="Text 17"/>
          <p:cNvSpPr/>
          <p:nvPr/>
        </p:nvSpPr>
        <p:spPr>
          <a:xfrm>
            <a:off x="6126480" y="3520440"/>
            <a:ext cx="2286000" cy="320040"/>
          </a:xfrm>
          <a:prstGeom prst="rect">
            <a:avLst/>
          </a:prstGeom>
          <a:noFill/>
          <a:ln/>
        </p:spPr>
        <p:txBody>
          <a:bodyPr wrap="square" lIns="0" tIns="0" rIns="0" bIns="0" rtlCol="0" anchor="ctr"/>
          <a:lstStyle/>
          <a:p>
            <a:pPr marL="0" indent="0">
              <a:buNone/>
            </a:pPr>
            <a:r>
              <a:rPr lang="en-US" sz="1300" b="1" i="1" dirty="0">
                <a:solidFill>
                  <a:srgbClr val="1E2761"/>
                </a:solidFill>
                <a:latin typeface="Calibri" pitchFamily="34" charset="0"/>
                <a:ea typeface="Calibri" pitchFamily="34" charset="-122"/>
                <a:cs typeface="Calibri" pitchFamily="34" charset="-120"/>
              </a:rPr>
              <a:t>No code involved.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MY THREE OBJECTIVES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Three things I hope you'll leave believing</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By the end of the next forty-five minutes, I want you to agree that:</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It's real</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The technology now delivers practical, measurable value on an investment desk — not a gimmick, and not just for enthusiasts.</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It's for you — and it compounds</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You don't need to be a technologist. Skills let you codify your own expertise once, in plain English — then reuse it across every future problem of that shape.</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 amplifies, it doesn't replace</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r>
              <a:rPr lang="en-US" sz="1150" dirty="0">
                <a:solidFill>
                  <a:srgbClr val="1A2238"/>
                </a:solidFill>
                <a:latin typeface="Calibri" pitchFamily="34" charset="0"/>
                <a:ea typeface="Calibri" pitchFamily="34" charset="-122"/>
                <a:cs typeface="Calibri" pitchFamily="34" charset="-120"/>
              </a:rPr>
              <a:t>It won't replace analysts — it shortens the path from information to decision, making good analysts faster and sharper. An intelligence amplifier. </a:t>
            </a:r>
            <a:r>
              <a:rPr lang="en-GB" sz="1150" dirty="0">
                <a:solidFill>
                  <a:srgbClr val="1A2238"/>
                </a:solidFill>
                <a:latin typeface="Calibri" pitchFamily="34" charset="0"/>
                <a:ea typeface="Calibri" pitchFamily="34" charset="-122"/>
                <a:cs typeface="Calibri" pitchFamily="34" charset="-120"/>
              </a:rPr>
              <a:t>Allows analysts to cover more ground more quickly.</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Hold me to these three — I'll come back to them at the end.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SHIFT</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Trained on (almost) everything we've written</a:t>
            </a:r>
            <a:endParaRPr lang="en-US" sz="2600" dirty="0"/>
          </a:p>
        </p:txBody>
      </p:sp>
      <p:sp>
        <p:nvSpPr>
          <p:cNvPr id="4" name="Text 2"/>
          <p:cNvSpPr/>
          <p:nvPr/>
        </p:nvSpPr>
        <p:spPr>
          <a:xfrm>
            <a:off x="548640" y="1188720"/>
            <a:ext cx="8046720" cy="3200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One model has read across the breadth of human writing:</a:t>
            </a:r>
            <a:endParaRPr lang="en-US" sz="1400" dirty="0"/>
          </a:p>
        </p:txBody>
      </p:sp>
      <p:sp>
        <p:nvSpPr>
          <p:cNvPr id="5" name="Shape 3"/>
          <p:cNvSpPr/>
          <p:nvPr/>
        </p:nvSpPr>
        <p:spPr>
          <a:xfrm>
            <a:off x="548640" y="1645920"/>
            <a:ext cx="8046720" cy="1737360"/>
          </a:xfrm>
          <a:prstGeom prst="roundRect">
            <a:avLst>
              <a:gd name="adj" fmla="val 3158"/>
            </a:avLst>
          </a:prstGeom>
          <a:solidFill>
            <a:srgbClr val="CADCFC"/>
          </a:solidFill>
          <a:ln/>
        </p:spPr>
        <p:txBody>
          <a:bodyPr/>
          <a:lstStyle/>
          <a:p>
            <a:endParaRPr lang="en-GB"/>
          </a:p>
        </p:txBody>
      </p:sp>
      <p:sp>
        <p:nvSpPr>
          <p:cNvPr id="6" name="Text 4"/>
          <p:cNvSpPr/>
          <p:nvPr/>
        </p:nvSpPr>
        <p:spPr>
          <a:xfrm>
            <a:off x="868680" y="1828800"/>
            <a:ext cx="7406640" cy="1371600"/>
          </a:xfrm>
          <a:prstGeom prst="rect">
            <a:avLst/>
          </a:prstGeom>
          <a:noFill/>
          <a:ln/>
        </p:spPr>
        <p:txBody>
          <a:bodyPr wrap="square" lIns="0" tIns="0" rIns="0" bIns="0" rtlCol="0" anchor="ctr"/>
          <a:lstStyle/>
          <a:p>
            <a:pPr marL="0" indent="0">
              <a:buNone/>
            </a:pPr>
            <a:r>
              <a:rPr lang="en-US" sz="1450" i="1" dirty="0">
                <a:solidFill>
                  <a:srgbClr val="1A2238"/>
                </a:solidFill>
                <a:latin typeface="Georgia" pitchFamily="34" charset="0"/>
                <a:ea typeface="Georgia" pitchFamily="34" charset="-122"/>
                <a:cs typeface="Georgia" pitchFamily="34" charset="-120"/>
              </a:rPr>
              <a:t>Calculus textbooks and cookbooks. Annual reports and Sufi poetry. Case law, clinical trials, code, and centuries of argument — compressed into one system you brief in plain English.</a:t>
            </a:r>
            <a:endParaRPr lang="en-US" sz="1450" dirty="0"/>
          </a:p>
        </p:txBody>
      </p:sp>
      <p:sp>
        <p:nvSpPr>
          <p:cNvPr id="7" name="Text 5"/>
          <p:cNvSpPr/>
          <p:nvPr/>
        </p:nvSpPr>
        <p:spPr>
          <a:xfrm>
            <a:off x="548640" y="3749040"/>
            <a:ext cx="8046720" cy="36576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That's the real shift: the hard part is no longer operating the tool. It's knowing what to ask — which makes things easier, not harder.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SHIFT</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How we got here, in three big steps</a:t>
            </a:r>
            <a:endParaRPr lang="en-US" sz="2600" dirty="0"/>
          </a:p>
        </p:txBody>
      </p:sp>
      <p:sp>
        <p:nvSpPr>
          <p:cNvPr id="4" name="Shape 2"/>
          <p:cNvSpPr/>
          <p:nvPr/>
        </p:nvSpPr>
        <p:spPr>
          <a:xfrm>
            <a:off x="548640" y="1280160"/>
            <a:ext cx="1947672" cy="2743200"/>
          </a:xfrm>
          <a:prstGeom prst="roundRect">
            <a:avLst>
              <a:gd name="adj" fmla="val 2817"/>
            </a:avLst>
          </a:prstGeom>
          <a:solidFill>
            <a:srgbClr val="EEF3FC"/>
          </a:solidFill>
          <a:ln/>
        </p:spPr>
        <p:txBody>
          <a:bodyPr/>
          <a:lstStyle/>
          <a:p>
            <a:endParaRPr lang="en-GB"/>
          </a:p>
        </p:txBody>
      </p:sp>
      <p:sp>
        <p:nvSpPr>
          <p:cNvPr id="5" name="Text 3"/>
          <p:cNvSpPr/>
          <p:nvPr/>
        </p:nvSpPr>
        <p:spPr>
          <a:xfrm>
            <a:off x="731520"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1</a:t>
            </a:r>
            <a:endParaRPr lang="en-US" sz="2600" dirty="0"/>
          </a:p>
        </p:txBody>
      </p:sp>
      <p:sp>
        <p:nvSpPr>
          <p:cNvPr id="6" name="Text 4"/>
          <p:cNvSpPr/>
          <p:nvPr/>
        </p:nvSpPr>
        <p:spPr>
          <a:xfrm>
            <a:off x="731520"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2022–23</a:t>
            </a:r>
            <a:endParaRPr lang="en-US" sz="1050" dirty="0"/>
          </a:p>
        </p:txBody>
      </p:sp>
      <p:sp>
        <p:nvSpPr>
          <p:cNvPr id="7" name="Text 5"/>
          <p:cNvSpPr/>
          <p:nvPr/>
        </p:nvSpPr>
        <p:spPr>
          <a:xfrm>
            <a:off x="731520"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System 1</a:t>
            </a:r>
            <a:endParaRPr lang="en-US" sz="1300" dirty="0"/>
          </a:p>
        </p:txBody>
      </p:sp>
      <p:sp>
        <p:nvSpPr>
          <p:cNvPr id="8" name="Text 6"/>
          <p:cNvSpPr/>
          <p:nvPr/>
        </p:nvSpPr>
        <p:spPr>
          <a:xfrm>
            <a:off x="731520"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Prompt in, answer out. Brilliant, instant, intuitive — but one shot, no plan, no memory. The fast, reflexive kind of thinking.</a:t>
            </a:r>
            <a:endParaRPr lang="en-US" sz="1000" dirty="0"/>
          </a:p>
        </p:txBody>
      </p:sp>
      <p:sp>
        <p:nvSpPr>
          <p:cNvPr id="9" name="Shape 7"/>
          <p:cNvSpPr/>
          <p:nvPr/>
        </p:nvSpPr>
        <p:spPr>
          <a:xfrm>
            <a:off x="2679192" y="1280160"/>
            <a:ext cx="1947672" cy="2743200"/>
          </a:xfrm>
          <a:prstGeom prst="roundRect">
            <a:avLst>
              <a:gd name="adj" fmla="val 2817"/>
            </a:avLst>
          </a:prstGeom>
          <a:solidFill>
            <a:srgbClr val="EEF3FC"/>
          </a:solidFill>
          <a:ln/>
        </p:spPr>
        <p:txBody>
          <a:bodyPr/>
          <a:lstStyle/>
          <a:p>
            <a:endParaRPr lang="en-GB"/>
          </a:p>
        </p:txBody>
      </p:sp>
      <p:sp>
        <p:nvSpPr>
          <p:cNvPr id="10" name="Text 8"/>
          <p:cNvSpPr/>
          <p:nvPr/>
        </p:nvSpPr>
        <p:spPr>
          <a:xfrm>
            <a:off x="2862072"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2</a:t>
            </a:r>
            <a:endParaRPr lang="en-US" sz="2600" dirty="0"/>
          </a:p>
        </p:txBody>
      </p:sp>
      <p:sp>
        <p:nvSpPr>
          <p:cNvPr id="11" name="Text 9"/>
          <p:cNvSpPr/>
          <p:nvPr/>
        </p:nvSpPr>
        <p:spPr>
          <a:xfrm>
            <a:off x="2862072"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2024</a:t>
            </a:r>
            <a:endParaRPr lang="en-US" sz="1050" dirty="0"/>
          </a:p>
        </p:txBody>
      </p:sp>
      <p:sp>
        <p:nvSpPr>
          <p:cNvPr id="12" name="Text 10"/>
          <p:cNvSpPr/>
          <p:nvPr/>
        </p:nvSpPr>
        <p:spPr>
          <a:xfrm>
            <a:off x="2862072"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Agents</a:t>
            </a:r>
            <a:endParaRPr lang="en-US" sz="1300" dirty="0"/>
          </a:p>
        </p:txBody>
      </p:sp>
      <p:sp>
        <p:nvSpPr>
          <p:cNvPr id="13" name="Text 11"/>
          <p:cNvSpPr/>
          <p:nvPr/>
        </p:nvSpPr>
        <p:spPr>
          <a:xfrm>
            <a:off x="2862072"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It learns to pause and plan: break a job into steps, use tools, check its own work, keep going. Slow, deliberate thinking arrives.</a:t>
            </a:r>
            <a:endParaRPr lang="en-US" sz="1000" dirty="0"/>
          </a:p>
        </p:txBody>
      </p:sp>
      <p:sp>
        <p:nvSpPr>
          <p:cNvPr id="14" name="Shape 12"/>
          <p:cNvSpPr/>
          <p:nvPr/>
        </p:nvSpPr>
        <p:spPr>
          <a:xfrm>
            <a:off x="4809744" y="1280160"/>
            <a:ext cx="1947672" cy="2743200"/>
          </a:xfrm>
          <a:prstGeom prst="roundRect">
            <a:avLst>
              <a:gd name="adj" fmla="val 2817"/>
            </a:avLst>
          </a:prstGeom>
          <a:solidFill>
            <a:srgbClr val="EEF3FC"/>
          </a:solidFill>
          <a:ln/>
        </p:spPr>
        <p:txBody>
          <a:bodyPr/>
          <a:lstStyle/>
          <a:p>
            <a:endParaRPr lang="en-GB"/>
          </a:p>
        </p:txBody>
      </p:sp>
      <p:sp>
        <p:nvSpPr>
          <p:cNvPr id="15" name="Text 13"/>
          <p:cNvSpPr/>
          <p:nvPr/>
        </p:nvSpPr>
        <p:spPr>
          <a:xfrm>
            <a:off x="4992624"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4992624"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2025–26</a:t>
            </a:r>
            <a:endParaRPr lang="en-US" sz="1050" dirty="0"/>
          </a:p>
        </p:txBody>
      </p:sp>
      <p:sp>
        <p:nvSpPr>
          <p:cNvPr id="17" name="Text 15"/>
          <p:cNvSpPr/>
          <p:nvPr/>
        </p:nvSpPr>
        <p:spPr>
          <a:xfrm>
            <a:off x="4992624"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Skills</a:t>
            </a:r>
            <a:endParaRPr lang="en-US" sz="1300" dirty="0"/>
          </a:p>
        </p:txBody>
      </p:sp>
      <p:sp>
        <p:nvSpPr>
          <p:cNvPr id="18" name="Text 16"/>
          <p:cNvSpPr/>
          <p:nvPr/>
        </p:nvSpPr>
        <p:spPr>
          <a:xfrm>
            <a:off x="4992624"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Plain-English know-how it picks up only when a task needs it — your house style, your rules, on tap.</a:t>
            </a:r>
            <a:endParaRPr lang="en-US" sz="1000" dirty="0"/>
          </a:p>
        </p:txBody>
      </p:sp>
      <p:sp>
        <p:nvSpPr>
          <p:cNvPr id="19" name="Shape 17"/>
          <p:cNvSpPr/>
          <p:nvPr/>
        </p:nvSpPr>
        <p:spPr>
          <a:xfrm>
            <a:off x="6940296" y="1280160"/>
            <a:ext cx="1947672" cy="2743200"/>
          </a:xfrm>
          <a:prstGeom prst="roundRect">
            <a:avLst>
              <a:gd name="adj" fmla="val 2817"/>
            </a:avLst>
          </a:prstGeom>
          <a:solidFill>
            <a:srgbClr val="EEF3FC"/>
          </a:solidFill>
          <a:ln/>
        </p:spPr>
        <p:txBody>
          <a:bodyPr/>
          <a:lstStyle/>
          <a:p>
            <a:endParaRPr lang="en-GB"/>
          </a:p>
        </p:txBody>
      </p:sp>
      <p:sp>
        <p:nvSpPr>
          <p:cNvPr id="20" name="Text 18"/>
          <p:cNvSpPr/>
          <p:nvPr/>
        </p:nvSpPr>
        <p:spPr>
          <a:xfrm>
            <a:off x="7123176"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Now</a:t>
            </a:r>
            <a:endParaRPr lang="en-US" sz="2600" dirty="0"/>
          </a:p>
        </p:txBody>
      </p:sp>
      <p:sp>
        <p:nvSpPr>
          <p:cNvPr id="21" name="Text 19"/>
          <p:cNvSpPr/>
          <p:nvPr/>
        </p:nvSpPr>
        <p:spPr>
          <a:xfrm>
            <a:off x="7123176"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all three</a:t>
            </a:r>
            <a:endParaRPr lang="en-US" sz="1050" dirty="0"/>
          </a:p>
        </p:txBody>
      </p:sp>
      <p:sp>
        <p:nvSpPr>
          <p:cNvPr id="22" name="Text 20"/>
          <p:cNvSpPr/>
          <p:nvPr/>
        </p:nvSpPr>
        <p:spPr>
          <a:xfrm>
            <a:off x="7123176"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A colleague</a:t>
            </a:r>
            <a:endParaRPr lang="en-US" sz="1300" dirty="0"/>
          </a:p>
        </p:txBody>
      </p:sp>
      <p:sp>
        <p:nvSpPr>
          <p:cNvPr id="23" name="Text 21"/>
          <p:cNvSpPr/>
          <p:nvPr/>
        </p:nvSpPr>
        <p:spPr>
          <a:xfrm>
            <a:off x="7123176"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Combine them and you get something that doesn't just answer — it does the work, your way. That's what we'll watch.</a:t>
            </a:r>
            <a:endParaRPr lang="en-US" sz="1000" dirty="0"/>
          </a:p>
        </p:txBody>
      </p:sp>
      <p:sp>
        <p:nvSpPr>
          <p:cNvPr id="24" name="Text 22"/>
          <p:cNvSpPr/>
          <p:nvPr/>
        </p:nvSpPr>
        <p:spPr>
          <a:xfrm>
            <a:off x="548640" y="434340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Each step made the tool do more of the work — and made it easier to use, not harder.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WHILE IT RUNS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"agentic" means — happening right now</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Behind me, Claude is working a loop — the same one any analyst uses:</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Plan</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Read the request, check what's already on disk, decide the next step. No grand script — it reasons as it goes.</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Act — and load a skill only when it's needed</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Pull in one skill at a time, use a tool, fetch a file. Skills it isn't using stay out of the way.</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Check, then repeat</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Compare the result to the goal, correct, continue — until the task is genuinely done, not just attempted.</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Why "only when needed" matters: attention is finite. Load everything at once and quality drops — more on that next.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CASE STUDY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JSE coverage, before and after</a:t>
            </a:r>
            <a:endParaRPr lang="en-US" sz="2600" dirty="0"/>
          </a:p>
        </p:txBody>
      </p:sp>
      <p:sp>
        <p:nvSpPr>
          <p:cNvPr id="4" name="Shape 2"/>
          <p:cNvSpPr/>
          <p:nvPr/>
        </p:nvSpPr>
        <p:spPr>
          <a:xfrm>
            <a:off x="548640" y="1325880"/>
            <a:ext cx="3931920" cy="1783080"/>
          </a:xfrm>
          <a:prstGeom prst="roundRect">
            <a:avLst>
              <a:gd name="adj" fmla="val 3077"/>
            </a:avLst>
          </a:prstGeom>
          <a:solidFill>
            <a:srgbClr val="2B3674"/>
          </a:solidFill>
          <a:ln/>
        </p:spPr>
        <p:txBody>
          <a:bodyPr/>
          <a:lstStyle/>
          <a:p>
            <a:endParaRPr lang="en-GB"/>
          </a:p>
        </p:txBody>
      </p:sp>
      <p:sp>
        <p:nvSpPr>
          <p:cNvPr id="5" name="Text 3"/>
          <p:cNvSpPr/>
          <p:nvPr/>
        </p:nvSpPr>
        <p:spPr>
          <a:xfrm>
            <a:off x="7772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CADCFC"/>
                </a:solidFill>
                <a:latin typeface="Calibri" pitchFamily="34" charset="0"/>
                <a:ea typeface="Calibri" pitchFamily="34" charset="-122"/>
                <a:cs typeface="Calibri" pitchFamily="34" charset="-120"/>
              </a:rPr>
              <a:t>BEFORE</a:t>
            </a:r>
            <a:endParaRPr lang="en-US" sz="1100" dirty="0"/>
          </a:p>
        </p:txBody>
      </p:sp>
      <p:sp>
        <p:nvSpPr>
          <p:cNvPr id="6" name="Text 4"/>
          <p:cNvSpPr/>
          <p:nvPr/>
        </p:nvSpPr>
        <p:spPr>
          <a:xfrm>
            <a:off x="777240" y="1828800"/>
            <a:ext cx="3474720" cy="11430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Find the IR page → download the PDF → re-key the numbers → only then, analysis. Hours per name, every results season.</a:t>
            </a:r>
            <a:endParaRPr lang="en-US" sz="1250" dirty="0"/>
          </a:p>
        </p:txBody>
      </p:sp>
      <p:sp>
        <p:nvSpPr>
          <p:cNvPr id="7" name="Shape 5"/>
          <p:cNvSpPr/>
          <p:nvPr/>
        </p:nvSpPr>
        <p:spPr>
          <a:xfrm>
            <a:off x="4663440" y="1325880"/>
            <a:ext cx="3931920" cy="1783080"/>
          </a:xfrm>
          <a:prstGeom prst="roundRect">
            <a:avLst>
              <a:gd name="adj" fmla="val 3077"/>
            </a:avLst>
          </a:prstGeom>
          <a:solidFill>
            <a:srgbClr val="CADCFC"/>
          </a:solidFill>
          <a:ln/>
        </p:spPr>
        <p:txBody>
          <a:bodyPr/>
          <a:lstStyle/>
          <a:p>
            <a:endParaRPr lang="en-GB"/>
          </a:p>
        </p:txBody>
      </p:sp>
      <p:sp>
        <p:nvSpPr>
          <p:cNvPr id="8" name="Text 6"/>
          <p:cNvSpPr/>
          <p:nvPr/>
        </p:nvSpPr>
        <p:spPr>
          <a:xfrm>
            <a:off x="48920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1E2761"/>
                </a:solidFill>
                <a:latin typeface="Calibri" pitchFamily="34" charset="0"/>
                <a:ea typeface="Calibri" pitchFamily="34" charset="-122"/>
                <a:cs typeface="Calibri" pitchFamily="34" charset="-120"/>
              </a:rPr>
              <a:t>AFTER</a:t>
            </a:r>
            <a:endParaRPr lang="en-US" sz="1100" dirty="0"/>
          </a:p>
        </p:txBody>
      </p:sp>
      <p:sp>
        <p:nvSpPr>
          <p:cNvPr id="9" name="Text 7"/>
          <p:cNvSpPr/>
          <p:nvPr/>
        </p:nvSpPr>
        <p:spPr>
          <a:xfrm>
            <a:off x="4892040" y="1828800"/>
            <a:ext cx="3474720" cy="1143000"/>
          </a:xfrm>
          <a:prstGeom prst="rect">
            <a:avLst/>
          </a:prstGeom>
          <a:noFill/>
          <a:ln/>
        </p:spPr>
        <p:txBody>
          <a:bodyPr wrap="square" lIns="0" tIns="0" rIns="0" bIns="0" rtlCol="0" anchor="ctr"/>
          <a:lstStyle/>
          <a:p>
            <a:pPr marL="0" indent="0">
              <a:buNone/>
            </a:pPr>
            <a:r>
              <a:rPr lang="en-US" sz="1250" dirty="0">
                <a:solidFill>
                  <a:srgbClr val="1A2238"/>
                </a:solidFill>
                <a:latin typeface="Calibri" pitchFamily="34" charset="0"/>
                <a:ea typeface="Calibri" pitchFamily="34" charset="-122"/>
                <a:cs typeface="Calibri" pitchFamily="34" charset="-120"/>
              </a:rPr>
              <a:t>"Tell me about Capitec." Discovery, downloads, cataloguing and a cited first-pass analysis happen on their own.</a:t>
            </a:r>
            <a:endParaRPr lang="en-US" sz="1250" dirty="0"/>
          </a:p>
        </p:txBody>
      </p:sp>
      <p:sp>
        <p:nvSpPr>
          <p:cNvPr id="10" name="Text 8"/>
          <p:cNvSpPr/>
          <p:nvPr/>
        </p:nvSpPr>
        <p:spPr>
          <a:xfrm>
            <a:off x="548640" y="3383280"/>
            <a:ext cx="1371600" cy="914400"/>
          </a:xfrm>
          <a:prstGeom prst="rect">
            <a:avLst/>
          </a:prstGeom>
          <a:noFill/>
          <a:ln/>
        </p:spPr>
        <p:txBody>
          <a:bodyPr wrap="square" lIns="0" tIns="0" rIns="0" bIns="0" rtlCol="0" anchor="ctr"/>
          <a:lstStyle/>
          <a:p>
            <a:pPr marL="0" indent="0">
              <a:buNone/>
            </a:pPr>
            <a:r>
              <a:rPr lang="en-US" sz="6000" b="1" dirty="0">
                <a:solidFill>
                  <a:srgbClr val="C9A227"/>
                </a:solidFill>
                <a:latin typeface="Georgia" pitchFamily="34" charset="0"/>
                <a:ea typeface="Georgia" pitchFamily="34" charset="-122"/>
                <a:cs typeface="Georgia" pitchFamily="34" charset="-120"/>
              </a:rPr>
              <a:t>10</a:t>
            </a:r>
            <a:endParaRPr lang="en-US" sz="6000" dirty="0"/>
          </a:p>
        </p:txBody>
      </p:sp>
      <p:sp>
        <p:nvSpPr>
          <p:cNvPr id="11" name="Text 9"/>
          <p:cNvSpPr/>
          <p:nvPr/>
        </p:nvSpPr>
        <p:spPr>
          <a:xfrm>
            <a:off x="2011680" y="3639312"/>
            <a:ext cx="6583680" cy="5486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JSE companies tracked in the pilot workspace today — onboarded by asking, not by building</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4"/>
          <p:cNvSpPr/>
          <p:nvPr/>
        </p:nvSpPr>
        <p:spPr>
          <a:xfrm>
            <a:off x="342900" y="219456"/>
            <a:ext cx="8455914" cy="342900"/>
          </a:xfrm>
          <a:prstGeom prst="rect">
            <a:avLst/>
          </a:prstGeom>
          <a:noFill/>
          <a:ln>
            <a:noFill/>
          </a:ln>
        </p:spPr>
        <p:txBody>
          <a:bodyPr spcFirstLastPara="1" wrap="square" lIns="0" tIns="0" rIns="0" bIns="0" anchor="ctr" anchorCtr="0">
            <a:noAutofit/>
          </a:bodyPr>
          <a:lstStyle/>
          <a:p>
            <a:pPr>
              <a:buClr>
                <a:srgbClr val="13243B"/>
              </a:buClr>
              <a:buSzPts val="2800"/>
            </a:pPr>
            <a:r>
              <a:rPr lang="en-US" sz="2100" b="1">
                <a:solidFill>
                  <a:srgbClr val="13243B"/>
                </a:solidFill>
                <a:latin typeface="Georgia"/>
                <a:ea typeface="Georgia"/>
                <a:cs typeface="Georgia"/>
                <a:sym typeface="Georgia"/>
              </a:rPr>
              <a:t>Inside the workspace — what’s where</a:t>
            </a:r>
            <a:endParaRPr sz="2100">
              <a:solidFill>
                <a:schemeClr val="dk1"/>
              </a:solidFill>
              <a:latin typeface="Calibri"/>
              <a:ea typeface="Calibri"/>
              <a:cs typeface="Calibri"/>
              <a:sym typeface="Calibri"/>
            </a:endParaRPr>
          </a:p>
        </p:txBody>
      </p:sp>
      <p:sp>
        <p:nvSpPr>
          <p:cNvPr id="105" name="Google Shape;105;p4"/>
          <p:cNvSpPr/>
          <p:nvPr/>
        </p:nvSpPr>
        <p:spPr>
          <a:xfrm>
            <a:off x="342900" y="589788"/>
            <a:ext cx="8455914" cy="288036"/>
          </a:xfrm>
          <a:prstGeom prst="rect">
            <a:avLst/>
          </a:prstGeom>
          <a:noFill/>
          <a:ln>
            <a:noFill/>
          </a:ln>
        </p:spPr>
        <p:txBody>
          <a:bodyPr spcFirstLastPara="1" wrap="square" lIns="0" tIns="0" rIns="0" bIns="0" anchor="ctr" anchorCtr="0">
            <a:noAutofit/>
          </a:bodyPr>
          <a:lstStyle/>
          <a:p>
            <a:pPr>
              <a:buClr>
                <a:srgbClr val="5E7183"/>
              </a:buClr>
              <a:buSzPts val="1300"/>
            </a:pPr>
            <a:r>
              <a:rPr lang="en-US" sz="975">
                <a:solidFill>
                  <a:srgbClr val="5E7183"/>
                </a:solidFill>
                <a:latin typeface="Calibri"/>
                <a:ea typeface="Calibri"/>
                <a:cs typeface="Calibri"/>
                <a:sym typeface="Calibri"/>
              </a:rPr>
              <a:t>A map of the folders and files that make the research desk run.</a:t>
            </a:r>
            <a:endParaRPr sz="975">
              <a:solidFill>
                <a:schemeClr val="dk1"/>
              </a:solidFill>
              <a:latin typeface="Calibri"/>
              <a:ea typeface="Calibri"/>
              <a:cs typeface="Calibri"/>
              <a:sym typeface="Calibri"/>
            </a:endParaRPr>
          </a:p>
        </p:txBody>
      </p:sp>
      <p:sp>
        <p:nvSpPr>
          <p:cNvPr id="106" name="Google Shape;106;p4"/>
          <p:cNvSpPr/>
          <p:nvPr/>
        </p:nvSpPr>
        <p:spPr>
          <a:xfrm>
            <a:off x="342900" y="973836"/>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07" name="Google Shape;107;p4"/>
          <p:cNvSpPr/>
          <p:nvPr/>
        </p:nvSpPr>
        <p:spPr>
          <a:xfrm>
            <a:off x="493776" y="1124712"/>
            <a:ext cx="356616" cy="356616"/>
          </a:xfrm>
          <a:prstGeom prst="ellipse">
            <a:avLst/>
          </a:prstGeom>
          <a:solidFill>
            <a:srgbClr val="13243B"/>
          </a:solidFill>
          <a:ln>
            <a:noFill/>
          </a:ln>
        </p:spPr>
        <p:txBody>
          <a:bodyPr spcFirstLastPara="1" wrap="square" lIns="68569" tIns="68569" rIns="68569" bIns="68569" anchor="ctr" anchorCtr="0">
            <a:noAutofit/>
          </a:bodyPr>
          <a:lstStyle/>
          <a:p>
            <a:endParaRPr sz="1350"/>
          </a:p>
        </p:txBody>
      </p:sp>
      <p:pic>
        <p:nvPicPr>
          <p:cNvPr id="108" name="Google Shape;108;p4" descr="preencoded.png"/>
          <p:cNvPicPr preferRelativeResize="0"/>
          <p:nvPr/>
        </p:nvPicPr>
        <p:blipFill rotWithShape="1">
          <a:blip r:embed="rId3">
            <a:alphaModFix/>
          </a:blip>
          <a:srcRect/>
          <a:stretch/>
        </p:blipFill>
        <p:spPr>
          <a:xfrm>
            <a:off x="586496" y="1217432"/>
            <a:ext cx="171176" cy="171176"/>
          </a:xfrm>
          <a:prstGeom prst="rect">
            <a:avLst/>
          </a:prstGeom>
          <a:noFill/>
          <a:ln>
            <a:noFill/>
          </a:ln>
        </p:spPr>
      </p:pic>
      <p:sp>
        <p:nvSpPr>
          <p:cNvPr id="109" name="Google Shape;109;p4"/>
          <p:cNvSpPr/>
          <p:nvPr/>
        </p:nvSpPr>
        <p:spPr>
          <a:xfrm>
            <a:off x="932688" y="1124712"/>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rulebook</a:t>
            </a:r>
            <a:endParaRPr sz="1013">
              <a:solidFill>
                <a:schemeClr val="dk1"/>
              </a:solidFill>
              <a:latin typeface="Calibri"/>
              <a:ea typeface="Calibri"/>
              <a:cs typeface="Calibri"/>
              <a:sym typeface="Calibri"/>
            </a:endParaRPr>
          </a:p>
        </p:txBody>
      </p:sp>
      <p:sp>
        <p:nvSpPr>
          <p:cNvPr id="110" name="Google Shape;110;p4"/>
          <p:cNvSpPr/>
          <p:nvPr/>
        </p:nvSpPr>
        <p:spPr>
          <a:xfrm>
            <a:off x="932688" y="1351026"/>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CLAUDE.md</a:t>
            </a:r>
            <a:endParaRPr sz="713">
              <a:solidFill>
                <a:schemeClr val="dk1"/>
              </a:solidFill>
              <a:latin typeface="Calibri"/>
              <a:ea typeface="Calibri"/>
              <a:cs typeface="Calibri"/>
              <a:sym typeface="Calibri"/>
            </a:endParaRPr>
          </a:p>
        </p:txBody>
      </p:sp>
      <p:sp>
        <p:nvSpPr>
          <p:cNvPr id="111" name="Google Shape;111;p4"/>
          <p:cNvSpPr/>
          <p:nvPr/>
        </p:nvSpPr>
        <p:spPr>
          <a:xfrm>
            <a:off x="507492" y="1632204"/>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Sets the standard for every task — numbers are sacred, source everything, always compare to the prior period. Loaded automatically each session.</a:t>
            </a:r>
            <a:endParaRPr sz="735">
              <a:solidFill>
                <a:schemeClr val="dk1"/>
              </a:solidFill>
              <a:latin typeface="Calibri"/>
              <a:ea typeface="Calibri"/>
              <a:cs typeface="Calibri"/>
              <a:sym typeface="Calibri"/>
            </a:endParaRPr>
          </a:p>
        </p:txBody>
      </p:sp>
      <p:sp>
        <p:nvSpPr>
          <p:cNvPr id="112" name="Google Shape;112;p4"/>
          <p:cNvSpPr/>
          <p:nvPr/>
        </p:nvSpPr>
        <p:spPr>
          <a:xfrm>
            <a:off x="3250692" y="973836"/>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13" name="Google Shape;113;p4"/>
          <p:cNvSpPr/>
          <p:nvPr/>
        </p:nvSpPr>
        <p:spPr>
          <a:xfrm>
            <a:off x="3401568" y="1124712"/>
            <a:ext cx="356616" cy="356616"/>
          </a:xfrm>
          <a:prstGeom prst="ellipse">
            <a:avLst/>
          </a:prstGeom>
          <a:solidFill>
            <a:srgbClr val="0E9B8E"/>
          </a:solidFill>
          <a:ln>
            <a:noFill/>
          </a:ln>
        </p:spPr>
        <p:txBody>
          <a:bodyPr spcFirstLastPara="1" wrap="square" lIns="68569" tIns="68569" rIns="68569" bIns="68569" anchor="ctr" anchorCtr="0">
            <a:noAutofit/>
          </a:bodyPr>
          <a:lstStyle/>
          <a:p>
            <a:endParaRPr sz="1350"/>
          </a:p>
        </p:txBody>
      </p:sp>
      <p:pic>
        <p:nvPicPr>
          <p:cNvPr id="114" name="Google Shape;114;p4" descr="preencoded.png"/>
          <p:cNvPicPr preferRelativeResize="0"/>
          <p:nvPr/>
        </p:nvPicPr>
        <p:blipFill rotWithShape="1">
          <a:blip r:embed="rId4">
            <a:alphaModFix/>
          </a:blip>
          <a:srcRect/>
          <a:stretch/>
        </p:blipFill>
        <p:spPr>
          <a:xfrm>
            <a:off x="3494288" y="1217432"/>
            <a:ext cx="171176" cy="171176"/>
          </a:xfrm>
          <a:prstGeom prst="rect">
            <a:avLst/>
          </a:prstGeom>
          <a:noFill/>
          <a:ln>
            <a:noFill/>
          </a:ln>
        </p:spPr>
      </p:pic>
      <p:sp>
        <p:nvSpPr>
          <p:cNvPr id="115" name="Google Shape;115;p4"/>
          <p:cNvSpPr/>
          <p:nvPr/>
        </p:nvSpPr>
        <p:spPr>
          <a:xfrm>
            <a:off x="3840480" y="1124712"/>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skills</a:t>
            </a:r>
            <a:endParaRPr sz="1013">
              <a:solidFill>
                <a:schemeClr val="dk1"/>
              </a:solidFill>
              <a:latin typeface="Calibri"/>
              <a:ea typeface="Calibri"/>
              <a:cs typeface="Calibri"/>
              <a:sym typeface="Calibri"/>
            </a:endParaRPr>
          </a:p>
        </p:txBody>
      </p:sp>
      <p:sp>
        <p:nvSpPr>
          <p:cNvPr id="116" name="Google Shape;116;p4"/>
          <p:cNvSpPr/>
          <p:nvPr/>
        </p:nvSpPr>
        <p:spPr>
          <a:xfrm>
            <a:off x="3840480" y="1351026"/>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.claude/skills/</a:t>
            </a:r>
            <a:endParaRPr sz="713">
              <a:solidFill>
                <a:schemeClr val="dk1"/>
              </a:solidFill>
              <a:latin typeface="Calibri"/>
              <a:ea typeface="Calibri"/>
              <a:cs typeface="Calibri"/>
              <a:sym typeface="Calibri"/>
            </a:endParaRPr>
          </a:p>
        </p:txBody>
      </p:sp>
      <p:sp>
        <p:nvSpPr>
          <p:cNvPr id="117" name="Google Shape;117;p4"/>
          <p:cNvSpPr/>
          <p:nvPr/>
        </p:nvSpPr>
        <p:spPr>
          <a:xfrm>
            <a:off x="3415284" y="1632204"/>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Specialist assistants that trigger by context: discover, download, catalogue, remember, analyse — plus an auto-built shortcut for each company and sector lenses.</a:t>
            </a:r>
            <a:endParaRPr sz="735">
              <a:solidFill>
                <a:schemeClr val="dk1"/>
              </a:solidFill>
              <a:latin typeface="Calibri"/>
              <a:ea typeface="Calibri"/>
              <a:cs typeface="Calibri"/>
              <a:sym typeface="Calibri"/>
            </a:endParaRPr>
          </a:p>
        </p:txBody>
      </p:sp>
      <p:sp>
        <p:nvSpPr>
          <p:cNvPr id="118" name="Google Shape;118;p4"/>
          <p:cNvSpPr/>
          <p:nvPr/>
        </p:nvSpPr>
        <p:spPr>
          <a:xfrm>
            <a:off x="6158484" y="973836"/>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19" name="Google Shape;119;p4"/>
          <p:cNvSpPr/>
          <p:nvPr/>
        </p:nvSpPr>
        <p:spPr>
          <a:xfrm>
            <a:off x="6309360" y="1124712"/>
            <a:ext cx="356616" cy="356616"/>
          </a:xfrm>
          <a:prstGeom prst="ellipse">
            <a:avLst/>
          </a:prstGeom>
          <a:solidFill>
            <a:srgbClr val="3C5C7E"/>
          </a:solidFill>
          <a:ln>
            <a:noFill/>
          </a:ln>
        </p:spPr>
        <p:txBody>
          <a:bodyPr spcFirstLastPara="1" wrap="square" lIns="68569" tIns="68569" rIns="68569" bIns="68569" anchor="ctr" anchorCtr="0">
            <a:noAutofit/>
          </a:bodyPr>
          <a:lstStyle/>
          <a:p>
            <a:endParaRPr sz="1350"/>
          </a:p>
        </p:txBody>
      </p:sp>
      <p:pic>
        <p:nvPicPr>
          <p:cNvPr id="120" name="Google Shape;120;p4" descr="preencoded.png"/>
          <p:cNvPicPr preferRelativeResize="0"/>
          <p:nvPr/>
        </p:nvPicPr>
        <p:blipFill rotWithShape="1">
          <a:blip r:embed="rId5">
            <a:alphaModFix/>
          </a:blip>
          <a:srcRect/>
          <a:stretch/>
        </p:blipFill>
        <p:spPr>
          <a:xfrm>
            <a:off x="6402080" y="1217432"/>
            <a:ext cx="171176" cy="171176"/>
          </a:xfrm>
          <a:prstGeom prst="rect">
            <a:avLst/>
          </a:prstGeom>
          <a:noFill/>
          <a:ln>
            <a:noFill/>
          </a:ln>
        </p:spPr>
      </p:pic>
      <p:sp>
        <p:nvSpPr>
          <p:cNvPr id="121" name="Google Shape;121;p4"/>
          <p:cNvSpPr/>
          <p:nvPr/>
        </p:nvSpPr>
        <p:spPr>
          <a:xfrm>
            <a:off x="6748272" y="1124712"/>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back-office workers</a:t>
            </a:r>
            <a:endParaRPr sz="1013">
              <a:solidFill>
                <a:schemeClr val="dk1"/>
              </a:solidFill>
              <a:latin typeface="Calibri"/>
              <a:ea typeface="Calibri"/>
              <a:cs typeface="Calibri"/>
              <a:sym typeface="Calibri"/>
            </a:endParaRPr>
          </a:p>
        </p:txBody>
      </p:sp>
      <p:sp>
        <p:nvSpPr>
          <p:cNvPr id="122" name="Google Shape;122;p4"/>
          <p:cNvSpPr/>
          <p:nvPr/>
        </p:nvSpPr>
        <p:spPr>
          <a:xfrm>
            <a:off x="6748272" y="1351026"/>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.claude/agents/</a:t>
            </a:r>
            <a:endParaRPr sz="713">
              <a:solidFill>
                <a:schemeClr val="dk1"/>
              </a:solidFill>
              <a:latin typeface="Calibri"/>
              <a:ea typeface="Calibri"/>
              <a:cs typeface="Calibri"/>
              <a:sym typeface="Calibri"/>
            </a:endParaRPr>
          </a:p>
        </p:txBody>
      </p:sp>
      <p:sp>
        <p:nvSpPr>
          <p:cNvPr id="123" name="Google Shape;123;p4"/>
          <p:cNvSpPr/>
          <p:nvPr/>
        </p:nvSpPr>
        <p:spPr>
          <a:xfrm>
            <a:off x="6323076" y="1632204"/>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The two heaviest jobs — downloading and analysing — run here in isolation, so the main desk stays fast and clutter-free.</a:t>
            </a:r>
            <a:endParaRPr sz="735">
              <a:solidFill>
                <a:schemeClr val="dk1"/>
              </a:solidFill>
              <a:latin typeface="Calibri"/>
              <a:ea typeface="Calibri"/>
              <a:cs typeface="Calibri"/>
              <a:sym typeface="Calibri"/>
            </a:endParaRPr>
          </a:p>
        </p:txBody>
      </p:sp>
      <p:sp>
        <p:nvSpPr>
          <p:cNvPr id="124" name="Google Shape;124;p4"/>
          <p:cNvSpPr/>
          <p:nvPr/>
        </p:nvSpPr>
        <p:spPr>
          <a:xfrm>
            <a:off x="342900" y="2523744"/>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25" name="Google Shape;125;p4"/>
          <p:cNvSpPr/>
          <p:nvPr/>
        </p:nvSpPr>
        <p:spPr>
          <a:xfrm>
            <a:off x="493776" y="2674620"/>
            <a:ext cx="356616" cy="356616"/>
          </a:xfrm>
          <a:prstGeom prst="ellipse">
            <a:avLst/>
          </a:prstGeom>
          <a:solidFill>
            <a:srgbClr val="13243B"/>
          </a:solidFill>
          <a:ln>
            <a:noFill/>
          </a:ln>
        </p:spPr>
        <p:txBody>
          <a:bodyPr spcFirstLastPara="1" wrap="square" lIns="68569" tIns="68569" rIns="68569" bIns="68569" anchor="ctr" anchorCtr="0">
            <a:noAutofit/>
          </a:bodyPr>
          <a:lstStyle/>
          <a:p>
            <a:endParaRPr sz="1350"/>
          </a:p>
        </p:txBody>
      </p:sp>
      <p:pic>
        <p:nvPicPr>
          <p:cNvPr id="126" name="Google Shape;126;p4" descr="preencoded.png"/>
          <p:cNvPicPr preferRelativeResize="0"/>
          <p:nvPr/>
        </p:nvPicPr>
        <p:blipFill rotWithShape="1">
          <a:blip r:embed="rId6">
            <a:alphaModFix/>
          </a:blip>
          <a:srcRect/>
          <a:stretch/>
        </p:blipFill>
        <p:spPr>
          <a:xfrm>
            <a:off x="586496" y="2767340"/>
            <a:ext cx="171176" cy="171176"/>
          </a:xfrm>
          <a:prstGeom prst="rect">
            <a:avLst/>
          </a:prstGeom>
          <a:noFill/>
          <a:ln>
            <a:noFill/>
          </a:ln>
        </p:spPr>
      </p:pic>
      <p:sp>
        <p:nvSpPr>
          <p:cNvPr id="127" name="Google Shape;127;p4"/>
          <p:cNvSpPr/>
          <p:nvPr/>
        </p:nvSpPr>
        <p:spPr>
          <a:xfrm>
            <a:off x="932688" y="2674620"/>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companies library</a:t>
            </a:r>
            <a:endParaRPr sz="1013">
              <a:solidFill>
                <a:schemeClr val="dk1"/>
              </a:solidFill>
              <a:latin typeface="Calibri"/>
              <a:ea typeface="Calibri"/>
              <a:cs typeface="Calibri"/>
              <a:sym typeface="Calibri"/>
            </a:endParaRPr>
          </a:p>
        </p:txBody>
      </p:sp>
      <p:sp>
        <p:nvSpPr>
          <p:cNvPr id="128" name="Google Shape;128;p4"/>
          <p:cNvSpPr/>
          <p:nvPr/>
        </p:nvSpPr>
        <p:spPr>
          <a:xfrm>
            <a:off x="932688" y="2900934"/>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companies/</a:t>
            </a:r>
            <a:endParaRPr sz="713">
              <a:solidFill>
                <a:schemeClr val="dk1"/>
              </a:solidFill>
              <a:latin typeface="Calibri"/>
              <a:ea typeface="Calibri"/>
              <a:cs typeface="Calibri"/>
              <a:sym typeface="Calibri"/>
            </a:endParaRPr>
          </a:p>
        </p:txBody>
      </p:sp>
      <p:sp>
        <p:nvSpPr>
          <p:cNvPr id="129" name="Google Shape;129;p4"/>
          <p:cNvSpPr/>
          <p:nvPr/>
        </p:nvSpPr>
        <p:spPr>
          <a:xfrm>
            <a:off x="507492" y="3182112"/>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One folder per company (10 today). Each holds annual &amp; interim reports, trading statements, SENS, presentations, press releases and analyst notes — plus a company.json fact sheet.</a:t>
            </a:r>
            <a:endParaRPr sz="735">
              <a:solidFill>
                <a:schemeClr val="dk1"/>
              </a:solidFill>
              <a:latin typeface="Calibri"/>
              <a:ea typeface="Calibri"/>
              <a:cs typeface="Calibri"/>
              <a:sym typeface="Calibri"/>
            </a:endParaRPr>
          </a:p>
        </p:txBody>
      </p:sp>
      <p:sp>
        <p:nvSpPr>
          <p:cNvPr id="130" name="Google Shape;130;p4"/>
          <p:cNvSpPr/>
          <p:nvPr/>
        </p:nvSpPr>
        <p:spPr>
          <a:xfrm>
            <a:off x="3250692" y="2523744"/>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31" name="Google Shape;131;p4"/>
          <p:cNvSpPr/>
          <p:nvPr/>
        </p:nvSpPr>
        <p:spPr>
          <a:xfrm>
            <a:off x="3401568" y="2674620"/>
            <a:ext cx="356616" cy="356616"/>
          </a:xfrm>
          <a:prstGeom prst="ellipse">
            <a:avLst/>
          </a:prstGeom>
          <a:solidFill>
            <a:srgbClr val="0E9B8E"/>
          </a:solidFill>
          <a:ln>
            <a:noFill/>
          </a:ln>
        </p:spPr>
        <p:txBody>
          <a:bodyPr spcFirstLastPara="1" wrap="square" lIns="68569" tIns="68569" rIns="68569" bIns="68569" anchor="ctr" anchorCtr="0">
            <a:noAutofit/>
          </a:bodyPr>
          <a:lstStyle/>
          <a:p>
            <a:endParaRPr sz="1350"/>
          </a:p>
        </p:txBody>
      </p:sp>
      <p:pic>
        <p:nvPicPr>
          <p:cNvPr id="132" name="Google Shape;132;p4" descr="preencoded.png"/>
          <p:cNvPicPr preferRelativeResize="0"/>
          <p:nvPr/>
        </p:nvPicPr>
        <p:blipFill rotWithShape="1">
          <a:blip r:embed="rId7">
            <a:alphaModFix/>
          </a:blip>
          <a:srcRect/>
          <a:stretch/>
        </p:blipFill>
        <p:spPr>
          <a:xfrm>
            <a:off x="3494288" y="2767340"/>
            <a:ext cx="171176" cy="171176"/>
          </a:xfrm>
          <a:prstGeom prst="rect">
            <a:avLst/>
          </a:prstGeom>
          <a:noFill/>
          <a:ln>
            <a:noFill/>
          </a:ln>
        </p:spPr>
      </p:pic>
      <p:sp>
        <p:nvSpPr>
          <p:cNvPr id="133" name="Google Shape;133;p4"/>
          <p:cNvSpPr/>
          <p:nvPr/>
        </p:nvSpPr>
        <p:spPr>
          <a:xfrm>
            <a:off x="3840480" y="2674620"/>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master index</a:t>
            </a:r>
            <a:endParaRPr sz="1013">
              <a:solidFill>
                <a:schemeClr val="dk1"/>
              </a:solidFill>
              <a:latin typeface="Calibri"/>
              <a:ea typeface="Calibri"/>
              <a:cs typeface="Calibri"/>
              <a:sym typeface="Calibri"/>
            </a:endParaRPr>
          </a:p>
        </p:txBody>
      </p:sp>
      <p:sp>
        <p:nvSpPr>
          <p:cNvPr id="134" name="Google Shape;134;p4"/>
          <p:cNvSpPr/>
          <p:nvPr/>
        </p:nvSpPr>
        <p:spPr>
          <a:xfrm>
            <a:off x="3840480" y="2900934"/>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manifest.json · tools/</a:t>
            </a:r>
            <a:endParaRPr sz="713">
              <a:solidFill>
                <a:schemeClr val="dk1"/>
              </a:solidFill>
              <a:latin typeface="Calibri"/>
              <a:ea typeface="Calibri"/>
              <a:cs typeface="Calibri"/>
              <a:sym typeface="Calibri"/>
            </a:endParaRPr>
          </a:p>
        </p:txBody>
      </p:sp>
      <p:sp>
        <p:nvSpPr>
          <p:cNvPr id="135" name="Google Shape;135;p4"/>
          <p:cNvSpPr/>
          <p:nvPr/>
        </p:nvSpPr>
        <p:spPr>
          <a:xfrm>
            <a:off x="3415284" y="3182112"/>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A single catalogue of everything held, missing or due to refresh — generated automatically from each company’s records, never edited by hand.</a:t>
            </a:r>
            <a:endParaRPr sz="735">
              <a:solidFill>
                <a:schemeClr val="dk1"/>
              </a:solidFill>
              <a:latin typeface="Calibri"/>
              <a:ea typeface="Calibri"/>
              <a:cs typeface="Calibri"/>
              <a:sym typeface="Calibri"/>
            </a:endParaRPr>
          </a:p>
        </p:txBody>
      </p:sp>
      <p:sp>
        <p:nvSpPr>
          <p:cNvPr id="136" name="Google Shape;136;p4"/>
          <p:cNvSpPr/>
          <p:nvPr/>
        </p:nvSpPr>
        <p:spPr>
          <a:xfrm>
            <a:off x="6158484" y="2523744"/>
            <a:ext cx="2640330" cy="1412748"/>
          </a:xfrm>
          <a:prstGeom prst="roundRect">
            <a:avLst>
              <a:gd name="adj" fmla="val 4369"/>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endParaRPr sz="1350"/>
          </a:p>
        </p:txBody>
      </p:sp>
      <p:sp>
        <p:nvSpPr>
          <p:cNvPr id="137" name="Google Shape;137;p4"/>
          <p:cNvSpPr/>
          <p:nvPr/>
        </p:nvSpPr>
        <p:spPr>
          <a:xfrm>
            <a:off x="6309360" y="2674620"/>
            <a:ext cx="356616" cy="356616"/>
          </a:xfrm>
          <a:prstGeom prst="ellipse">
            <a:avLst/>
          </a:prstGeom>
          <a:solidFill>
            <a:srgbClr val="BF8F3A"/>
          </a:solidFill>
          <a:ln>
            <a:noFill/>
          </a:ln>
        </p:spPr>
        <p:txBody>
          <a:bodyPr spcFirstLastPara="1" wrap="square" lIns="68569" tIns="68569" rIns="68569" bIns="68569" anchor="ctr" anchorCtr="0">
            <a:noAutofit/>
          </a:bodyPr>
          <a:lstStyle/>
          <a:p>
            <a:endParaRPr sz="1350"/>
          </a:p>
        </p:txBody>
      </p:sp>
      <p:pic>
        <p:nvPicPr>
          <p:cNvPr id="138" name="Google Shape;138;p4" descr="preencoded.png"/>
          <p:cNvPicPr preferRelativeResize="0"/>
          <p:nvPr/>
        </p:nvPicPr>
        <p:blipFill rotWithShape="1">
          <a:blip r:embed="rId8">
            <a:alphaModFix/>
          </a:blip>
          <a:srcRect/>
          <a:stretch/>
        </p:blipFill>
        <p:spPr>
          <a:xfrm>
            <a:off x="6402080" y="2767340"/>
            <a:ext cx="171176" cy="171176"/>
          </a:xfrm>
          <a:prstGeom prst="rect">
            <a:avLst/>
          </a:prstGeom>
          <a:noFill/>
          <a:ln>
            <a:noFill/>
          </a:ln>
        </p:spPr>
      </p:pic>
      <p:sp>
        <p:nvSpPr>
          <p:cNvPr id="139" name="Google Shape;139;p4"/>
          <p:cNvSpPr/>
          <p:nvPr/>
        </p:nvSpPr>
        <p:spPr>
          <a:xfrm>
            <a:off x="6748272" y="2674620"/>
            <a:ext cx="1954530" cy="205740"/>
          </a:xfrm>
          <a:prstGeom prst="rect">
            <a:avLst/>
          </a:prstGeom>
          <a:noFill/>
          <a:ln>
            <a:noFill/>
          </a:ln>
        </p:spPr>
        <p:txBody>
          <a:bodyPr spcFirstLastPara="1" wrap="square" lIns="0" tIns="0" rIns="0" bIns="0" anchor="ctr" anchorCtr="0">
            <a:noAutofit/>
          </a:bodyPr>
          <a:lstStyle/>
          <a:p>
            <a:pPr>
              <a:buClr>
                <a:srgbClr val="13243B"/>
              </a:buClr>
              <a:buSzPts val="1350"/>
            </a:pPr>
            <a:r>
              <a:rPr lang="en-US" sz="1013" b="1">
                <a:solidFill>
                  <a:srgbClr val="13243B"/>
                </a:solidFill>
                <a:latin typeface="Georgia"/>
                <a:ea typeface="Georgia"/>
                <a:cs typeface="Georgia"/>
                <a:sym typeface="Georgia"/>
              </a:rPr>
              <a:t>The outputs</a:t>
            </a:r>
            <a:endParaRPr sz="1013">
              <a:solidFill>
                <a:schemeClr val="dk1"/>
              </a:solidFill>
              <a:latin typeface="Calibri"/>
              <a:ea typeface="Calibri"/>
              <a:cs typeface="Calibri"/>
              <a:sym typeface="Calibri"/>
            </a:endParaRPr>
          </a:p>
        </p:txBody>
      </p:sp>
      <p:sp>
        <p:nvSpPr>
          <p:cNvPr id="140" name="Google Shape;140;p4"/>
          <p:cNvSpPr/>
          <p:nvPr/>
        </p:nvSpPr>
        <p:spPr>
          <a:xfrm>
            <a:off x="6748272" y="2900934"/>
            <a:ext cx="1954530" cy="171450"/>
          </a:xfrm>
          <a:prstGeom prst="rect">
            <a:avLst/>
          </a:prstGeom>
          <a:noFill/>
          <a:ln>
            <a:noFill/>
          </a:ln>
        </p:spPr>
        <p:txBody>
          <a:bodyPr spcFirstLastPara="1" wrap="square" lIns="0" tIns="0" rIns="0" bIns="0" anchor="ctr" anchorCtr="0">
            <a:noAutofit/>
          </a:bodyPr>
          <a:lstStyle/>
          <a:p>
            <a:pPr>
              <a:buClr>
                <a:srgbClr val="0E9B8E"/>
              </a:buClr>
              <a:buSzPts val="950"/>
            </a:pPr>
            <a:r>
              <a:rPr lang="en-US" sz="713" b="1">
                <a:solidFill>
                  <a:srgbClr val="0E9B8E"/>
                </a:solidFill>
                <a:latin typeface="Calibri"/>
                <a:ea typeface="Calibri"/>
                <a:cs typeface="Calibri"/>
                <a:sym typeface="Calibri"/>
              </a:rPr>
              <a:t>Word · Excel · PowerPoint</a:t>
            </a:r>
            <a:endParaRPr sz="713">
              <a:solidFill>
                <a:schemeClr val="dk1"/>
              </a:solidFill>
              <a:latin typeface="Calibri"/>
              <a:ea typeface="Calibri"/>
              <a:cs typeface="Calibri"/>
              <a:sym typeface="Calibri"/>
            </a:endParaRPr>
          </a:p>
        </p:txBody>
      </p:sp>
      <p:sp>
        <p:nvSpPr>
          <p:cNvPr id="141" name="Google Shape;141;p4"/>
          <p:cNvSpPr/>
          <p:nvPr/>
        </p:nvSpPr>
        <p:spPr>
          <a:xfrm>
            <a:off x="6323076" y="3182112"/>
            <a:ext cx="2324862" cy="685800"/>
          </a:xfrm>
          <a:prstGeom prst="rect">
            <a:avLst/>
          </a:prstGeom>
          <a:noFill/>
          <a:ln>
            <a:noFill/>
          </a:ln>
        </p:spPr>
        <p:txBody>
          <a:bodyPr spcFirstLastPara="1" wrap="square" lIns="0" tIns="0" rIns="0" bIns="0" anchor="ctr" anchorCtr="0">
            <a:noAutofit/>
          </a:bodyPr>
          <a:lstStyle/>
          <a:p>
            <a:pPr>
              <a:lnSpc>
                <a:spcPct val="102000"/>
              </a:lnSpc>
              <a:buClr>
                <a:srgbClr val="5E7183"/>
              </a:buClr>
              <a:buSzPts val="980"/>
            </a:pPr>
            <a:r>
              <a:rPr lang="en-US" sz="735">
                <a:solidFill>
                  <a:srgbClr val="5E7183"/>
                </a:solidFill>
                <a:latin typeface="Calibri"/>
                <a:ea typeface="Calibri"/>
                <a:cs typeface="Calibri"/>
                <a:sym typeface="Calibri"/>
              </a:rPr>
              <a:t>Finished analysis lands in the workspace root — sourced, comparable and ready for investment decisions.</a:t>
            </a:r>
            <a:endParaRPr sz="735">
              <a:solidFill>
                <a:schemeClr val="dk1"/>
              </a:solidFill>
              <a:latin typeface="Calibri"/>
              <a:ea typeface="Calibri"/>
              <a:cs typeface="Calibri"/>
              <a:sym typeface="Calibri"/>
            </a:endParaRPr>
          </a:p>
        </p:txBody>
      </p:sp>
      <p:sp>
        <p:nvSpPr>
          <p:cNvPr id="142" name="Google Shape;142;p4"/>
          <p:cNvSpPr/>
          <p:nvPr/>
        </p:nvSpPr>
        <p:spPr>
          <a:xfrm>
            <a:off x="342900" y="4018788"/>
            <a:ext cx="8455914" cy="562356"/>
          </a:xfrm>
          <a:prstGeom prst="roundRect">
            <a:avLst>
              <a:gd name="adj" fmla="val 8537"/>
            </a:avLst>
          </a:prstGeom>
          <a:solidFill>
            <a:srgbClr val="13243B"/>
          </a:solidFill>
          <a:ln>
            <a:noFill/>
          </a:ln>
          <a:effectLst>
            <a:outerShdw blurRad="76200" dist="25400" dir="5400000" algn="bl" rotWithShape="0">
              <a:srgbClr val="1B2A3A">
                <a:alpha val="10196"/>
              </a:srgbClr>
            </a:outerShdw>
          </a:effectLst>
        </p:spPr>
        <p:txBody>
          <a:bodyPr spcFirstLastPara="1" wrap="square" lIns="68569" tIns="68569" rIns="68569" bIns="68569" anchor="ctr" anchorCtr="0">
            <a:noAutofit/>
          </a:bodyPr>
          <a:lstStyle/>
          <a:p>
            <a:endParaRPr sz="1350"/>
          </a:p>
        </p:txBody>
      </p:sp>
      <p:sp>
        <p:nvSpPr>
          <p:cNvPr id="143" name="Google Shape;143;p4"/>
          <p:cNvSpPr/>
          <p:nvPr/>
        </p:nvSpPr>
        <p:spPr>
          <a:xfrm>
            <a:off x="507492" y="4155948"/>
            <a:ext cx="288036" cy="288036"/>
          </a:xfrm>
          <a:prstGeom prst="ellipse">
            <a:avLst/>
          </a:prstGeom>
          <a:solidFill>
            <a:srgbClr val="0E9B8E"/>
          </a:solidFill>
          <a:ln>
            <a:noFill/>
          </a:ln>
        </p:spPr>
        <p:txBody>
          <a:bodyPr spcFirstLastPara="1" wrap="square" lIns="68569" tIns="68569" rIns="68569" bIns="68569" anchor="ctr" anchorCtr="0">
            <a:noAutofit/>
          </a:bodyPr>
          <a:lstStyle/>
          <a:p>
            <a:endParaRPr sz="1350"/>
          </a:p>
        </p:txBody>
      </p:sp>
      <p:pic>
        <p:nvPicPr>
          <p:cNvPr id="144" name="Google Shape;144;p4" descr="preencoded.png"/>
          <p:cNvPicPr preferRelativeResize="0"/>
          <p:nvPr/>
        </p:nvPicPr>
        <p:blipFill rotWithShape="1">
          <a:blip r:embed="rId9">
            <a:alphaModFix/>
          </a:blip>
          <a:srcRect/>
          <a:stretch/>
        </p:blipFill>
        <p:spPr>
          <a:xfrm>
            <a:off x="582382" y="4230838"/>
            <a:ext cx="138257" cy="138257"/>
          </a:xfrm>
          <a:prstGeom prst="rect">
            <a:avLst/>
          </a:prstGeom>
          <a:noFill/>
          <a:ln>
            <a:noFill/>
          </a:ln>
        </p:spPr>
      </p:pic>
      <p:sp>
        <p:nvSpPr>
          <p:cNvPr id="145" name="Google Shape;145;p4"/>
          <p:cNvSpPr/>
          <p:nvPr/>
        </p:nvSpPr>
        <p:spPr>
          <a:xfrm>
            <a:off x="905256" y="4018788"/>
            <a:ext cx="7818120" cy="562356"/>
          </a:xfrm>
          <a:prstGeom prst="rect">
            <a:avLst/>
          </a:prstGeom>
          <a:noFill/>
          <a:ln>
            <a:noFill/>
          </a:ln>
        </p:spPr>
        <p:txBody>
          <a:bodyPr spcFirstLastPara="1" wrap="square" lIns="0" tIns="0" rIns="0" bIns="0" anchor="ctr" anchorCtr="0">
            <a:noAutofit/>
          </a:bodyPr>
          <a:lstStyle/>
          <a:p>
            <a:pPr>
              <a:buClr>
                <a:srgbClr val="FFFFFF"/>
              </a:buClr>
              <a:buSzPts val="1100"/>
            </a:pPr>
            <a:r>
              <a:rPr lang="en-US" sz="825" b="1">
                <a:solidFill>
                  <a:srgbClr val="FFFFFF"/>
                </a:solidFill>
                <a:latin typeface="Calibri"/>
                <a:ea typeface="Calibri"/>
                <a:cs typeface="Calibri"/>
                <a:sym typeface="Calibri"/>
              </a:rPr>
              <a:t>Watchlist — 8 companies monitored for new results:  </a:t>
            </a:r>
            <a:r>
              <a:rPr lang="en-US" sz="825">
                <a:solidFill>
                  <a:srgbClr val="C5D6E6"/>
                </a:solidFill>
                <a:latin typeface="Calibri"/>
                <a:ea typeface="Calibri"/>
                <a:cs typeface="Calibri"/>
                <a:sym typeface="Calibri"/>
              </a:rPr>
              <a:t>Shoprite · Naspers · Woolworths · Clicks · Dis-Chem · Reinet · Richemont · Spar</a:t>
            </a:r>
            <a:endParaRPr sz="825">
              <a:solidFill>
                <a:schemeClr val="dk1"/>
              </a:solidFill>
              <a:latin typeface="Calibri"/>
              <a:ea typeface="Calibri"/>
              <a:cs typeface="Calibri"/>
              <a:sym typeface="Calibri"/>
            </a:endParaRPr>
          </a:p>
        </p:txBody>
      </p:sp>
      <p:sp>
        <p:nvSpPr>
          <p:cNvPr id="146" name="Google Shape;146;p4"/>
          <p:cNvSpPr/>
          <p:nvPr/>
        </p:nvSpPr>
        <p:spPr>
          <a:xfrm>
            <a:off x="342900" y="4828032"/>
            <a:ext cx="4800600" cy="205740"/>
          </a:xfrm>
          <a:prstGeom prst="rect">
            <a:avLst/>
          </a:prstGeom>
          <a:noFill/>
          <a:ln>
            <a:noFill/>
          </a:ln>
        </p:spPr>
        <p:txBody>
          <a:bodyPr spcFirstLastPara="1" wrap="square" lIns="68569" tIns="34275" rIns="68569" bIns="34275" anchor="ctr" anchorCtr="0">
            <a:noAutofit/>
          </a:bodyPr>
          <a:lstStyle/>
          <a:p>
            <a:pPr>
              <a:buClr>
                <a:srgbClr val="5E7183"/>
              </a:buClr>
              <a:buSzPts val="800"/>
            </a:pPr>
            <a:r>
              <a:rPr lang="en-US" sz="600">
                <a:solidFill>
                  <a:srgbClr val="5E7183"/>
                </a:solidFill>
                <a:latin typeface="Calibri"/>
                <a:ea typeface="Calibri"/>
                <a:cs typeface="Calibri"/>
                <a:sym typeface="Calibri"/>
              </a:rPr>
              <a:t>JSE Equity Research · Cowork workspace</a:t>
            </a:r>
            <a:endParaRPr sz="600">
              <a:solidFill>
                <a:schemeClr val="dk1"/>
              </a:solidFill>
              <a:latin typeface="Calibri"/>
              <a:ea typeface="Calibri"/>
              <a:cs typeface="Calibri"/>
              <a:sym typeface="Calibri"/>
            </a:endParaRPr>
          </a:p>
        </p:txBody>
      </p:sp>
      <p:sp>
        <p:nvSpPr>
          <p:cNvPr id="147" name="Google Shape;147;p4"/>
          <p:cNvSpPr/>
          <p:nvPr/>
        </p:nvSpPr>
        <p:spPr>
          <a:xfrm>
            <a:off x="4114800" y="4828032"/>
            <a:ext cx="4684014" cy="205740"/>
          </a:xfrm>
          <a:prstGeom prst="rect">
            <a:avLst/>
          </a:prstGeom>
          <a:noFill/>
          <a:ln>
            <a:noFill/>
          </a:ln>
        </p:spPr>
        <p:txBody>
          <a:bodyPr spcFirstLastPara="1" wrap="square" lIns="68569" tIns="34275" rIns="68569" bIns="34275" anchor="ctr" anchorCtr="0">
            <a:noAutofit/>
          </a:bodyPr>
          <a:lstStyle/>
          <a:p>
            <a:pPr algn="r">
              <a:buClr>
                <a:srgbClr val="5E7183"/>
              </a:buClr>
              <a:buSzPts val="800"/>
            </a:pPr>
            <a:r>
              <a:rPr lang="en-US" sz="600">
                <a:solidFill>
                  <a:srgbClr val="5E7183"/>
                </a:solidFill>
                <a:latin typeface="Calibri"/>
                <a:ea typeface="Calibri"/>
                <a:cs typeface="Calibri"/>
                <a:sym typeface="Calibri"/>
              </a:rPr>
              <a:t>For information only — not investment advice.</a:t>
            </a:r>
            <a:endParaRPr sz="6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Shape 15"/>
        <p:cNvGrpSpPr/>
        <p:nvPr/>
      </p:nvGrpSpPr>
      <p:grpSpPr>
        <a:xfrm>
          <a:off x="0" y="0"/>
          <a:ext cx="0" cy="0"/>
          <a:chOff x="0" y="0"/>
          <a:chExt cx="0" cy="0"/>
        </a:xfrm>
      </p:grpSpPr>
      <p:sp>
        <p:nvSpPr>
          <p:cNvPr id="16" name="Google Shape;16;p3"/>
          <p:cNvSpPr/>
          <p:nvPr/>
        </p:nvSpPr>
        <p:spPr>
          <a:xfrm>
            <a:off x="342900" y="219456"/>
            <a:ext cx="8455914" cy="342900"/>
          </a:xfrm>
          <a:prstGeom prst="rect">
            <a:avLst/>
          </a:prstGeom>
          <a:noFill/>
          <a:ln>
            <a:noFill/>
          </a:ln>
        </p:spPr>
        <p:txBody>
          <a:bodyPr spcFirstLastPara="1" wrap="square" lIns="0" tIns="0" rIns="0" bIns="0" anchor="ctr" anchorCtr="0">
            <a:noAutofit/>
          </a:bodyPr>
          <a:lstStyle/>
          <a:p>
            <a:pPr defTabSz="685800">
              <a:buClr>
                <a:srgbClr val="13243B"/>
              </a:buClr>
              <a:buSzPts val="2800"/>
            </a:pPr>
            <a:r>
              <a:rPr lang="en-US" sz="2100" b="1" kern="0" dirty="0">
                <a:solidFill>
                  <a:srgbClr val="13243B"/>
                </a:solidFill>
                <a:latin typeface="Georgia"/>
                <a:ea typeface="Georgia"/>
                <a:cs typeface="Georgia"/>
                <a:sym typeface="Georgia"/>
              </a:rPr>
              <a:t>How the JSE Financial Reports workspace works</a:t>
            </a:r>
            <a:endParaRPr sz="2100" kern="0" dirty="0">
              <a:solidFill>
                <a:srgbClr val="000000"/>
              </a:solidFill>
              <a:latin typeface="Calibri"/>
              <a:ea typeface="Calibri"/>
              <a:cs typeface="Calibri"/>
              <a:sym typeface="Calibri"/>
            </a:endParaRPr>
          </a:p>
        </p:txBody>
      </p:sp>
      <p:sp>
        <p:nvSpPr>
          <p:cNvPr id="17" name="Google Shape;17;p3"/>
          <p:cNvSpPr/>
          <p:nvPr/>
        </p:nvSpPr>
        <p:spPr>
          <a:xfrm>
            <a:off x="342900" y="589788"/>
            <a:ext cx="8455914" cy="288036"/>
          </a:xfrm>
          <a:prstGeom prst="rect">
            <a:avLst/>
          </a:prstGeom>
          <a:noFill/>
          <a:ln>
            <a:noFill/>
          </a:ln>
        </p:spPr>
        <p:txBody>
          <a:bodyPr spcFirstLastPara="1" wrap="square" lIns="0" tIns="0" rIns="0" bIns="0" anchor="ctr" anchorCtr="0">
            <a:noAutofit/>
          </a:bodyPr>
          <a:lstStyle/>
          <a:p>
            <a:pPr defTabSz="685800">
              <a:buClr>
                <a:srgbClr val="5E7183"/>
              </a:buClr>
              <a:buSzPts val="1300"/>
            </a:pPr>
            <a:r>
              <a:rPr lang="en-US" sz="975" kern="0">
                <a:solidFill>
                  <a:srgbClr val="5E7183"/>
                </a:solidFill>
                <a:latin typeface="Calibri"/>
                <a:ea typeface="Calibri"/>
                <a:cs typeface="Calibri"/>
                <a:sym typeface="Calibri"/>
              </a:rPr>
              <a:t>An automated research desk that finds, files and analyses reports for JSE-listed companies — so the team never hunts for a document.</a:t>
            </a:r>
            <a:endParaRPr sz="975" kern="0">
              <a:solidFill>
                <a:srgbClr val="000000"/>
              </a:solidFill>
              <a:latin typeface="Calibri"/>
              <a:ea typeface="Calibri"/>
              <a:cs typeface="Calibri"/>
              <a:sym typeface="Calibri"/>
            </a:endParaRPr>
          </a:p>
        </p:txBody>
      </p:sp>
      <p:sp>
        <p:nvSpPr>
          <p:cNvPr id="18" name="Google Shape;18;p3"/>
          <p:cNvSpPr/>
          <p:nvPr/>
        </p:nvSpPr>
        <p:spPr>
          <a:xfrm>
            <a:off x="1855089" y="2331720"/>
            <a:ext cx="89154" cy="34290"/>
          </a:xfrm>
          <a:prstGeom prst="rect">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19" name="Google Shape;19;p3"/>
          <p:cNvSpPr/>
          <p:nvPr/>
        </p:nvSpPr>
        <p:spPr>
          <a:xfrm rot="5400000">
            <a:off x="1930527" y="2266569"/>
            <a:ext cx="109728" cy="164592"/>
          </a:xfrm>
          <a:prstGeom prst="triangle">
            <a:avLst>
              <a:gd name="adj" fmla="val 50000"/>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0" name="Google Shape;20;p3"/>
          <p:cNvSpPr/>
          <p:nvPr/>
        </p:nvSpPr>
        <p:spPr>
          <a:xfrm>
            <a:off x="5044059" y="2331720"/>
            <a:ext cx="89154" cy="34290"/>
          </a:xfrm>
          <a:prstGeom prst="rect">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1" name="Google Shape;21;p3"/>
          <p:cNvSpPr/>
          <p:nvPr/>
        </p:nvSpPr>
        <p:spPr>
          <a:xfrm rot="5400000">
            <a:off x="5119497" y="2266569"/>
            <a:ext cx="109728" cy="164592"/>
          </a:xfrm>
          <a:prstGeom prst="triangle">
            <a:avLst>
              <a:gd name="adj" fmla="val 50000"/>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2" name="Google Shape;22;p3"/>
          <p:cNvSpPr/>
          <p:nvPr/>
        </p:nvSpPr>
        <p:spPr>
          <a:xfrm>
            <a:off x="7272909" y="2331720"/>
            <a:ext cx="89154" cy="34290"/>
          </a:xfrm>
          <a:prstGeom prst="rect">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3" name="Google Shape;23;p3"/>
          <p:cNvSpPr/>
          <p:nvPr/>
        </p:nvSpPr>
        <p:spPr>
          <a:xfrm rot="5400000">
            <a:off x="7348347" y="2266569"/>
            <a:ext cx="109728" cy="164592"/>
          </a:xfrm>
          <a:prstGeom prst="triangle">
            <a:avLst>
              <a:gd name="adj" fmla="val 50000"/>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4" name="Google Shape;24;p3"/>
          <p:cNvSpPr/>
          <p:nvPr/>
        </p:nvSpPr>
        <p:spPr>
          <a:xfrm>
            <a:off x="342900" y="1028700"/>
            <a:ext cx="1474470" cy="2640330"/>
          </a:xfrm>
          <a:prstGeom prst="roundRect">
            <a:avLst>
              <a:gd name="adj" fmla="val 4186"/>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25" name="Google Shape;25;p3"/>
          <p:cNvSpPr/>
          <p:nvPr/>
        </p:nvSpPr>
        <p:spPr>
          <a:xfrm>
            <a:off x="466344" y="1165860"/>
            <a:ext cx="342900" cy="342900"/>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26" name="Google Shape;26;p3" descr="preencoded.png"/>
          <p:cNvPicPr preferRelativeResize="0"/>
          <p:nvPr/>
        </p:nvPicPr>
        <p:blipFill rotWithShape="1">
          <a:blip r:embed="rId3">
            <a:alphaModFix/>
          </a:blip>
          <a:srcRect/>
          <a:stretch/>
        </p:blipFill>
        <p:spPr>
          <a:xfrm>
            <a:off x="555498" y="1255014"/>
            <a:ext cx="164592" cy="164592"/>
          </a:xfrm>
          <a:prstGeom prst="rect">
            <a:avLst/>
          </a:prstGeom>
          <a:noFill/>
          <a:ln>
            <a:noFill/>
          </a:ln>
        </p:spPr>
      </p:pic>
      <p:sp>
        <p:nvSpPr>
          <p:cNvPr id="27" name="Google Shape;27;p3"/>
          <p:cNvSpPr/>
          <p:nvPr/>
        </p:nvSpPr>
        <p:spPr>
          <a:xfrm>
            <a:off x="877824" y="1213866"/>
            <a:ext cx="822960" cy="171450"/>
          </a:xfrm>
          <a:prstGeom prst="rect">
            <a:avLst/>
          </a:prstGeom>
          <a:noFill/>
          <a:ln>
            <a:noFill/>
          </a:ln>
        </p:spPr>
        <p:txBody>
          <a:bodyPr spcFirstLastPara="1" wrap="square" lIns="0" tIns="0" rIns="0" bIns="0" anchor="ctr" anchorCtr="0">
            <a:noAutofit/>
          </a:bodyPr>
          <a:lstStyle/>
          <a:p>
            <a:pPr defTabSz="685800">
              <a:buClr>
                <a:srgbClr val="0E9B8E"/>
              </a:buClr>
              <a:buSzPts val="900"/>
            </a:pPr>
            <a:r>
              <a:rPr lang="en-US" sz="675" b="1" kern="0">
                <a:solidFill>
                  <a:srgbClr val="0E9B8E"/>
                </a:solidFill>
                <a:latin typeface="Calibri"/>
                <a:ea typeface="Calibri"/>
                <a:cs typeface="Calibri"/>
                <a:sym typeface="Calibri"/>
              </a:rPr>
              <a:t>STEP 1</a:t>
            </a:r>
            <a:endParaRPr sz="675" kern="0">
              <a:solidFill>
                <a:srgbClr val="000000"/>
              </a:solidFill>
              <a:latin typeface="Calibri"/>
              <a:ea typeface="Calibri"/>
              <a:cs typeface="Calibri"/>
              <a:sym typeface="Calibri"/>
            </a:endParaRPr>
          </a:p>
        </p:txBody>
      </p:sp>
      <p:sp>
        <p:nvSpPr>
          <p:cNvPr id="28" name="Google Shape;28;p3"/>
          <p:cNvSpPr/>
          <p:nvPr/>
        </p:nvSpPr>
        <p:spPr>
          <a:xfrm>
            <a:off x="466344" y="1591056"/>
            <a:ext cx="1227582" cy="240030"/>
          </a:xfrm>
          <a:prstGeom prst="rect">
            <a:avLst/>
          </a:prstGeom>
          <a:noFill/>
          <a:ln>
            <a:noFill/>
          </a:ln>
        </p:spPr>
        <p:txBody>
          <a:bodyPr spcFirstLastPara="1" wrap="square" lIns="0" tIns="0" rIns="0" bIns="0" anchor="ctr" anchorCtr="0">
            <a:noAutofit/>
          </a:bodyPr>
          <a:lstStyle/>
          <a:p>
            <a:pPr defTabSz="685800">
              <a:buClr>
                <a:srgbClr val="13243B"/>
              </a:buClr>
              <a:buSzPts val="1350"/>
            </a:pPr>
            <a:r>
              <a:rPr lang="en-US" sz="1013" b="1" kern="0">
                <a:solidFill>
                  <a:srgbClr val="13243B"/>
                </a:solidFill>
                <a:latin typeface="Georgia"/>
                <a:ea typeface="Georgia"/>
                <a:cs typeface="Georgia"/>
                <a:sym typeface="Georgia"/>
              </a:rPr>
              <a:t>The analyst asks</a:t>
            </a:r>
            <a:endParaRPr sz="1013" kern="0">
              <a:solidFill>
                <a:srgbClr val="000000"/>
              </a:solidFill>
              <a:latin typeface="Calibri"/>
              <a:ea typeface="Calibri"/>
              <a:cs typeface="Calibri"/>
              <a:sym typeface="Calibri"/>
            </a:endParaRPr>
          </a:p>
        </p:txBody>
      </p:sp>
      <p:sp>
        <p:nvSpPr>
          <p:cNvPr id="29" name="Google Shape;29;p3"/>
          <p:cNvSpPr/>
          <p:nvPr/>
        </p:nvSpPr>
        <p:spPr>
          <a:xfrm>
            <a:off x="466344" y="2002536"/>
            <a:ext cx="1227582" cy="274320"/>
          </a:xfrm>
          <a:prstGeom prst="roundRect">
            <a:avLst>
              <a:gd name="adj" fmla="val 12500"/>
            </a:avLst>
          </a:prstGeom>
          <a:solidFill>
            <a:srgbClr val="DCEFEC"/>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30" name="Google Shape;30;p3"/>
          <p:cNvSpPr/>
          <p:nvPr/>
        </p:nvSpPr>
        <p:spPr>
          <a:xfrm>
            <a:off x="521208" y="2002536"/>
            <a:ext cx="1131570" cy="274320"/>
          </a:xfrm>
          <a:prstGeom prst="rect">
            <a:avLst/>
          </a:prstGeom>
          <a:noFill/>
          <a:ln>
            <a:noFill/>
          </a:ln>
        </p:spPr>
        <p:txBody>
          <a:bodyPr spcFirstLastPara="1" wrap="square" lIns="0" tIns="0" rIns="0" bIns="0" anchor="ctr" anchorCtr="0">
            <a:noAutofit/>
          </a:bodyPr>
          <a:lstStyle/>
          <a:p>
            <a:pPr defTabSz="685800">
              <a:buClr>
                <a:srgbClr val="13243B"/>
              </a:buClr>
              <a:buSzPts val="1000"/>
            </a:pPr>
            <a:r>
              <a:rPr lang="en-US" sz="750" i="1" kern="0">
                <a:solidFill>
                  <a:srgbClr val="13243B"/>
                </a:solidFill>
                <a:latin typeface="Calibri"/>
                <a:ea typeface="Calibri"/>
                <a:cs typeface="Calibri"/>
                <a:sym typeface="Calibri"/>
              </a:rPr>
              <a:t>“Tell me about Capitec”</a:t>
            </a:r>
            <a:endParaRPr sz="750" kern="0">
              <a:solidFill>
                <a:srgbClr val="000000"/>
              </a:solidFill>
              <a:latin typeface="Calibri"/>
              <a:ea typeface="Calibri"/>
              <a:cs typeface="Calibri"/>
              <a:sym typeface="Calibri"/>
            </a:endParaRPr>
          </a:p>
        </p:txBody>
      </p:sp>
      <p:sp>
        <p:nvSpPr>
          <p:cNvPr id="31" name="Google Shape;31;p3"/>
          <p:cNvSpPr/>
          <p:nvPr/>
        </p:nvSpPr>
        <p:spPr>
          <a:xfrm>
            <a:off x="466344" y="2345436"/>
            <a:ext cx="1227582" cy="274320"/>
          </a:xfrm>
          <a:prstGeom prst="roundRect">
            <a:avLst>
              <a:gd name="adj" fmla="val 12500"/>
            </a:avLst>
          </a:prstGeom>
          <a:solidFill>
            <a:srgbClr val="DCEFEC"/>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32" name="Google Shape;32;p3"/>
          <p:cNvSpPr/>
          <p:nvPr/>
        </p:nvSpPr>
        <p:spPr>
          <a:xfrm>
            <a:off x="521208" y="2345436"/>
            <a:ext cx="1131570" cy="274320"/>
          </a:xfrm>
          <a:prstGeom prst="rect">
            <a:avLst/>
          </a:prstGeom>
          <a:noFill/>
          <a:ln>
            <a:noFill/>
          </a:ln>
        </p:spPr>
        <p:txBody>
          <a:bodyPr spcFirstLastPara="1" wrap="square" lIns="0" tIns="0" rIns="0" bIns="0" anchor="ctr" anchorCtr="0">
            <a:noAutofit/>
          </a:bodyPr>
          <a:lstStyle/>
          <a:p>
            <a:pPr defTabSz="685800">
              <a:buClr>
                <a:srgbClr val="13243B"/>
              </a:buClr>
              <a:buSzPts val="1000"/>
            </a:pPr>
            <a:r>
              <a:rPr lang="en-US" sz="750" i="1" kern="0">
                <a:solidFill>
                  <a:srgbClr val="13243B"/>
                </a:solidFill>
                <a:latin typeface="Calibri"/>
                <a:ea typeface="Calibri"/>
                <a:cs typeface="Calibri"/>
                <a:sym typeface="Calibri"/>
              </a:rPr>
              <a:t>“What’s new today?”</a:t>
            </a:r>
            <a:endParaRPr sz="750" kern="0">
              <a:solidFill>
                <a:srgbClr val="000000"/>
              </a:solidFill>
              <a:latin typeface="Calibri"/>
              <a:ea typeface="Calibri"/>
              <a:cs typeface="Calibri"/>
              <a:sym typeface="Calibri"/>
            </a:endParaRPr>
          </a:p>
        </p:txBody>
      </p:sp>
      <p:sp>
        <p:nvSpPr>
          <p:cNvPr id="33" name="Google Shape;33;p3"/>
          <p:cNvSpPr/>
          <p:nvPr/>
        </p:nvSpPr>
        <p:spPr>
          <a:xfrm>
            <a:off x="466344" y="2688336"/>
            <a:ext cx="1227582" cy="274320"/>
          </a:xfrm>
          <a:prstGeom prst="roundRect">
            <a:avLst>
              <a:gd name="adj" fmla="val 12500"/>
            </a:avLst>
          </a:prstGeom>
          <a:solidFill>
            <a:srgbClr val="DCEFEC"/>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34" name="Google Shape;34;p3"/>
          <p:cNvSpPr/>
          <p:nvPr/>
        </p:nvSpPr>
        <p:spPr>
          <a:xfrm>
            <a:off x="521208" y="2688336"/>
            <a:ext cx="1131570" cy="274320"/>
          </a:xfrm>
          <a:prstGeom prst="rect">
            <a:avLst/>
          </a:prstGeom>
          <a:noFill/>
          <a:ln>
            <a:noFill/>
          </a:ln>
        </p:spPr>
        <p:txBody>
          <a:bodyPr spcFirstLastPara="1" wrap="square" lIns="0" tIns="0" rIns="0" bIns="0" anchor="ctr" anchorCtr="0">
            <a:noAutofit/>
          </a:bodyPr>
          <a:lstStyle/>
          <a:p>
            <a:pPr defTabSz="685800">
              <a:buClr>
                <a:srgbClr val="13243B"/>
              </a:buClr>
              <a:buSzPts val="1000"/>
            </a:pPr>
            <a:r>
              <a:rPr lang="en-US" sz="750" i="1" kern="0">
                <a:solidFill>
                  <a:srgbClr val="13243B"/>
                </a:solidFill>
                <a:latin typeface="Calibri"/>
                <a:ea typeface="Calibri"/>
                <a:cs typeface="Calibri"/>
                <a:sym typeface="Calibri"/>
              </a:rPr>
              <a:t>“Build the IC pack”</a:t>
            </a:r>
            <a:endParaRPr sz="750" kern="0">
              <a:solidFill>
                <a:srgbClr val="000000"/>
              </a:solidFill>
              <a:latin typeface="Calibri"/>
              <a:ea typeface="Calibri"/>
              <a:cs typeface="Calibri"/>
              <a:sym typeface="Calibri"/>
            </a:endParaRPr>
          </a:p>
        </p:txBody>
      </p:sp>
      <p:sp>
        <p:nvSpPr>
          <p:cNvPr id="35" name="Google Shape;35;p3"/>
          <p:cNvSpPr/>
          <p:nvPr/>
        </p:nvSpPr>
        <p:spPr>
          <a:xfrm>
            <a:off x="466344" y="3120390"/>
            <a:ext cx="1227582" cy="480060"/>
          </a:xfrm>
          <a:prstGeom prst="rect">
            <a:avLst/>
          </a:prstGeom>
          <a:noFill/>
          <a:ln>
            <a:noFill/>
          </a:ln>
        </p:spPr>
        <p:txBody>
          <a:bodyPr spcFirstLastPara="1" wrap="square" lIns="0" tIns="0" rIns="0" bIns="0" anchor="ctr" anchorCtr="0">
            <a:noAutofit/>
          </a:bodyPr>
          <a:lstStyle/>
          <a:p>
            <a:pPr defTabSz="685800">
              <a:buClr>
                <a:srgbClr val="5E7183"/>
              </a:buClr>
              <a:buSzPts val="950"/>
            </a:pPr>
            <a:r>
              <a:rPr lang="en-US" sz="713" kern="0">
                <a:solidFill>
                  <a:srgbClr val="5E7183"/>
                </a:solidFill>
                <a:latin typeface="Calibri"/>
                <a:ea typeface="Calibri"/>
                <a:cs typeface="Calibri"/>
                <a:sym typeface="Calibri"/>
              </a:rPr>
              <a:t>A plain-English request — that’s all the desk needs.</a:t>
            </a:r>
            <a:endParaRPr sz="713" kern="0">
              <a:solidFill>
                <a:srgbClr val="000000"/>
              </a:solidFill>
              <a:latin typeface="Calibri"/>
              <a:ea typeface="Calibri"/>
              <a:cs typeface="Calibri"/>
              <a:sym typeface="Calibri"/>
            </a:endParaRPr>
          </a:p>
        </p:txBody>
      </p:sp>
      <p:sp>
        <p:nvSpPr>
          <p:cNvPr id="36" name="Google Shape;36;p3"/>
          <p:cNvSpPr/>
          <p:nvPr/>
        </p:nvSpPr>
        <p:spPr>
          <a:xfrm>
            <a:off x="2057400" y="1028700"/>
            <a:ext cx="2983230" cy="2640330"/>
          </a:xfrm>
          <a:prstGeom prst="roundRect">
            <a:avLst>
              <a:gd name="adj" fmla="val 2338"/>
            </a:avLst>
          </a:prstGeom>
          <a:solidFill>
            <a:srgbClr val="13243B"/>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37" name="Google Shape;37;p3"/>
          <p:cNvSpPr/>
          <p:nvPr/>
        </p:nvSpPr>
        <p:spPr>
          <a:xfrm>
            <a:off x="2194560" y="1179576"/>
            <a:ext cx="342900" cy="342900"/>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38" name="Google Shape;38;p3" descr="preencoded.png"/>
          <p:cNvPicPr preferRelativeResize="0"/>
          <p:nvPr/>
        </p:nvPicPr>
        <p:blipFill rotWithShape="1">
          <a:blip r:embed="rId4">
            <a:alphaModFix/>
          </a:blip>
          <a:srcRect/>
          <a:stretch/>
        </p:blipFill>
        <p:spPr>
          <a:xfrm>
            <a:off x="2283714" y="1268730"/>
            <a:ext cx="164592" cy="164592"/>
          </a:xfrm>
          <a:prstGeom prst="rect">
            <a:avLst/>
          </a:prstGeom>
          <a:noFill/>
          <a:ln>
            <a:noFill/>
          </a:ln>
        </p:spPr>
      </p:pic>
      <p:sp>
        <p:nvSpPr>
          <p:cNvPr id="39" name="Google Shape;39;p3"/>
          <p:cNvSpPr/>
          <p:nvPr/>
        </p:nvSpPr>
        <p:spPr>
          <a:xfrm>
            <a:off x="2606040" y="1220724"/>
            <a:ext cx="1714500" cy="171450"/>
          </a:xfrm>
          <a:prstGeom prst="rect">
            <a:avLst/>
          </a:prstGeom>
          <a:noFill/>
          <a:ln>
            <a:noFill/>
          </a:ln>
        </p:spPr>
        <p:txBody>
          <a:bodyPr spcFirstLastPara="1" wrap="square" lIns="0" tIns="0" rIns="0" bIns="0" anchor="ctr" anchorCtr="0">
            <a:noAutofit/>
          </a:bodyPr>
          <a:lstStyle/>
          <a:p>
            <a:pPr defTabSz="685800">
              <a:buClr>
                <a:srgbClr val="0E9B8E"/>
              </a:buClr>
              <a:buSzPts val="900"/>
            </a:pPr>
            <a:r>
              <a:rPr lang="en-US" sz="675" b="1" kern="0">
                <a:solidFill>
                  <a:srgbClr val="0E9B8E"/>
                </a:solidFill>
                <a:latin typeface="Calibri"/>
                <a:ea typeface="Calibri"/>
                <a:cs typeface="Calibri"/>
                <a:sym typeface="Calibri"/>
              </a:rPr>
              <a:t>THE ENGINE</a:t>
            </a:r>
            <a:endParaRPr sz="675" kern="0">
              <a:solidFill>
                <a:srgbClr val="000000"/>
              </a:solidFill>
              <a:latin typeface="Calibri"/>
              <a:ea typeface="Calibri"/>
              <a:cs typeface="Calibri"/>
              <a:sym typeface="Calibri"/>
            </a:endParaRPr>
          </a:p>
        </p:txBody>
      </p:sp>
      <p:sp>
        <p:nvSpPr>
          <p:cNvPr id="40" name="Google Shape;40;p3"/>
          <p:cNvSpPr/>
          <p:nvPr/>
        </p:nvSpPr>
        <p:spPr>
          <a:xfrm>
            <a:off x="2194560" y="1563624"/>
            <a:ext cx="2708910" cy="240030"/>
          </a:xfrm>
          <a:prstGeom prst="rect">
            <a:avLst/>
          </a:prstGeom>
          <a:noFill/>
          <a:ln>
            <a:noFill/>
          </a:ln>
        </p:spPr>
        <p:txBody>
          <a:bodyPr spcFirstLastPara="1" wrap="square" lIns="0" tIns="0" rIns="0" bIns="0" anchor="ctr" anchorCtr="0">
            <a:noAutofit/>
          </a:bodyPr>
          <a:lstStyle/>
          <a:p>
            <a:pPr defTabSz="685800">
              <a:buClr>
                <a:srgbClr val="FFFFFF"/>
              </a:buClr>
              <a:buSzPts val="1500"/>
            </a:pPr>
            <a:r>
              <a:rPr lang="en-US" sz="1125" b="1" kern="0">
                <a:solidFill>
                  <a:srgbClr val="FFFFFF"/>
                </a:solidFill>
                <a:latin typeface="Georgia"/>
                <a:ea typeface="Georgia"/>
                <a:cs typeface="Georgia"/>
                <a:sym typeface="Georgia"/>
              </a:rPr>
              <a:t>Skills do the work</a:t>
            </a:r>
            <a:endParaRPr sz="1125" kern="0">
              <a:solidFill>
                <a:srgbClr val="000000"/>
              </a:solidFill>
              <a:latin typeface="Calibri"/>
              <a:ea typeface="Calibri"/>
              <a:cs typeface="Calibri"/>
              <a:sym typeface="Calibri"/>
            </a:endParaRPr>
          </a:p>
        </p:txBody>
      </p:sp>
      <p:sp>
        <p:nvSpPr>
          <p:cNvPr id="41" name="Google Shape;41;p3"/>
          <p:cNvSpPr/>
          <p:nvPr/>
        </p:nvSpPr>
        <p:spPr>
          <a:xfrm>
            <a:off x="2194560" y="1796796"/>
            <a:ext cx="2708910" cy="171450"/>
          </a:xfrm>
          <a:prstGeom prst="rect">
            <a:avLst/>
          </a:prstGeom>
          <a:noFill/>
          <a:ln>
            <a:noFill/>
          </a:ln>
        </p:spPr>
        <p:txBody>
          <a:bodyPr spcFirstLastPara="1" wrap="square" lIns="0" tIns="0" rIns="0" bIns="0" anchor="ctr" anchorCtr="0">
            <a:noAutofit/>
          </a:bodyPr>
          <a:lstStyle/>
          <a:p>
            <a:pPr defTabSz="685800">
              <a:buClr>
                <a:srgbClr val="C5D6E6"/>
              </a:buClr>
              <a:buSzPts val="950"/>
            </a:pPr>
            <a:r>
              <a:rPr lang="en-US" sz="713" i="1" kern="0">
                <a:solidFill>
                  <a:srgbClr val="C5D6E6"/>
                </a:solidFill>
                <a:latin typeface="Calibri"/>
                <a:ea typeface="Calibri"/>
                <a:cs typeface="Calibri"/>
                <a:sym typeface="Calibri"/>
              </a:rPr>
              <a:t>specialist assistants, switched on automatically</a:t>
            </a:r>
            <a:endParaRPr sz="713" kern="0">
              <a:solidFill>
                <a:srgbClr val="000000"/>
              </a:solidFill>
              <a:latin typeface="Calibri"/>
              <a:ea typeface="Calibri"/>
              <a:cs typeface="Calibri"/>
              <a:sym typeface="Calibri"/>
            </a:endParaRPr>
          </a:p>
        </p:txBody>
      </p:sp>
      <p:sp>
        <p:nvSpPr>
          <p:cNvPr id="42" name="Google Shape;42;p3"/>
          <p:cNvSpPr/>
          <p:nvPr/>
        </p:nvSpPr>
        <p:spPr>
          <a:xfrm>
            <a:off x="2208276" y="2016252"/>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43" name="Google Shape;43;p3" descr="preencoded.png"/>
          <p:cNvPicPr preferRelativeResize="0"/>
          <p:nvPr/>
        </p:nvPicPr>
        <p:blipFill rotWithShape="1">
          <a:blip r:embed="rId5">
            <a:alphaModFix/>
          </a:blip>
          <a:srcRect/>
          <a:stretch/>
        </p:blipFill>
        <p:spPr>
          <a:xfrm>
            <a:off x="2256419" y="2064395"/>
            <a:ext cx="88880" cy="88880"/>
          </a:xfrm>
          <a:prstGeom prst="rect">
            <a:avLst/>
          </a:prstGeom>
          <a:noFill/>
          <a:ln>
            <a:noFill/>
          </a:ln>
        </p:spPr>
      </p:pic>
      <p:sp>
        <p:nvSpPr>
          <p:cNvPr id="44" name="Google Shape;44;p3"/>
          <p:cNvSpPr/>
          <p:nvPr/>
        </p:nvSpPr>
        <p:spPr>
          <a:xfrm>
            <a:off x="2468880" y="1975104"/>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Discover  </a:t>
            </a:r>
            <a:r>
              <a:rPr lang="en-US" sz="600" i="1" kern="0">
                <a:solidFill>
                  <a:srgbClr val="C5D6E6"/>
                </a:solidFill>
                <a:latin typeface="Calibri"/>
                <a:ea typeface="Calibri"/>
                <a:cs typeface="Calibri"/>
                <a:sym typeface="Calibri"/>
              </a:rPr>
              <a:t>· jse-company-discovery</a:t>
            </a:r>
            <a:endParaRPr sz="788" kern="0">
              <a:solidFill>
                <a:srgbClr val="000000"/>
              </a:solidFill>
              <a:latin typeface="Calibri"/>
              <a:ea typeface="Calibri"/>
              <a:cs typeface="Calibri"/>
              <a:sym typeface="Calibri"/>
            </a:endParaRPr>
          </a:p>
        </p:txBody>
      </p:sp>
      <p:sp>
        <p:nvSpPr>
          <p:cNvPr id="45" name="Google Shape;45;p3"/>
          <p:cNvSpPr/>
          <p:nvPr/>
        </p:nvSpPr>
        <p:spPr>
          <a:xfrm>
            <a:off x="2468880" y="2119122"/>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find its investor site &amp; where reports live</a:t>
            </a:r>
            <a:endParaRPr sz="638" kern="0">
              <a:solidFill>
                <a:srgbClr val="000000"/>
              </a:solidFill>
              <a:latin typeface="Calibri"/>
              <a:ea typeface="Calibri"/>
              <a:cs typeface="Calibri"/>
              <a:sym typeface="Calibri"/>
            </a:endParaRPr>
          </a:p>
        </p:txBody>
      </p:sp>
      <p:sp>
        <p:nvSpPr>
          <p:cNvPr id="46" name="Google Shape;46;p3"/>
          <p:cNvSpPr/>
          <p:nvPr/>
        </p:nvSpPr>
        <p:spPr>
          <a:xfrm>
            <a:off x="2208276" y="2304288"/>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47" name="Google Shape;47;p3" descr="preencoded.png"/>
          <p:cNvPicPr preferRelativeResize="0"/>
          <p:nvPr/>
        </p:nvPicPr>
        <p:blipFill rotWithShape="1">
          <a:blip r:embed="rId6">
            <a:alphaModFix/>
          </a:blip>
          <a:srcRect/>
          <a:stretch/>
        </p:blipFill>
        <p:spPr>
          <a:xfrm>
            <a:off x="2256419" y="2352431"/>
            <a:ext cx="88880" cy="88880"/>
          </a:xfrm>
          <a:prstGeom prst="rect">
            <a:avLst/>
          </a:prstGeom>
          <a:noFill/>
          <a:ln>
            <a:noFill/>
          </a:ln>
        </p:spPr>
      </p:pic>
      <p:sp>
        <p:nvSpPr>
          <p:cNvPr id="48" name="Google Shape;48;p3"/>
          <p:cNvSpPr/>
          <p:nvPr/>
        </p:nvSpPr>
        <p:spPr>
          <a:xfrm>
            <a:off x="2468880" y="2263140"/>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Download  </a:t>
            </a:r>
            <a:r>
              <a:rPr lang="en-US" sz="600" i="1" kern="0">
                <a:solidFill>
                  <a:srgbClr val="C5D6E6"/>
                </a:solidFill>
                <a:latin typeface="Calibri"/>
                <a:ea typeface="Calibri"/>
                <a:cs typeface="Calibri"/>
                <a:sym typeface="Calibri"/>
              </a:rPr>
              <a:t>· jse-report-downloader</a:t>
            </a:r>
            <a:endParaRPr sz="788" kern="0">
              <a:solidFill>
                <a:srgbClr val="000000"/>
              </a:solidFill>
              <a:latin typeface="Calibri"/>
              <a:ea typeface="Calibri"/>
              <a:cs typeface="Calibri"/>
              <a:sym typeface="Calibri"/>
            </a:endParaRPr>
          </a:p>
        </p:txBody>
      </p:sp>
      <p:sp>
        <p:nvSpPr>
          <p:cNvPr id="49" name="Google Shape;49;p3"/>
          <p:cNvSpPr/>
          <p:nvPr/>
        </p:nvSpPr>
        <p:spPr>
          <a:xfrm>
            <a:off x="2468880" y="2407158"/>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annual &amp; interim results, updates, SENS</a:t>
            </a:r>
            <a:endParaRPr sz="638" kern="0">
              <a:solidFill>
                <a:srgbClr val="000000"/>
              </a:solidFill>
              <a:latin typeface="Calibri"/>
              <a:ea typeface="Calibri"/>
              <a:cs typeface="Calibri"/>
              <a:sym typeface="Calibri"/>
            </a:endParaRPr>
          </a:p>
        </p:txBody>
      </p:sp>
      <p:sp>
        <p:nvSpPr>
          <p:cNvPr id="50" name="Google Shape;50;p3"/>
          <p:cNvSpPr/>
          <p:nvPr/>
        </p:nvSpPr>
        <p:spPr>
          <a:xfrm>
            <a:off x="2208276" y="2592324"/>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51" name="Google Shape;51;p3" descr="preencoded.png"/>
          <p:cNvPicPr preferRelativeResize="0"/>
          <p:nvPr/>
        </p:nvPicPr>
        <p:blipFill rotWithShape="1">
          <a:blip r:embed="rId7">
            <a:alphaModFix/>
          </a:blip>
          <a:srcRect/>
          <a:stretch/>
        </p:blipFill>
        <p:spPr>
          <a:xfrm>
            <a:off x="2256419" y="2640467"/>
            <a:ext cx="88880" cy="88880"/>
          </a:xfrm>
          <a:prstGeom prst="rect">
            <a:avLst/>
          </a:prstGeom>
          <a:noFill/>
          <a:ln>
            <a:noFill/>
          </a:ln>
        </p:spPr>
      </p:pic>
      <p:sp>
        <p:nvSpPr>
          <p:cNvPr id="52" name="Google Shape;52;p3"/>
          <p:cNvSpPr/>
          <p:nvPr/>
        </p:nvSpPr>
        <p:spPr>
          <a:xfrm>
            <a:off x="2468880" y="2551176"/>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Catalogue  </a:t>
            </a:r>
            <a:r>
              <a:rPr lang="en-US" sz="600" i="1" kern="0">
                <a:solidFill>
                  <a:srgbClr val="C5D6E6"/>
                </a:solidFill>
                <a:latin typeface="Calibri"/>
                <a:ea typeface="Calibri"/>
                <a:cs typeface="Calibri"/>
                <a:sym typeface="Calibri"/>
              </a:rPr>
              <a:t>· jse-manifest-manager</a:t>
            </a:r>
            <a:endParaRPr sz="788" kern="0">
              <a:solidFill>
                <a:srgbClr val="000000"/>
              </a:solidFill>
              <a:latin typeface="Calibri"/>
              <a:ea typeface="Calibri"/>
              <a:cs typeface="Calibri"/>
              <a:sym typeface="Calibri"/>
            </a:endParaRPr>
          </a:p>
        </p:txBody>
      </p:sp>
      <p:sp>
        <p:nvSpPr>
          <p:cNvPr id="53" name="Google Shape;53;p3"/>
          <p:cNvSpPr/>
          <p:nvPr/>
        </p:nvSpPr>
        <p:spPr>
          <a:xfrm>
            <a:off x="2468880" y="2695194"/>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keep the master index current</a:t>
            </a:r>
            <a:endParaRPr sz="638" kern="0">
              <a:solidFill>
                <a:srgbClr val="000000"/>
              </a:solidFill>
              <a:latin typeface="Calibri"/>
              <a:ea typeface="Calibri"/>
              <a:cs typeface="Calibri"/>
              <a:sym typeface="Calibri"/>
            </a:endParaRPr>
          </a:p>
        </p:txBody>
      </p:sp>
      <p:sp>
        <p:nvSpPr>
          <p:cNvPr id="54" name="Google Shape;54;p3"/>
          <p:cNvSpPr/>
          <p:nvPr/>
        </p:nvSpPr>
        <p:spPr>
          <a:xfrm>
            <a:off x="2208276" y="2880360"/>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55" name="Google Shape;55;p3" descr="preencoded.png"/>
          <p:cNvPicPr preferRelativeResize="0"/>
          <p:nvPr/>
        </p:nvPicPr>
        <p:blipFill rotWithShape="1">
          <a:blip r:embed="rId8">
            <a:alphaModFix/>
          </a:blip>
          <a:srcRect/>
          <a:stretch/>
        </p:blipFill>
        <p:spPr>
          <a:xfrm>
            <a:off x="2256419" y="2928503"/>
            <a:ext cx="88880" cy="88880"/>
          </a:xfrm>
          <a:prstGeom prst="rect">
            <a:avLst/>
          </a:prstGeom>
          <a:noFill/>
          <a:ln>
            <a:noFill/>
          </a:ln>
        </p:spPr>
      </p:pic>
      <p:sp>
        <p:nvSpPr>
          <p:cNvPr id="56" name="Google Shape;56;p3"/>
          <p:cNvSpPr/>
          <p:nvPr/>
        </p:nvSpPr>
        <p:spPr>
          <a:xfrm>
            <a:off x="2468880" y="2839212"/>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Remember  </a:t>
            </a:r>
            <a:r>
              <a:rPr lang="en-US" sz="600" i="1" kern="0">
                <a:solidFill>
                  <a:srgbClr val="C5D6E6"/>
                </a:solidFill>
                <a:latin typeface="Calibri"/>
                <a:ea typeface="Calibri"/>
                <a:cs typeface="Calibri"/>
                <a:sym typeface="Calibri"/>
              </a:rPr>
              <a:t>· jse-skill-builder</a:t>
            </a:r>
            <a:endParaRPr sz="788" kern="0">
              <a:solidFill>
                <a:srgbClr val="000000"/>
              </a:solidFill>
              <a:latin typeface="Calibri"/>
              <a:ea typeface="Calibri"/>
              <a:cs typeface="Calibri"/>
              <a:sym typeface="Calibri"/>
            </a:endParaRPr>
          </a:p>
        </p:txBody>
      </p:sp>
      <p:sp>
        <p:nvSpPr>
          <p:cNvPr id="57" name="Google Shape;57;p3"/>
          <p:cNvSpPr/>
          <p:nvPr/>
        </p:nvSpPr>
        <p:spPr>
          <a:xfrm>
            <a:off x="2468880" y="2983230"/>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save a per-company shortcut for next time</a:t>
            </a:r>
            <a:endParaRPr sz="638" kern="0">
              <a:solidFill>
                <a:srgbClr val="000000"/>
              </a:solidFill>
              <a:latin typeface="Calibri"/>
              <a:ea typeface="Calibri"/>
              <a:cs typeface="Calibri"/>
              <a:sym typeface="Calibri"/>
            </a:endParaRPr>
          </a:p>
        </p:txBody>
      </p:sp>
      <p:sp>
        <p:nvSpPr>
          <p:cNvPr id="58" name="Google Shape;58;p3"/>
          <p:cNvSpPr/>
          <p:nvPr/>
        </p:nvSpPr>
        <p:spPr>
          <a:xfrm>
            <a:off x="2208276" y="3168396"/>
            <a:ext cx="185166" cy="185166"/>
          </a:xfrm>
          <a:prstGeom prst="ellipse">
            <a:avLst/>
          </a:prstGeom>
          <a:solidFill>
            <a:srgbClr val="0E9B8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59" name="Google Shape;59;p3" descr="preencoded.png"/>
          <p:cNvPicPr preferRelativeResize="0"/>
          <p:nvPr/>
        </p:nvPicPr>
        <p:blipFill rotWithShape="1">
          <a:blip r:embed="rId9">
            <a:alphaModFix/>
          </a:blip>
          <a:srcRect/>
          <a:stretch/>
        </p:blipFill>
        <p:spPr>
          <a:xfrm>
            <a:off x="2256419" y="3216539"/>
            <a:ext cx="88880" cy="88880"/>
          </a:xfrm>
          <a:prstGeom prst="rect">
            <a:avLst/>
          </a:prstGeom>
          <a:noFill/>
          <a:ln>
            <a:noFill/>
          </a:ln>
        </p:spPr>
      </p:pic>
      <p:sp>
        <p:nvSpPr>
          <p:cNvPr id="60" name="Google Shape;60;p3"/>
          <p:cNvSpPr/>
          <p:nvPr/>
        </p:nvSpPr>
        <p:spPr>
          <a:xfrm>
            <a:off x="2468880" y="3127248"/>
            <a:ext cx="2468880" cy="150876"/>
          </a:xfrm>
          <a:prstGeom prst="rect">
            <a:avLst/>
          </a:prstGeom>
          <a:noFill/>
          <a:ln>
            <a:noFill/>
          </a:ln>
        </p:spPr>
        <p:txBody>
          <a:bodyPr spcFirstLastPara="1" wrap="square" lIns="0" tIns="0" rIns="0" bIns="0" anchor="ctr" anchorCtr="0">
            <a:noAutofit/>
          </a:bodyPr>
          <a:lstStyle/>
          <a:p>
            <a:pPr defTabSz="685800">
              <a:buClr>
                <a:srgbClr val="FFFFFF"/>
              </a:buClr>
              <a:buSzPts val="1050"/>
            </a:pPr>
            <a:r>
              <a:rPr lang="en-US" sz="788" b="1" kern="0">
                <a:solidFill>
                  <a:srgbClr val="FFFFFF"/>
                </a:solidFill>
                <a:latin typeface="Calibri"/>
                <a:ea typeface="Calibri"/>
                <a:cs typeface="Calibri"/>
                <a:sym typeface="Calibri"/>
              </a:rPr>
              <a:t>Analyse  </a:t>
            </a:r>
            <a:r>
              <a:rPr lang="en-US" sz="600" i="1" kern="0">
                <a:solidFill>
                  <a:srgbClr val="C5D6E6"/>
                </a:solidFill>
                <a:latin typeface="Calibri"/>
                <a:ea typeface="Calibri"/>
                <a:cs typeface="Calibri"/>
                <a:sym typeface="Calibri"/>
              </a:rPr>
              <a:t>· jse-analyst</a:t>
            </a:r>
            <a:endParaRPr sz="788" kern="0">
              <a:solidFill>
                <a:srgbClr val="000000"/>
              </a:solidFill>
              <a:latin typeface="Calibri"/>
              <a:ea typeface="Calibri"/>
              <a:cs typeface="Calibri"/>
              <a:sym typeface="Calibri"/>
            </a:endParaRPr>
          </a:p>
        </p:txBody>
      </p:sp>
      <p:sp>
        <p:nvSpPr>
          <p:cNvPr id="61" name="Google Shape;61;p3"/>
          <p:cNvSpPr/>
          <p:nvPr/>
        </p:nvSpPr>
        <p:spPr>
          <a:xfrm>
            <a:off x="2468880" y="3271266"/>
            <a:ext cx="2468880" cy="137160"/>
          </a:xfrm>
          <a:prstGeom prst="rect">
            <a:avLst/>
          </a:prstGeom>
          <a:noFill/>
          <a:ln>
            <a:noFill/>
          </a:ln>
        </p:spPr>
        <p:txBody>
          <a:bodyPr spcFirstLastPara="1" wrap="square" lIns="0" tIns="0" rIns="0" bIns="0" anchor="ctr" anchorCtr="0">
            <a:noAutofit/>
          </a:bodyPr>
          <a:lstStyle/>
          <a:p>
            <a:pPr defTabSz="685800">
              <a:buClr>
                <a:srgbClr val="C5D6E6"/>
              </a:buClr>
              <a:buSzPts val="850"/>
            </a:pPr>
            <a:r>
              <a:rPr lang="en-US" sz="638" kern="0">
                <a:solidFill>
                  <a:srgbClr val="C5D6E6"/>
                </a:solidFill>
                <a:latin typeface="Calibri"/>
                <a:ea typeface="Calibri"/>
                <a:cs typeface="Calibri"/>
                <a:sym typeface="Calibri"/>
              </a:rPr>
              <a:t>extract the numbers &amp; compare periods</a:t>
            </a:r>
            <a:endParaRPr sz="638" kern="0">
              <a:solidFill>
                <a:srgbClr val="000000"/>
              </a:solidFill>
              <a:latin typeface="Calibri"/>
              <a:ea typeface="Calibri"/>
              <a:cs typeface="Calibri"/>
              <a:sym typeface="Calibri"/>
            </a:endParaRPr>
          </a:p>
        </p:txBody>
      </p:sp>
      <p:pic>
        <p:nvPicPr>
          <p:cNvPr id="62" name="Google Shape;62;p3" descr="preencoded.png"/>
          <p:cNvPicPr preferRelativeResize="0"/>
          <p:nvPr/>
        </p:nvPicPr>
        <p:blipFill rotWithShape="1">
          <a:blip r:embed="rId10">
            <a:alphaModFix/>
          </a:blip>
          <a:srcRect/>
          <a:stretch/>
        </p:blipFill>
        <p:spPr>
          <a:xfrm>
            <a:off x="2208276" y="3470148"/>
            <a:ext cx="123444" cy="123444"/>
          </a:xfrm>
          <a:prstGeom prst="rect">
            <a:avLst/>
          </a:prstGeom>
          <a:noFill/>
          <a:ln>
            <a:noFill/>
          </a:ln>
        </p:spPr>
      </p:pic>
      <p:sp>
        <p:nvSpPr>
          <p:cNvPr id="63" name="Google Shape;63;p3"/>
          <p:cNvSpPr/>
          <p:nvPr/>
        </p:nvSpPr>
        <p:spPr>
          <a:xfrm>
            <a:off x="2386584" y="3442716"/>
            <a:ext cx="2530602" cy="178308"/>
          </a:xfrm>
          <a:prstGeom prst="rect">
            <a:avLst/>
          </a:prstGeom>
          <a:noFill/>
          <a:ln>
            <a:noFill/>
          </a:ln>
        </p:spPr>
        <p:txBody>
          <a:bodyPr spcFirstLastPara="1" wrap="square" lIns="0" tIns="0" rIns="0" bIns="0" anchor="ctr" anchorCtr="0">
            <a:noAutofit/>
          </a:bodyPr>
          <a:lstStyle/>
          <a:p>
            <a:pPr defTabSz="685800">
              <a:buClr>
                <a:srgbClr val="C5D6E6"/>
              </a:buClr>
              <a:buSzPts val="800"/>
            </a:pPr>
            <a:r>
              <a:rPr lang="en-US" sz="600" i="1" kern="0">
                <a:solidFill>
                  <a:srgbClr val="C5D6E6"/>
                </a:solidFill>
                <a:latin typeface="Calibri"/>
                <a:ea typeface="Calibri"/>
                <a:cs typeface="Calibri"/>
                <a:sym typeface="Calibri"/>
              </a:rPr>
              <a:t>Download &amp; Analyse run as background workers, keeping the desk fast.</a:t>
            </a:r>
            <a:endParaRPr sz="600" kern="0">
              <a:solidFill>
                <a:srgbClr val="000000"/>
              </a:solidFill>
              <a:latin typeface="Calibri"/>
              <a:ea typeface="Calibri"/>
              <a:cs typeface="Calibri"/>
              <a:sym typeface="Calibri"/>
            </a:endParaRPr>
          </a:p>
        </p:txBody>
      </p:sp>
      <p:sp>
        <p:nvSpPr>
          <p:cNvPr id="64" name="Google Shape;64;p3"/>
          <p:cNvSpPr/>
          <p:nvPr/>
        </p:nvSpPr>
        <p:spPr>
          <a:xfrm>
            <a:off x="5212080" y="1028700"/>
            <a:ext cx="2057400" cy="2640330"/>
          </a:xfrm>
          <a:prstGeom prst="roundRect">
            <a:avLst>
              <a:gd name="adj" fmla="val 3000"/>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65" name="Google Shape;65;p3"/>
          <p:cNvSpPr/>
          <p:nvPr/>
        </p:nvSpPr>
        <p:spPr>
          <a:xfrm>
            <a:off x="5335524" y="1165860"/>
            <a:ext cx="342900" cy="342900"/>
          </a:xfrm>
          <a:prstGeom prst="ellipse">
            <a:avLst/>
          </a:prstGeom>
          <a:solidFill>
            <a:srgbClr val="3C5C7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66" name="Google Shape;66;p3" descr="preencoded.png"/>
          <p:cNvPicPr preferRelativeResize="0"/>
          <p:nvPr/>
        </p:nvPicPr>
        <p:blipFill rotWithShape="1">
          <a:blip r:embed="rId11">
            <a:alphaModFix/>
          </a:blip>
          <a:srcRect/>
          <a:stretch/>
        </p:blipFill>
        <p:spPr>
          <a:xfrm>
            <a:off x="5424678" y="1255014"/>
            <a:ext cx="164592" cy="164592"/>
          </a:xfrm>
          <a:prstGeom prst="rect">
            <a:avLst/>
          </a:prstGeom>
          <a:noFill/>
          <a:ln>
            <a:noFill/>
          </a:ln>
        </p:spPr>
      </p:pic>
      <p:sp>
        <p:nvSpPr>
          <p:cNvPr id="67" name="Google Shape;67;p3"/>
          <p:cNvSpPr/>
          <p:nvPr/>
        </p:nvSpPr>
        <p:spPr>
          <a:xfrm>
            <a:off x="5747004" y="1213866"/>
            <a:ext cx="822960" cy="171450"/>
          </a:xfrm>
          <a:prstGeom prst="rect">
            <a:avLst/>
          </a:prstGeom>
          <a:noFill/>
          <a:ln>
            <a:noFill/>
          </a:ln>
        </p:spPr>
        <p:txBody>
          <a:bodyPr spcFirstLastPara="1" wrap="square" lIns="0" tIns="0" rIns="0" bIns="0" anchor="ctr" anchorCtr="0">
            <a:noAutofit/>
          </a:bodyPr>
          <a:lstStyle/>
          <a:p>
            <a:pPr defTabSz="685800">
              <a:buClr>
                <a:srgbClr val="0E9B8E"/>
              </a:buClr>
              <a:buSzPts val="900"/>
            </a:pPr>
            <a:r>
              <a:rPr lang="en-US" sz="675" b="1" kern="0">
                <a:solidFill>
                  <a:srgbClr val="0E9B8E"/>
                </a:solidFill>
                <a:latin typeface="Calibri"/>
                <a:ea typeface="Calibri"/>
                <a:cs typeface="Calibri"/>
                <a:sym typeface="Calibri"/>
              </a:rPr>
              <a:t>STEP 3</a:t>
            </a:r>
            <a:endParaRPr sz="675" kern="0">
              <a:solidFill>
                <a:srgbClr val="000000"/>
              </a:solidFill>
              <a:latin typeface="Calibri"/>
              <a:ea typeface="Calibri"/>
              <a:cs typeface="Calibri"/>
              <a:sym typeface="Calibri"/>
            </a:endParaRPr>
          </a:p>
        </p:txBody>
      </p:sp>
      <p:sp>
        <p:nvSpPr>
          <p:cNvPr id="68" name="Google Shape;68;p3"/>
          <p:cNvSpPr/>
          <p:nvPr/>
        </p:nvSpPr>
        <p:spPr>
          <a:xfrm>
            <a:off x="5335524" y="1591056"/>
            <a:ext cx="1810512" cy="240030"/>
          </a:xfrm>
          <a:prstGeom prst="rect">
            <a:avLst/>
          </a:prstGeom>
          <a:noFill/>
          <a:ln>
            <a:noFill/>
          </a:ln>
        </p:spPr>
        <p:txBody>
          <a:bodyPr spcFirstLastPara="1" wrap="square" lIns="0" tIns="0" rIns="0" bIns="0" anchor="ctr" anchorCtr="0">
            <a:noAutofit/>
          </a:bodyPr>
          <a:lstStyle/>
          <a:p>
            <a:pPr defTabSz="685800">
              <a:buClr>
                <a:srgbClr val="13243B"/>
              </a:buClr>
              <a:buSzPts val="1350"/>
            </a:pPr>
            <a:r>
              <a:rPr lang="en-US" sz="1013" b="1" kern="0">
                <a:solidFill>
                  <a:srgbClr val="13243B"/>
                </a:solidFill>
                <a:latin typeface="Georgia"/>
                <a:ea typeface="Georgia"/>
                <a:cs typeface="Georgia"/>
                <a:sym typeface="Georgia"/>
              </a:rPr>
              <a:t>Filed &amp; indexed</a:t>
            </a:r>
            <a:endParaRPr sz="1013" kern="0">
              <a:solidFill>
                <a:srgbClr val="000000"/>
              </a:solidFill>
              <a:latin typeface="Calibri"/>
              <a:ea typeface="Calibri"/>
              <a:cs typeface="Calibri"/>
              <a:sym typeface="Calibri"/>
            </a:endParaRPr>
          </a:p>
        </p:txBody>
      </p:sp>
      <p:sp>
        <p:nvSpPr>
          <p:cNvPr id="69" name="Google Shape;69;p3"/>
          <p:cNvSpPr/>
          <p:nvPr/>
        </p:nvSpPr>
        <p:spPr>
          <a:xfrm>
            <a:off x="5335524" y="1988820"/>
            <a:ext cx="1810512" cy="754380"/>
          </a:xfrm>
          <a:prstGeom prst="roundRect">
            <a:avLst>
              <a:gd name="adj" fmla="val 4545"/>
            </a:avLst>
          </a:prstGeom>
          <a:solidFill>
            <a:srgbClr val="F3F6F9"/>
          </a:solidFill>
          <a:ln w="12700" cap="flat" cmpd="sng">
            <a:solidFill>
              <a:srgbClr val="DCE3EB"/>
            </a:solidFill>
            <a:prstDash val="solid"/>
            <a:round/>
            <a:headEnd type="none" w="sm" len="sm"/>
            <a:tailEnd type="none" w="sm" len="sm"/>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70" name="Google Shape;70;p3"/>
          <p:cNvSpPr/>
          <p:nvPr/>
        </p:nvSpPr>
        <p:spPr>
          <a:xfrm>
            <a:off x="5417820" y="2043684"/>
            <a:ext cx="1645920" cy="17145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b="1" kern="0">
                <a:solidFill>
                  <a:srgbClr val="13243B"/>
                </a:solidFill>
                <a:latin typeface="Calibri"/>
                <a:ea typeface="Calibri"/>
                <a:cs typeface="Calibri"/>
                <a:sym typeface="Calibri"/>
              </a:rPr>
              <a:t>Companies library</a:t>
            </a:r>
            <a:endParaRPr sz="788" kern="0">
              <a:solidFill>
                <a:srgbClr val="000000"/>
              </a:solidFill>
              <a:latin typeface="Calibri"/>
              <a:ea typeface="Calibri"/>
              <a:cs typeface="Calibri"/>
              <a:sym typeface="Calibri"/>
            </a:endParaRPr>
          </a:p>
        </p:txBody>
      </p:sp>
      <p:sp>
        <p:nvSpPr>
          <p:cNvPr id="71" name="Google Shape;71;p3"/>
          <p:cNvSpPr/>
          <p:nvPr/>
        </p:nvSpPr>
        <p:spPr>
          <a:xfrm>
            <a:off x="5417820" y="2208276"/>
            <a:ext cx="1659636" cy="514350"/>
          </a:xfrm>
          <a:prstGeom prst="rect">
            <a:avLst/>
          </a:prstGeom>
          <a:noFill/>
          <a:ln>
            <a:noFill/>
          </a:ln>
        </p:spPr>
        <p:txBody>
          <a:bodyPr spcFirstLastPara="1" wrap="square" lIns="0" tIns="0" rIns="0" bIns="0" anchor="ctr" anchorCtr="0">
            <a:noAutofit/>
          </a:bodyPr>
          <a:lstStyle/>
          <a:p>
            <a:pPr defTabSz="685800">
              <a:buClr>
                <a:srgbClr val="5E7183"/>
              </a:buClr>
              <a:buSzPts val="830"/>
            </a:pPr>
            <a:r>
              <a:rPr lang="en-US" sz="623" kern="0">
                <a:solidFill>
                  <a:srgbClr val="5E7183"/>
                </a:solidFill>
                <a:latin typeface="Calibri"/>
                <a:ea typeface="Calibri"/>
                <a:cs typeface="Calibri"/>
                <a:sym typeface="Calibri"/>
              </a:rPr>
              <a:t>One folder per company (10 today). Each sorted into annual &amp; interim reports, trading statements, SENS, presentations, press releases and analyst notes.</a:t>
            </a:r>
            <a:endParaRPr sz="623" kern="0">
              <a:solidFill>
                <a:srgbClr val="000000"/>
              </a:solidFill>
              <a:latin typeface="Calibri"/>
              <a:ea typeface="Calibri"/>
              <a:cs typeface="Calibri"/>
              <a:sym typeface="Calibri"/>
            </a:endParaRPr>
          </a:p>
        </p:txBody>
      </p:sp>
      <p:sp>
        <p:nvSpPr>
          <p:cNvPr id="72" name="Google Shape;72;p3"/>
          <p:cNvSpPr/>
          <p:nvPr/>
        </p:nvSpPr>
        <p:spPr>
          <a:xfrm>
            <a:off x="5335524" y="2811780"/>
            <a:ext cx="1810512" cy="754380"/>
          </a:xfrm>
          <a:prstGeom prst="roundRect">
            <a:avLst>
              <a:gd name="adj" fmla="val 4545"/>
            </a:avLst>
          </a:prstGeom>
          <a:solidFill>
            <a:srgbClr val="F3F6F9"/>
          </a:solidFill>
          <a:ln w="12700" cap="flat" cmpd="sng">
            <a:solidFill>
              <a:srgbClr val="DCE3EB"/>
            </a:solidFill>
            <a:prstDash val="solid"/>
            <a:round/>
            <a:headEnd type="none" w="sm" len="sm"/>
            <a:tailEnd type="none" w="sm" len="sm"/>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73" name="Google Shape;73;p3"/>
          <p:cNvSpPr/>
          <p:nvPr/>
        </p:nvSpPr>
        <p:spPr>
          <a:xfrm>
            <a:off x="5417820" y="2866644"/>
            <a:ext cx="1645920" cy="17145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b="1" kern="0">
                <a:solidFill>
                  <a:srgbClr val="13243B"/>
                </a:solidFill>
                <a:latin typeface="Calibri"/>
                <a:ea typeface="Calibri"/>
                <a:cs typeface="Calibri"/>
                <a:sym typeface="Calibri"/>
              </a:rPr>
              <a:t>Master index (manifest)</a:t>
            </a:r>
            <a:endParaRPr sz="788" kern="0">
              <a:solidFill>
                <a:srgbClr val="000000"/>
              </a:solidFill>
              <a:latin typeface="Calibri"/>
              <a:ea typeface="Calibri"/>
              <a:cs typeface="Calibri"/>
              <a:sym typeface="Calibri"/>
            </a:endParaRPr>
          </a:p>
        </p:txBody>
      </p:sp>
      <p:sp>
        <p:nvSpPr>
          <p:cNvPr id="74" name="Google Shape;74;p3"/>
          <p:cNvSpPr/>
          <p:nvPr/>
        </p:nvSpPr>
        <p:spPr>
          <a:xfrm>
            <a:off x="5417820" y="3031236"/>
            <a:ext cx="1659636" cy="514350"/>
          </a:xfrm>
          <a:prstGeom prst="rect">
            <a:avLst/>
          </a:prstGeom>
          <a:noFill/>
          <a:ln>
            <a:noFill/>
          </a:ln>
        </p:spPr>
        <p:txBody>
          <a:bodyPr spcFirstLastPara="1" wrap="square" lIns="0" tIns="0" rIns="0" bIns="0" anchor="ctr" anchorCtr="0">
            <a:noAutofit/>
          </a:bodyPr>
          <a:lstStyle/>
          <a:p>
            <a:pPr defTabSz="685800">
              <a:buClr>
                <a:srgbClr val="5E7183"/>
              </a:buClr>
              <a:buSzPts val="830"/>
            </a:pPr>
            <a:r>
              <a:rPr lang="en-US" sz="623" kern="0">
                <a:solidFill>
                  <a:srgbClr val="5E7183"/>
                </a:solidFill>
                <a:latin typeface="Calibri"/>
                <a:ea typeface="Calibri"/>
                <a:cs typeface="Calibri"/>
                <a:sym typeface="Calibri"/>
              </a:rPr>
              <a:t>A single catalogue of what we hold, what’s missing and what’s due to refresh — built automatically, never edited by hand.</a:t>
            </a:r>
            <a:endParaRPr sz="623" kern="0">
              <a:solidFill>
                <a:srgbClr val="000000"/>
              </a:solidFill>
              <a:latin typeface="Calibri"/>
              <a:ea typeface="Calibri"/>
              <a:cs typeface="Calibri"/>
              <a:sym typeface="Calibri"/>
            </a:endParaRPr>
          </a:p>
        </p:txBody>
      </p:sp>
      <p:sp>
        <p:nvSpPr>
          <p:cNvPr id="75" name="Google Shape;75;p3"/>
          <p:cNvSpPr/>
          <p:nvPr/>
        </p:nvSpPr>
        <p:spPr>
          <a:xfrm>
            <a:off x="7440930" y="1028700"/>
            <a:ext cx="1357884" cy="2640330"/>
          </a:xfrm>
          <a:prstGeom prst="roundRect">
            <a:avLst>
              <a:gd name="adj" fmla="val 4545"/>
            </a:avLst>
          </a:prstGeom>
          <a:solidFill>
            <a:srgbClr val="FFFFFF"/>
          </a:solidFill>
          <a:ln w="12700" cap="flat" cmpd="sng">
            <a:solidFill>
              <a:srgbClr val="DCE3EB"/>
            </a:solidFill>
            <a:prstDash val="solid"/>
            <a:round/>
            <a:headEnd type="none" w="sm" len="sm"/>
            <a:tailEnd type="none" w="sm" len="sm"/>
          </a:ln>
          <a:effectLst>
            <a:outerShdw blurRad="114300" dist="38100" dir="5400000" algn="bl" rotWithShape="0">
              <a:srgbClr val="1B2A3A">
                <a:alpha val="14117"/>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76" name="Google Shape;76;p3"/>
          <p:cNvSpPr/>
          <p:nvPr/>
        </p:nvSpPr>
        <p:spPr>
          <a:xfrm>
            <a:off x="7564374" y="1165860"/>
            <a:ext cx="342900" cy="342900"/>
          </a:xfrm>
          <a:prstGeom prst="ellipse">
            <a:avLst/>
          </a:prstGeom>
          <a:solidFill>
            <a:srgbClr val="BF8F3A"/>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77" name="Google Shape;77;p3" descr="preencoded.png"/>
          <p:cNvPicPr preferRelativeResize="0"/>
          <p:nvPr/>
        </p:nvPicPr>
        <p:blipFill rotWithShape="1">
          <a:blip r:embed="rId12">
            <a:alphaModFix/>
          </a:blip>
          <a:srcRect/>
          <a:stretch/>
        </p:blipFill>
        <p:spPr>
          <a:xfrm>
            <a:off x="7653528" y="1255014"/>
            <a:ext cx="164592" cy="164592"/>
          </a:xfrm>
          <a:prstGeom prst="rect">
            <a:avLst/>
          </a:prstGeom>
          <a:noFill/>
          <a:ln>
            <a:noFill/>
          </a:ln>
        </p:spPr>
      </p:pic>
      <p:sp>
        <p:nvSpPr>
          <p:cNvPr id="78" name="Google Shape;78;p3"/>
          <p:cNvSpPr/>
          <p:nvPr/>
        </p:nvSpPr>
        <p:spPr>
          <a:xfrm>
            <a:off x="7975854" y="1213866"/>
            <a:ext cx="754380" cy="171450"/>
          </a:xfrm>
          <a:prstGeom prst="rect">
            <a:avLst/>
          </a:prstGeom>
          <a:noFill/>
          <a:ln>
            <a:noFill/>
          </a:ln>
        </p:spPr>
        <p:txBody>
          <a:bodyPr spcFirstLastPara="1" wrap="square" lIns="0" tIns="0" rIns="0" bIns="0" anchor="ctr" anchorCtr="0">
            <a:noAutofit/>
          </a:bodyPr>
          <a:lstStyle/>
          <a:p>
            <a:pPr defTabSz="685800">
              <a:buClr>
                <a:srgbClr val="0E9B8E"/>
              </a:buClr>
              <a:buSzPts val="900"/>
            </a:pPr>
            <a:r>
              <a:rPr lang="en-US" sz="675" b="1" kern="0">
                <a:solidFill>
                  <a:srgbClr val="0E9B8E"/>
                </a:solidFill>
                <a:latin typeface="Calibri"/>
                <a:ea typeface="Calibri"/>
                <a:cs typeface="Calibri"/>
                <a:sym typeface="Calibri"/>
              </a:rPr>
              <a:t>STEP 4</a:t>
            </a:r>
            <a:endParaRPr sz="675" kern="0">
              <a:solidFill>
                <a:srgbClr val="000000"/>
              </a:solidFill>
              <a:latin typeface="Calibri"/>
              <a:ea typeface="Calibri"/>
              <a:cs typeface="Calibri"/>
              <a:sym typeface="Calibri"/>
            </a:endParaRPr>
          </a:p>
        </p:txBody>
      </p:sp>
      <p:sp>
        <p:nvSpPr>
          <p:cNvPr id="79" name="Google Shape;79;p3"/>
          <p:cNvSpPr/>
          <p:nvPr/>
        </p:nvSpPr>
        <p:spPr>
          <a:xfrm>
            <a:off x="7564374" y="1591056"/>
            <a:ext cx="1152144" cy="240030"/>
          </a:xfrm>
          <a:prstGeom prst="rect">
            <a:avLst/>
          </a:prstGeom>
          <a:noFill/>
          <a:ln>
            <a:noFill/>
          </a:ln>
        </p:spPr>
        <p:txBody>
          <a:bodyPr spcFirstLastPara="1" wrap="square" lIns="0" tIns="0" rIns="0" bIns="0" anchor="ctr" anchorCtr="0">
            <a:noAutofit/>
          </a:bodyPr>
          <a:lstStyle/>
          <a:p>
            <a:pPr defTabSz="685800">
              <a:buClr>
                <a:srgbClr val="13243B"/>
              </a:buClr>
              <a:buSzPts val="1250"/>
            </a:pPr>
            <a:r>
              <a:rPr lang="en-US" sz="938" b="1" kern="0">
                <a:solidFill>
                  <a:srgbClr val="13243B"/>
                </a:solidFill>
                <a:latin typeface="Georgia"/>
                <a:ea typeface="Georgia"/>
                <a:cs typeface="Georgia"/>
                <a:sym typeface="Georgia"/>
              </a:rPr>
              <a:t>You get analysis</a:t>
            </a:r>
            <a:endParaRPr sz="938" kern="0">
              <a:solidFill>
                <a:srgbClr val="000000"/>
              </a:solidFill>
              <a:latin typeface="Calibri"/>
              <a:ea typeface="Calibri"/>
              <a:cs typeface="Calibri"/>
              <a:sym typeface="Calibri"/>
            </a:endParaRPr>
          </a:p>
        </p:txBody>
      </p:sp>
      <p:pic>
        <p:nvPicPr>
          <p:cNvPr id="80" name="Google Shape;80;p3" descr="preencoded.png"/>
          <p:cNvPicPr preferRelativeResize="0"/>
          <p:nvPr/>
        </p:nvPicPr>
        <p:blipFill rotWithShape="1">
          <a:blip r:embed="rId13">
            <a:alphaModFix/>
          </a:blip>
          <a:srcRect/>
          <a:stretch/>
        </p:blipFill>
        <p:spPr>
          <a:xfrm>
            <a:off x="7578090" y="2057400"/>
            <a:ext cx="205740" cy="205740"/>
          </a:xfrm>
          <a:prstGeom prst="rect">
            <a:avLst/>
          </a:prstGeom>
          <a:noFill/>
          <a:ln>
            <a:noFill/>
          </a:ln>
        </p:spPr>
      </p:pic>
      <p:sp>
        <p:nvSpPr>
          <p:cNvPr id="81" name="Google Shape;81;p3"/>
          <p:cNvSpPr/>
          <p:nvPr/>
        </p:nvSpPr>
        <p:spPr>
          <a:xfrm>
            <a:off x="7852410" y="2036826"/>
            <a:ext cx="877824" cy="24003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kern="0">
                <a:solidFill>
                  <a:srgbClr val="13243B"/>
                </a:solidFill>
                <a:latin typeface="Calibri"/>
                <a:ea typeface="Calibri"/>
                <a:cs typeface="Calibri"/>
                <a:sym typeface="Calibri"/>
              </a:rPr>
              <a:t>Word memos</a:t>
            </a:r>
            <a:endParaRPr sz="788" kern="0">
              <a:solidFill>
                <a:srgbClr val="000000"/>
              </a:solidFill>
              <a:latin typeface="Calibri"/>
              <a:ea typeface="Calibri"/>
              <a:cs typeface="Calibri"/>
              <a:sym typeface="Calibri"/>
            </a:endParaRPr>
          </a:p>
        </p:txBody>
      </p:sp>
      <p:pic>
        <p:nvPicPr>
          <p:cNvPr id="82" name="Google Shape;82;p3" descr="preencoded.png"/>
          <p:cNvPicPr preferRelativeResize="0"/>
          <p:nvPr/>
        </p:nvPicPr>
        <p:blipFill rotWithShape="1">
          <a:blip r:embed="rId14">
            <a:alphaModFix/>
          </a:blip>
          <a:srcRect/>
          <a:stretch/>
        </p:blipFill>
        <p:spPr>
          <a:xfrm>
            <a:off x="7578090" y="2414016"/>
            <a:ext cx="205740" cy="205740"/>
          </a:xfrm>
          <a:prstGeom prst="rect">
            <a:avLst/>
          </a:prstGeom>
          <a:noFill/>
          <a:ln>
            <a:noFill/>
          </a:ln>
        </p:spPr>
      </p:pic>
      <p:sp>
        <p:nvSpPr>
          <p:cNvPr id="83" name="Google Shape;83;p3"/>
          <p:cNvSpPr/>
          <p:nvPr/>
        </p:nvSpPr>
        <p:spPr>
          <a:xfrm>
            <a:off x="7852410" y="2393442"/>
            <a:ext cx="877824" cy="24003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kern="0">
                <a:solidFill>
                  <a:srgbClr val="13243B"/>
                </a:solidFill>
                <a:latin typeface="Calibri"/>
                <a:ea typeface="Calibri"/>
                <a:cs typeface="Calibri"/>
                <a:sym typeface="Calibri"/>
              </a:rPr>
              <a:t>Excel models</a:t>
            </a:r>
            <a:endParaRPr sz="788" kern="0">
              <a:solidFill>
                <a:srgbClr val="000000"/>
              </a:solidFill>
              <a:latin typeface="Calibri"/>
              <a:ea typeface="Calibri"/>
              <a:cs typeface="Calibri"/>
              <a:sym typeface="Calibri"/>
            </a:endParaRPr>
          </a:p>
        </p:txBody>
      </p:sp>
      <p:pic>
        <p:nvPicPr>
          <p:cNvPr id="84" name="Google Shape;84;p3" descr="preencoded.png"/>
          <p:cNvPicPr preferRelativeResize="0"/>
          <p:nvPr/>
        </p:nvPicPr>
        <p:blipFill rotWithShape="1">
          <a:blip r:embed="rId15">
            <a:alphaModFix/>
          </a:blip>
          <a:srcRect/>
          <a:stretch/>
        </p:blipFill>
        <p:spPr>
          <a:xfrm>
            <a:off x="7578090" y="2770632"/>
            <a:ext cx="205740" cy="205740"/>
          </a:xfrm>
          <a:prstGeom prst="rect">
            <a:avLst/>
          </a:prstGeom>
          <a:noFill/>
          <a:ln>
            <a:noFill/>
          </a:ln>
        </p:spPr>
      </p:pic>
      <p:sp>
        <p:nvSpPr>
          <p:cNvPr id="85" name="Google Shape;85;p3"/>
          <p:cNvSpPr/>
          <p:nvPr/>
        </p:nvSpPr>
        <p:spPr>
          <a:xfrm>
            <a:off x="7852410" y="2750058"/>
            <a:ext cx="877824" cy="240030"/>
          </a:xfrm>
          <a:prstGeom prst="rect">
            <a:avLst/>
          </a:prstGeom>
          <a:noFill/>
          <a:ln>
            <a:noFill/>
          </a:ln>
        </p:spPr>
        <p:txBody>
          <a:bodyPr spcFirstLastPara="1" wrap="square" lIns="0" tIns="0" rIns="0" bIns="0" anchor="ctr" anchorCtr="0">
            <a:noAutofit/>
          </a:bodyPr>
          <a:lstStyle/>
          <a:p>
            <a:pPr defTabSz="685800">
              <a:buClr>
                <a:srgbClr val="13243B"/>
              </a:buClr>
              <a:buSzPts val="1050"/>
            </a:pPr>
            <a:r>
              <a:rPr lang="en-US" sz="788" kern="0">
                <a:solidFill>
                  <a:srgbClr val="13243B"/>
                </a:solidFill>
                <a:latin typeface="Calibri"/>
                <a:ea typeface="Calibri"/>
                <a:cs typeface="Calibri"/>
                <a:sym typeface="Calibri"/>
              </a:rPr>
              <a:t>Slides</a:t>
            </a:r>
            <a:endParaRPr sz="788" kern="0">
              <a:solidFill>
                <a:srgbClr val="000000"/>
              </a:solidFill>
              <a:latin typeface="Calibri"/>
              <a:ea typeface="Calibri"/>
              <a:cs typeface="Calibri"/>
              <a:sym typeface="Calibri"/>
            </a:endParaRPr>
          </a:p>
        </p:txBody>
      </p:sp>
      <p:sp>
        <p:nvSpPr>
          <p:cNvPr id="86" name="Google Shape;86;p3"/>
          <p:cNvSpPr/>
          <p:nvPr/>
        </p:nvSpPr>
        <p:spPr>
          <a:xfrm>
            <a:off x="7564374" y="3223260"/>
            <a:ext cx="1152144" cy="411480"/>
          </a:xfrm>
          <a:prstGeom prst="rect">
            <a:avLst/>
          </a:prstGeom>
          <a:noFill/>
          <a:ln>
            <a:noFill/>
          </a:ln>
        </p:spPr>
        <p:txBody>
          <a:bodyPr spcFirstLastPara="1" wrap="square" lIns="0" tIns="0" rIns="0" bIns="0" anchor="ctr" anchorCtr="0">
            <a:noAutofit/>
          </a:bodyPr>
          <a:lstStyle/>
          <a:p>
            <a:pPr defTabSz="685800">
              <a:buClr>
                <a:srgbClr val="5E7183"/>
              </a:buClr>
              <a:buSzPts val="900"/>
            </a:pPr>
            <a:r>
              <a:rPr lang="en-US" sz="675" i="1" kern="0">
                <a:solidFill>
                  <a:srgbClr val="5E7183"/>
                </a:solidFill>
                <a:latin typeface="Calibri"/>
                <a:ea typeface="Calibri"/>
                <a:cs typeface="Calibri"/>
                <a:sym typeface="Calibri"/>
              </a:rPr>
              <a:t>Sourced, comparable, decision-ready.</a:t>
            </a:r>
            <a:endParaRPr sz="675" kern="0">
              <a:solidFill>
                <a:srgbClr val="000000"/>
              </a:solidFill>
              <a:latin typeface="Calibri"/>
              <a:ea typeface="Calibri"/>
              <a:cs typeface="Calibri"/>
              <a:sym typeface="Calibri"/>
            </a:endParaRPr>
          </a:p>
        </p:txBody>
      </p:sp>
      <p:sp>
        <p:nvSpPr>
          <p:cNvPr id="87" name="Google Shape;87;p3"/>
          <p:cNvSpPr/>
          <p:nvPr/>
        </p:nvSpPr>
        <p:spPr>
          <a:xfrm>
            <a:off x="342900" y="3854196"/>
            <a:ext cx="5520690" cy="795528"/>
          </a:xfrm>
          <a:prstGeom prst="roundRect">
            <a:avLst>
              <a:gd name="adj" fmla="val 6034"/>
            </a:avLst>
          </a:prstGeom>
          <a:solidFill>
            <a:srgbClr val="F3F6F9"/>
          </a:solidFill>
          <a:ln w="12700" cap="flat" cmpd="sng">
            <a:solidFill>
              <a:srgbClr val="DCE3EB"/>
            </a:solidFill>
            <a:prstDash val="solid"/>
            <a:round/>
            <a:headEnd type="none" w="sm" len="sm"/>
            <a:tailEnd type="none" w="sm" len="sm"/>
          </a:ln>
          <a:effectLst>
            <a:outerShdw blurRad="76200" dist="25400" dir="5400000" algn="bl" rotWithShape="0">
              <a:srgbClr val="1B2A3A">
                <a:alpha val="10196"/>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88" name="Google Shape;88;p3"/>
          <p:cNvSpPr/>
          <p:nvPr/>
        </p:nvSpPr>
        <p:spPr>
          <a:xfrm>
            <a:off x="493776" y="4080510"/>
            <a:ext cx="342900" cy="342900"/>
          </a:xfrm>
          <a:prstGeom prst="ellipse">
            <a:avLst/>
          </a:prstGeom>
          <a:solidFill>
            <a:srgbClr val="3C5C7E"/>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89" name="Google Shape;89;p3" descr="preencoded.png"/>
          <p:cNvPicPr preferRelativeResize="0"/>
          <p:nvPr/>
        </p:nvPicPr>
        <p:blipFill rotWithShape="1">
          <a:blip r:embed="rId16">
            <a:alphaModFix/>
          </a:blip>
          <a:srcRect/>
          <a:stretch/>
        </p:blipFill>
        <p:spPr>
          <a:xfrm>
            <a:off x="582930" y="4169664"/>
            <a:ext cx="164592" cy="164592"/>
          </a:xfrm>
          <a:prstGeom prst="rect">
            <a:avLst/>
          </a:prstGeom>
          <a:noFill/>
          <a:ln>
            <a:noFill/>
          </a:ln>
        </p:spPr>
      </p:pic>
      <p:sp>
        <p:nvSpPr>
          <p:cNvPr id="90" name="Google Shape;90;p3"/>
          <p:cNvSpPr/>
          <p:nvPr/>
        </p:nvSpPr>
        <p:spPr>
          <a:xfrm>
            <a:off x="946404" y="3963924"/>
            <a:ext cx="4732020" cy="205740"/>
          </a:xfrm>
          <a:prstGeom prst="rect">
            <a:avLst/>
          </a:prstGeom>
          <a:noFill/>
          <a:ln>
            <a:noFill/>
          </a:ln>
        </p:spPr>
        <p:txBody>
          <a:bodyPr spcFirstLastPara="1" wrap="square" lIns="0" tIns="0" rIns="0" bIns="0" anchor="ctr" anchorCtr="0">
            <a:noAutofit/>
          </a:bodyPr>
          <a:lstStyle/>
          <a:p>
            <a:pPr defTabSz="685800">
              <a:buClr>
                <a:srgbClr val="13243B"/>
              </a:buClr>
              <a:buSzPts val="1200"/>
            </a:pPr>
            <a:r>
              <a:rPr lang="en-US" sz="900" b="1" kern="0">
                <a:solidFill>
                  <a:srgbClr val="13243B"/>
                </a:solidFill>
                <a:latin typeface="Georgia"/>
                <a:ea typeface="Georgia"/>
                <a:cs typeface="Georgia"/>
                <a:sym typeface="Georgia"/>
              </a:rPr>
              <a:t>Where the documents come from</a:t>
            </a:r>
            <a:endParaRPr sz="900" kern="0">
              <a:solidFill>
                <a:srgbClr val="000000"/>
              </a:solidFill>
              <a:latin typeface="Calibri"/>
              <a:ea typeface="Calibri"/>
              <a:cs typeface="Calibri"/>
              <a:sym typeface="Calibri"/>
            </a:endParaRPr>
          </a:p>
        </p:txBody>
      </p:sp>
      <p:sp>
        <p:nvSpPr>
          <p:cNvPr id="91" name="Google Shape;91;p3"/>
          <p:cNvSpPr/>
          <p:nvPr/>
        </p:nvSpPr>
        <p:spPr>
          <a:xfrm>
            <a:off x="946404" y="4197096"/>
            <a:ext cx="4766310" cy="411480"/>
          </a:xfrm>
          <a:prstGeom prst="rect">
            <a:avLst/>
          </a:prstGeom>
          <a:noFill/>
          <a:ln>
            <a:noFill/>
          </a:ln>
        </p:spPr>
        <p:txBody>
          <a:bodyPr spcFirstLastPara="1" wrap="square" lIns="0" tIns="0" rIns="0" bIns="0" anchor="ctr" anchorCtr="0">
            <a:noAutofit/>
          </a:bodyPr>
          <a:lstStyle/>
          <a:p>
            <a:pPr defTabSz="685800">
              <a:buClr>
                <a:srgbClr val="5E7183"/>
              </a:buClr>
              <a:buSzPts val="980"/>
            </a:pPr>
            <a:r>
              <a:rPr lang="en-US" sz="735" kern="0">
                <a:solidFill>
                  <a:srgbClr val="5E7183"/>
                </a:solidFill>
                <a:latin typeface="Calibri"/>
                <a:ea typeface="Calibri"/>
                <a:cs typeface="Calibri"/>
                <a:sym typeface="Calibri"/>
              </a:rPr>
              <a:t>Company investor websites and SENS announcements — fetched automatically. Optionally the fund’s email, SharePoint and Bloomberg, when connected.</a:t>
            </a:r>
            <a:endParaRPr sz="735" kern="0">
              <a:solidFill>
                <a:srgbClr val="000000"/>
              </a:solidFill>
              <a:latin typeface="Calibri"/>
              <a:ea typeface="Calibri"/>
              <a:cs typeface="Calibri"/>
              <a:sym typeface="Calibri"/>
            </a:endParaRPr>
          </a:p>
        </p:txBody>
      </p:sp>
      <p:sp>
        <p:nvSpPr>
          <p:cNvPr id="92" name="Google Shape;92;p3"/>
          <p:cNvSpPr/>
          <p:nvPr/>
        </p:nvSpPr>
        <p:spPr>
          <a:xfrm>
            <a:off x="6021324" y="3854196"/>
            <a:ext cx="2777490" cy="795528"/>
          </a:xfrm>
          <a:prstGeom prst="roundRect">
            <a:avLst>
              <a:gd name="adj" fmla="val 6034"/>
            </a:avLst>
          </a:prstGeom>
          <a:solidFill>
            <a:srgbClr val="F6ECD3"/>
          </a:solidFill>
          <a:ln w="15875" cap="flat" cmpd="sng">
            <a:solidFill>
              <a:srgbClr val="BF8F3A"/>
            </a:solidFill>
            <a:prstDash val="solid"/>
            <a:round/>
            <a:headEnd type="none" w="sm" len="sm"/>
            <a:tailEnd type="none" w="sm" len="sm"/>
          </a:ln>
          <a:effectLst>
            <a:outerShdw blurRad="76200" dist="25400" dir="5400000" algn="bl" rotWithShape="0">
              <a:srgbClr val="1B2A3A">
                <a:alpha val="10196"/>
              </a:srgbClr>
            </a:outerShdw>
          </a:effectLst>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sp>
        <p:nvSpPr>
          <p:cNvPr id="93" name="Google Shape;93;p3"/>
          <p:cNvSpPr/>
          <p:nvPr/>
        </p:nvSpPr>
        <p:spPr>
          <a:xfrm>
            <a:off x="6172200" y="4080510"/>
            <a:ext cx="342900" cy="342900"/>
          </a:xfrm>
          <a:prstGeom prst="ellipse">
            <a:avLst/>
          </a:prstGeom>
          <a:solidFill>
            <a:srgbClr val="BF8F3A"/>
          </a:solidFill>
          <a:ln>
            <a:noFill/>
          </a:ln>
        </p:spPr>
        <p:txBody>
          <a:bodyPr spcFirstLastPara="1" wrap="square" lIns="68569" tIns="68569" rIns="68569" bIns="68569" anchor="ctr" anchorCtr="0">
            <a:noAutofit/>
          </a:bodyPr>
          <a:lstStyle/>
          <a:p>
            <a:pPr defTabSz="685800">
              <a:buClr>
                <a:srgbClr val="000000"/>
              </a:buClr>
            </a:pPr>
            <a:endParaRPr sz="1050" kern="0">
              <a:solidFill>
                <a:srgbClr val="000000"/>
              </a:solidFill>
              <a:latin typeface="Arial"/>
              <a:cs typeface="Arial"/>
              <a:sym typeface="Arial"/>
            </a:endParaRPr>
          </a:p>
        </p:txBody>
      </p:sp>
      <p:pic>
        <p:nvPicPr>
          <p:cNvPr id="94" name="Google Shape;94;p3" descr="preencoded.png"/>
          <p:cNvPicPr preferRelativeResize="0"/>
          <p:nvPr/>
        </p:nvPicPr>
        <p:blipFill rotWithShape="1">
          <a:blip r:embed="rId17">
            <a:alphaModFix/>
          </a:blip>
          <a:srcRect/>
          <a:stretch/>
        </p:blipFill>
        <p:spPr>
          <a:xfrm>
            <a:off x="6261354" y="4169664"/>
            <a:ext cx="164592" cy="164592"/>
          </a:xfrm>
          <a:prstGeom prst="rect">
            <a:avLst/>
          </a:prstGeom>
          <a:noFill/>
          <a:ln>
            <a:noFill/>
          </a:ln>
        </p:spPr>
      </p:pic>
      <p:sp>
        <p:nvSpPr>
          <p:cNvPr id="95" name="Google Shape;95;p3"/>
          <p:cNvSpPr/>
          <p:nvPr/>
        </p:nvSpPr>
        <p:spPr>
          <a:xfrm>
            <a:off x="6624828" y="3963924"/>
            <a:ext cx="2057400" cy="205740"/>
          </a:xfrm>
          <a:prstGeom prst="rect">
            <a:avLst/>
          </a:prstGeom>
          <a:noFill/>
          <a:ln>
            <a:noFill/>
          </a:ln>
        </p:spPr>
        <p:txBody>
          <a:bodyPr spcFirstLastPara="1" wrap="square" lIns="0" tIns="0" rIns="0" bIns="0" anchor="ctr" anchorCtr="0">
            <a:noAutofit/>
          </a:bodyPr>
          <a:lstStyle/>
          <a:p>
            <a:pPr defTabSz="685800">
              <a:buClr>
                <a:srgbClr val="13243B"/>
              </a:buClr>
              <a:buSzPts val="1200"/>
            </a:pPr>
            <a:r>
              <a:rPr lang="en-US" sz="900" b="1" kern="0">
                <a:solidFill>
                  <a:srgbClr val="13243B"/>
                </a:solidFill>
                <a:latin typeface="Georgia"/>
                <a:ea typeface="Georgia"/>
                <a:cs typeface="Georgia"/>
                <a:sym typeface="Georgia"/>
              </a:rPr>
              <a:t>House rule</a:t>
            </a:r>
            <a:endParaRPr sz="900" kern="0">
              <a:solidFill>
                <a:srgbClr val="000000"/>
              </a:solidFill>
              <a:latin typeface="Calibri"/>
              <a:ea typeface="Calibri"/>
              <a:cs typeface="Calibri"/>
              <a:sym typeface="Calibri"/>
            </a:endParaRPr>
          </a:p>
        </p:txBody>
      </p:sp>
      <p:sp>
        <p:nvSpPr>
          <p:cNvPr id="96" name="Google Shape;96;p3"/>
          <p:cNvSpPr/>
          <p:nvPr/>
        </p:nvSpPr>
        <p:spPr>
          <a:xfrm>
            <a:off x="6624828" y="4197096"/>
            <a:ext cx="2057400" cy="411480"/>
          </a:xfrm>
          <a:prstGeom prst="rect">
            <a:avLst/>
          </a:prstGeom>
          <a:noFill/>
          <a:ln>
            <a:noFill/>
          </a:ln>
        </p:spPr>
        <p:txBody>
          <a:bodyPr spcFirstLastPara="1" wrap="square" lIns="0" tIns="0" rIns="0" bIns="0" anchor="ctr" anchorCtr="0">
            <a:noAutofit/>
          </a:bodyPr>
          <a:lstStyle/>
          <a:p>
            <a:pPr defTabSz="685800">
              <a:buClr>
                <a:srgbClr val="6B5320"/>
              </a:buClr>
              <a:buSzPts val="980"/>
            </a:pPr>
            <a:r>
              <a:rPr lang="en-US" sz="735" kern="0">
                <a:solidFill>
                  <a:srgbClr val="6B5320"/>
                </a:solidFill>
                <a:latin typeface="Calibri"/>
                <a:ea typeface="Calibri"/>
                <a:cs typeface="Calibri"/>
                <a:sym typeface="Calibri"/>
              </a:rPr>
              <a:t>Every number is traced to its source. Nothing is rounded or guessed.</a:t>
            </a:r>
            <a:endParaRPr sz="735" kern="0">
              <a:solidFill>
                <a:srgbClr val="000000"/>
              </a:solidFill>
              <a:latin typeface="Calibri"/>
              <a:ea typeface="Calibri"/>
              <a:cs typeface="Calibri"/>
              <a:sym typeface="Calibri"/>
            </a:endParaRPr>
          </a:p>
        </p:txBody>
      </p:sp>
      <p:sp>
        <p:nvSpPr>
          <p:cNvPr id="97" name="Google Shape;97;p3"/>
          <p:cNvSpPr/>
          <p:nvPr/>
        </p:nvSpPr>
        <p:spPr>
          <a:xfrm>
            <a:off x="342900" y="4828032"/>
            <a:ext cx="4800600" cy="205740"/>
          </a:xfrm>
          <a:prstGeom prst="rect">
            <a:avLst/>
          </a:prstGeom>
          <a:noFill/>
          <a:ln>
            <a:noFill/>
          </a:ln>
        </p:spPr>
        <p:txBody>
          <a:bodyPr spcFirstLastPara="1" wrap="square" lIns="68569" tIns="34275" rIns="68569" bIns="34275" anchor="ctr" anchorCtr="0">
            <a:noAutofit/>
          </a:bodyPr>
          <a:lstStyle/>
          <a:p>
            <a:pPr defTabSz="685800">
              <a:buClr>
                <a:srgbClr val="5E7183"/>
              </a:buClr>
              <a:buSzPts val="800"/>
            </a:pPr>
            <a:r>
              <a:rPr lang="en-US" sz="600" kern="0">
                <a:solidFill>
                  <a:srgbClr val="5E7183"/>
                </a:solidFill>
                <a:latin typeface="Calibri"/>
                <a:ea typeface="Calibri"/>
                <a:cs typeface="Calibri"/>
                <a:sym typeface="Calibri"/>
              </a:rPr>
              <a:t>JSE Equity Research · Cowork workspace</a:t>
            </a:r>
            <a:endParaRPr sz="600" kern="0">
              <a:solidFill>
                <a:srgbClr val="000000"/>
              </a:solidFill>
              <a:latin typeface="Calibri"/>
              <a:ea typeface="Calibri"/>
              <a:cs typeface="Calibri"/>
              <a:sym typeface="Calibri"/>
            </a:endParaRPr>
          </a:p>
        </p:txBody>
      </p:sp>
      <p:sp>
        <p:nvSpPr>
          <p:cNvPr id="98" name="Google Shape;98;p3"/>
          <p:cNvSpPr/>
          <p:nvPr/>
        </p:nvSpPr>
        <p:spPr>
          <a:xfrm>
            <a:off x="4114800" y="4828032"/>
            <a:ext cx="4684014" cy="205740"/>
          </a:xfrm>
          <a:prstGeom prst="rect">
            <a:avLst/>
          </a:prstGeom>
          <a:noFill/>
          <a:ln>
            <a:noFill/>
          </a:ln>
        </p:spPr>
        <p:txBody>
          <a:bodyPr spcFirstLastPara="1" wrap="square" lIns="68569" tIns="34275" rIns="68569" bIns="34275" anchor="ctr" anchorCtr="0">
            <a:noAutofit/>
          </a:bodyPr>
          <a:lstStyle/>
          <a:p>
            <a:pPr algn="r" defTabSz="685800">
              <a:buClr>
                <a:srgbClr val="5E7183"/>
              </a:buClr>
              <a:buSzPts val="800"/>
            </a:pPr>
            <a:r>
              <a:rPr lang="en-US" sz="600" kern="0">
                <a:solidFill>
                  <a:srgbClr val="5E7183"/>
                </a:solidFill>
                <a:latin typeface="Calibri"/>
                <a:ea typeface="Calibri"/>
                <a:cs typeface="Calibri"/>
                <a:sym typeface="Calibri"/>
              </a:rPr>
              <a:t>For information only — not investment advice.</a:t>
            </a:r>
            <a:endParaRPr sz="600" kern="0">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CASE STUDY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Five skills, one pipeline</a:t>
            </a:r>
            <a:endParaRPr lang="en-US" sz="2600" dirty="0"/>
          </a:p>
        </p:txBody>
      </p:sp>
      <p:sp>
        <p:nvSpPr>
          <p:cNvPr id="4" name="Shape 2"/>
          <p:cNvSpPr/>
          <p:nvPr/>
        </p:nvSpPr>
        <p:spPr>
          <a:xfrm>
            <a:off x="502920" y="1371600"/>
            <a:ext cx="1499616" cy="1691640"/>
          </a:xfrm>
          <a:prstGeom prst="roundRect">
            <a:avLst>
              <a:gd name="adj" fmla="val 3659"/>
            </a:avLst>
          </a:prstGeom>
          <a:solidFill>
            <a:srgbClr val="EEF3FC"/>
          </a:solidFill>
          <a:ln/>
        </p:spPr>
        <p:txBody>
          <a:bodyPr/>
          <a:lstStyle/>
          <a:p>
            <a:endParaRPr lang="en-GB"/>
          </a:p>
        </p:txBody>
      </p:sp>
      <p:sp>
        <p:nvSpPr>
          <p:cNvPr id="5" name="Text 3"/>
          <p:cNvSpPr/>
          <p:nvPr/>
        </p:nvSpPr>
        <p:spPr>
          <a:xfrm>
            <a:off x="612648"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Discovery</a:t>
            </a:r>
            <a:endParaRPr lang="en-US" sz="1200" dirty="0"/>
          </a:p>
        </p:txBody>
      </p:sp>
      <p:sp>
        <p:nvSpPr>
          <p:cNvPr id="6" name="Text 4"/>
          <p:cNvSpPr/>
          <p:nvPr/>
        </p:nvSpPr>
        <p:spPr>
          <a:xfrm>
            <a:off x="612648"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Finds the company's IR site and maps where documents live</a:t>
            </a:r>
            <a:endParaRPr lang="en-US" sz="950" dirty="0"/>
          </a:p>
        </p:txBody>
      </p:sp>
      <p:sp>
        <p:nvSpPr>
          <p:cNvPr id="7" name="Text 5"/>
          <p:cNvSpPr/>
          <p:nvPr/>
        </p:nvSpPr>
        <p:spPr>
          <a:xfrm>
            <a:off x="1993392" y="2029968"/>
            <a:ext cx="228600" cy="365760"/>
          </a:xfrm>
          <a:prstGeom prst="rect">
            <a:avLst/>
          </a:prstGeom>
          <a:noFill/>
          <a:ln/>
        </p:spPr>
        <p:txBody>
          <a:bodyPr wrap="square" lIns="0" tIns="0" rIns="0" bIns="0" rtlCol="0" anchor="ctr"/>
          <a:lstStyle/>
          <a:p>
            <a:pPr marL="0" indent="0" algn="ctr">
              <a:buNone/>
            </a:pPr>
            <a:r>
              <a:rPr lang="en-US" sz="1500" b="1" dirty="0">
                <a:solidFill>
                  <a:srgbClr val="C9A227"/>
                </a:solidFill>
                <a:latin typeface="Calibri" pitchFamily="34" charset="0"/>
                <a:ea typeface="Calibri" pitchFamily="34" charset="-122"/>
                <a:cs typeface="Calibri" pitchFamily="34" charset="-120"/>
              </a:rPr>
              <a:t>→</a:t>
            </a:r>
            <a:endParaRPr lang="en-US" sz="1500" dirty="0"/>
          </a:p>
        </p:txBody>
      </p:sp>
      <p:sp>
        <p:nvSpPr>
          <p:cNvPr id="8" name="Shape 6"/>
          <p:cNvSpPr/>
          <p:nvPr/>
        </p:nvSpPr>
        <p:spPr>
          <a:xfrm>
            <a:off x="2212848" y="1371600"/>
            <a:ext cx="1499616" cy="1691640"/>
          </a:xfrm>
          <a:prstGeom prst="roundRect">
            <a:avLst>
              <a:gd name="adj" fmla="val 3659"/>
            </a:avLst>
          </a:prstGeom>
          <a:solidFill>
            <a:srgbClr val="EEF3FC"/>
          </a:solidFill>
          <a:ln/>
        </p:spPr>
        <p:txBody>
          <a:bodyPr/>
          <a:lstStyle/>
          <a:p>
            <a:endParaRPr lang="en-GB"/>
          </a:p>
        </p:txBody>
      </p:sp>
      <p:sp>
        <p:nvSpPr>
          <p:cNvPr id="9" name="Text 7"/>
          <p:cNvSpPr/>
          <p:nvPr/>
        </p:nvSpPr>
        <p:spPr>
          <a:xfrm>
            <a:off x="2322576"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Downloader</a:t>
            </a:r>
            <a:endParaRPr lang="en-US" sz="1200" dirty="0"/>
          </a:p>
        </p:txBody>
      </p:sp>
      <p:sp>
        <p:nvSpPr>
          <p:cNvPr id="10" name="Text 8"/>
          <p:cNvSpPr/>
          <p:nvPr/>
        </p:nvSpPr>
        <p:spPr>
          <a:xfrm>
            <a:off x="2322576"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Fetches reports, SENS, presentations — automatically</a:t>
            </a:r>
            <a:endParaRPr lang="en-US" sz="950" dirty="0"/>
          </a:p>
        </p:txBody>
      </p:sp>
      <p:sp>
        <p:nvSpPr>
          <p:cNvPr id="11" name="Text 9"/>
          <p:cNvSpPr/>
          <p:nvPr/>
        </p:nvSpPr>
        <p:spPr>
          <a:xfrm>
            <a:off x="3703320" y="2029968"/>
            <a:ext cx="228600" cy="365760"/>
          </a:xfrm>
          <a:prstGeom prst="rect">
            <a:avLst/>
          </a:prstGeom>
          <a:noFill/>
          <a:ln/>
        </p:spPr>
        <p:txBody>
          <a:bodyPr wrap="square" lIns="0" tIns="0" rIns="0" bIns="0" rtlCol="0" anchor="ctr"/>
          <a:lstStyle/>
          <a:p>
            <a:pPr marL="0" indent="0" algn="ctr">
              <a:buNone/>
            </a:pPr>
            <a:r>
              <a:rPr lang="en-US" sz="1500" b="1" dirty="0">
                <a:solidFill>
                  <a:srgbClr val="C9A227"/>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3922776" y="1371600"/>
            <a:ext cx="1499616" cy="1691640"/>
          </a:xfrm>
          <a:prstGeom prst="roundRect">
            <a:avLst>
              <a:gd name="adj" fmla="val 3659"/>
            </a:avLst>
          </a:prstGeom>
          <a:solidFill>
            <a:srgbClr val="EEF3FC"/>
          </a:solidFill>
          <a:ln/>
        </p:spPr>
        <p:txBody>
          <a:bodyPr/>
          <a:lstStyle/>
          <a:p>
            <a:endParaRPr lang="en-GB"/>
          </a:p>
        </p:txBody>
      </p:sp>
      <p:sp>
        <p:nvSpPr>
          <p:cNvPr id="13" name="Text 11"/>
          <p:cNvSpPr/>
          <p:nvPr/>
        </p:nvSpPr>
        <p:spPr>
          <a:xfrm>
            <a:off x="4032504"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Manifest</a:t>
            </a:r>
            <a:endParaRPr lang="en-US" sz="1200" dirty="0"/>
          </a:p>
        </p:txBody>
      </p:sp>
      <p:sp>
        <p:nvSpPr>
          <p:cNvPr id="14" name="Text 12"/>
          <p:cNvSpPr/>
          <p:nvPr/>
        </p:nvSpPr>
        <p:spPr>
          <a:xfrm>
            <a:off x="4032504"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Catalogues everything; surfaces gaps and what's due</a:t>
            </a:r>
            <a:endParaRPr lang="en-US" sz="950" dirty="0"/>
          </a:p>
        </p:txBody>
      </p:sp>
      <p:sp>
        <p:nvSpPr>
          <p:cNvPr id="15" name="Text 13"/>
          <p:cNvSpPr/>
          <p:nvPr/>
        </p:nvSpPr>
        <p:spPr>
          <a:xfrm>
            <a:off x="5413248" y="2029968"/>
            <a:ext cx="228600" cy="365760"/>
          </a:xfrm>
          <a:prstGeom prst="rect">
            <a:avLst/>
          </a:prstGeom>
          <a:noFill/>
          <a:ln/>
        </p:spPr>
        <p:txBody>
          <a:bodyPr wrap="square" lIns="0" tIns="0" rIns="0" bIns="0" rtlCol="0" anchor="ctr"/>
          <a:lstStyle/>
          <a:p>
            <a:pPr marL="0" indent="0" algn="ctr">
              <a:buNone/>
            </a:pPr>
            <a:r>
              <a:rPr lang="en-US" sz="1500" b="1" dirty="0">
                <a:solidFill>
                  <a:srgbClr val="C9A227"/>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5632704" y="1371600"/>
            <a:ext cx="1499616" cy="1691640"/>
          </a:xfrm>
          <a:prstGeom prst="roundRect">
            <a:avLst>
              <a:gd name="adj" fmla="val 3659"/>
            </a:avLst>
          </a:prstGeom>
          <a:solidFill>
            <a:srgbClr val="EEF3FC"/>
          </a:solidFill>
          <a:ln/>
        </p:spPr>
        <p:txBody>
          <a:bodyPr/>
          <a:lstStyle/>
          <a:p>
            <a:endParaRPr lang="en-GB"/>
          </a:p>
        </p:txBody>
      </p:sp>
      <p:sp>
        <p:nvSpPr>
          <p:cNvPr id="17" name="Text 15"/>
          <p:cNvSpPr/>
          <p:nvPr/>
        </p:nvSpPr>
        <p:spPr>
          <a:xfrm>
            <a:off x="5742432"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Skill-builder</a:t>
            </a:r>
            <a:endParaRPr lang="en-US" sz="1200" dirty="0"/>
          </a:p>
        </p:txBody>
      </p:sp>
      <p:sp>
        <p:nvSpPr>
          <p:cNvPr id="18" name="Text 16"/>
          <p:cNvSpPr/>
          <p:nvPr/>
        </p:nvSpPr>
        <p:spPr>
          <a:xfrm>
            <a:off x="5742432"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Writes the company its own skill, so next time is instant</a:t>
            </a:r>
            <a:endParaRPr lang="en-US" sz="950" dirty="0"/>
          </a:p>
        </p:txBody>
      </p:sp>
      <p:sp>
        <p:nvSpPr>
          <p:cNvPr id="19" name="Text 17"/>
          <p:cNvSpPr/>
          <p:nvPr/>
        </p:nvSpPr>
        <p:spPr>
          <a:xfrm>
            <a:off x="7123176" y="2029968"/>
            <a:ext cx="228600" cy="365760"/>
          </a:xfrm>
          <a:prstGeom prst="rect">
            <a:avLst/>
          </a:prstGeom>
          <a:noFill/>
          <a:ln/>
        </p:spPr>
        <p:txBody>
          <a:bodyPr wrap="square" lIns="0" tIns="0" rIns="0" bIns="0" rtlCol="0" anchor="ctr"/>
          <a:lstStyle/>
          <a:p>
            <a:pPr marL="0" indent="0" algn="ctr">
              <a:buNone/>
            </a:pPr>
            <a:r>
              <a:rPr lang="en-US" sz="1500" b="1" dirty="0">
                <a:solidFill>
                  <a:srgbClr val="C9A227"/>
                </a:solidFill>
                <a:latin typeface="Calibri" pitchFamily="34" charset="0"/>
                <a:ea typeface="Calibri" pitchFamily="34" charset="-122"/>
                <a:cs typeface="Calibri" pitchFamily="34" charset="-120"/>
              </a:rPr>
              <a:t>→</a:t>
            </a:r>
            <a:endParaRPr lang="en-US" sz="1500" dirty="0"/>
          </a:p>
        </p:txBody>
      </p:sp>
      <p:sp>
        <p:nvSpPr>
          <p:cNvPr id="20" name="Shape 18"/>
          <p:cNvSpPr/>
          <p:nvPr/>
        </p:nvSpPr>
        <p:spPr>
          <a:xfrm>
            <a:off x="7342632" y="1371600"/>
            <a:ext cx="1499616" cy="1691640"/>
          </a:xfrm>
          <a:prstGeom prst="roundRect">
            <a:avLst>
              <a:gd name="adj" fmla="val 3659"/>
            </a:avLst>
          </a:prstGeom>
          <a:solidFill>
            <a:srgbClr val="EEF3FC"/>
          </a:solidFill>
          <a:ln/>
        </p:spPr>
        <p:txBody>
          <a:bodyPr/>
          <a:lstStyle/>
          <a:p>
            <a:endParaRPr lang="en-GB"/>
          </a:p>
        </p:txBody>
      </p:sp>
      <p:sp>
        <p:nvSpPr>
          <p:cNvPr id="21" name="Text 19"/>
          <p:cNvSpPr/>
          <p:nvPr/>
        </p:nvSpPr>
        <p:spPr>
          <a:xfrm>
            <a:off x="7452360" y="1517904"/>
            <a:ext cx="1280160" cy="292608"/>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Analyst</a:t>
            </a:r>
            <a:endParaRPr lang="en-US" sz="1200" dirty="0"/>
          </a:p>
        </p:txBody>
      </p:sp>
      <p:sp>
        <p:nvSpPr>
          <p:cNvPr id="22" name="Text 20"/>
          <p:cNvSpPr/>
          <p:nvPr/>
        </p:nvSpPr>
        <p:spPr>
          <a:xfrm>
            <a:off x="7452360" y="1828800"/>
            <a:ext cx="1280160" cy="1143000"/>
          </a:xfrm>
          <a:prstGeom prst="rect">
            <a:avLst/>
          </a:prstGeom>
          <a:noFill/>
          <a:ln/>
        </p:spPr>
        <p:txBody>
          <a:bodyPr wrap="square" lIns="0" tIns="0" rIns="0" bIns="0" rtlCol="0" anchor="t"/>
          <a:lstStyle/>
          <a:p>
            <a:pPr marL="0" indent="0">
              <a:buNone/>
            </a:pPr>
            <a:r>
              <a:rPr lang="en-US" sz="950" dirty="0">
                <a:solidFill>
                  <a:srgbClr val="1A2238"/>
                </a:solidFill>
                <a:latin typeface="Calibri" pitchFamily="34" charset="0"/>
                <a:ea typeface="Calibri" pitchFamily="34" charset="-122"/>
                <a:cs typeface="Calibri" pitchFamily="34" charset="-120"/>
              </a:rPr>
              <a:t>Standardised, cited analysis from local documents</a:t>
            </a:r>
            <a:endParaRPr lang="en-US" sz="950" dirty="0"/>
          </a:p>
        </p:txBody>
      </p:sp>
      <p:sp>
        <p:nvSpPr>
          <p:cNvPr id="23" name="Text 21"/>
          <p:cNvSpPr/>
          <p:nvPr/>
        </p:nvSpPr>
        <p:spPr>
          <a:xfrm>
            <a:off x="548640" y="3429000"/>
            <a:ext cx="8046720" cy="320040"/>
          </a:xfrm>
          <a:prstGeom prst="rect">
            <a:avLst/>
          </a:prstGeom>
          <a:noFill/>
          <a:ln/>
        </p:spPr>
        <p:txBody>
          <a:bodyPr wrap="square" lIns="0" tIns="0" rIns="0" bIns="0" rtlCol="0" anchor="ctr"/>
          <a:lstStyle/>
          <a:p>
            <a:pPr marL="0" indent="0">
              <a:buNone/>
            </a:pPr>
            <a:r>
              <a:rPr lang="en-US" sz="1300" dirty="0">
                <a:solidFill>
                  <a:srgbClr val="5A6478"/>
                </a:solidFill>
                <a:latin typeface="Calibri" pitchFamily="34" charset="0"/>
                <a:ea typeface="Calibri" pitchFamily="34" charset="-122"/>
                <a:cs typeface="Calibri" pitchFamily="34" charset="-120"/>
              </a:rPr>
              <a:t>Everything lives in one shared folder — documents, index, skills, configuration. Portable, inspectable, versioned.</a:t>
            </a:r>
            <a:endParaRPr lang="en-US" sz="1300" dirty="0"/>
          </a:p>
        </p:txBody>
      </p:sp>
      <p:sp>
        <p:nvSpPr>
          <p:cNvPr id="24" name="Text 22"/>
          <p:cNvSpPr/>
          <p:nvPr/>
        </p:nvSpPr>
        <p:spPr>
          <a:xfrm>
            <a:off x="548640" y="3840480"/>
            <a:ext cx="8046720" cy="320040"/>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If a website changes and a download breaks, the workspace re-discovers the source and repairs its own skill.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PEOPLE + CLAUDE</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it does — and where you stay essential</a:t>
            </a:r>
            <a:endParaRPr lang="en-US" sz="2600" dirty="0"/>
          </a:p>
        </p:txBody>
      </p:sp>
      <p:sp>
        <p:nvSpPr>
          <p:cNvPr id="4" name="Shape 2"/>
          <p:cNvSpPr/>
          <p:nvPr/>
        </p:nvSpPr>
        <p:spPr>
          <a:xfrm>
            <a:off x="548640" y="1252728"/>
            <a:ext cx="365760" cy="365760"/>
          </a:xfrm>
          <a:prstGeom prst="ellipse">
            <a:avLst/>
          </a:prstGeom>
          <a:solidFill>
            <a:srgbClr val="C9A227"/>
          </a:solidFill>
          <a:ln/>
        </p:spPr>
        <p:txBody>
          <a:bodyPr/>
          <a:lstStyle/>
          <a:p>
            <a:endParaRPr lang="en-GB"/>
          </a:p>
        </p:txBody>
      </p:sp>
      <p:sp>
        <p:nvSpPr>
          <p:cNvPr id="5" name="Text 3"/>
          <p:cNvSpPr/>
          <p:nvPr/>
        </p:nvSpPr>
        <p:spPr>
          <a:xfrm>
            <a:off x="548640" y="125272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97280" y="1234440"/>
            <a:ext cx="4297680" cy="566928"/>
          </a:xfrm>
          <a:prstGeom prst="rect">
            <a:avLst/>
          </a:prstGeom>
          <a:noFill/>
          <a:ln/>
        </p:spPr>
        <p:txBody>
          <a:bodyPr wrap="square" lIns="0" tIns="0" rIns="0" bIns="0" rtlCol="0" anchor="ctr"/>
          <a:lstStyle/>
          <a:p>
            <a:pPr marL="0" indent="0">
              <a:buNone/>
            </a:pPr>
            <a:r>
              <a:rPr lang="en-US" sz="1300" b="1" i="1" dirty="0">
                <a:solidFill>
                  <a:srgbClr val="1A2238"/>
                </a:solidFill>
                <a:latin typeface="Calibri" pitchFamily="34" charset="0"/>
                <a:ea typeface="Calibri" pitchFamily="34" charset="-122"/>
                <a:cs typeface="Calibri" pitchFamily="34" charset="-120"/>
              </a:rPr>
              <a:t>Finds and reads the filings — hundreds of pages in minutes</a:t>
            </a:r>
            <a:endParaRPr lang="en-US" sz="1300" dirty="0"/>
          </a:p>
        </p:txBody>
      </p:sp>
      <p:sp>
        <p:nvSpPr>
          <p:cNvPr id="7" name="Shape 5"/>
          <p:cNvSpPr/>
          <p:nvPr/>
        </p:nvSpPr>
        <p:spPr>
          <a:xfrm>
            <a:off x="548640" y="1911096"/>
            <a:ext cx="365760" cy="365760"/>
          </a:xfrm>
          <a:prstGeom prst="ellipse">
            <a:avLst/>
          </a:prstGeom>
          <a:solidFill>
            <a:srgbClr val="1E2761"/>
          </a:solidFill>
          <a:ln/>
        </p:spPr>
        <p:txBody>
          <a:bodyPr/>
          <a:lstStyle/>
          <a:p>
            <a:endParaRPr lang="en-GB"/>
          </a:p>
        </p:txBody>
      </p:sp>
      <p:sp>
        <p:nvSpPr>
          <p:cNvPr id="8" name="Text 6"/>
          <p:cNvSpPr/>
          <p:nvPr/>
        </p:nvSpPr>
        <p:spPr>
          <a:xfrm>
            <a:off x="548640" y="191109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1097280" y="1892808"/>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Re-keys and cross-checks every number, each one cited</a:t>
            </a:r>
            <a:endParaRPr lang="en-US" sz="1300" dirty="0"/>
          </a:p>
        </p:txBody>
      </p:sp>
      <p:sp>
        <p:nvSpPr>
          <p:cNvPr id="10" name="Shape 8"/>
          <p:cNvSpPr/>
          <p:nvPr/>
        </p:nvSpPr>
        <p:spPr>
          <a:xfrm>
            <a:off x="548640" y="2569464"/>
            <a:ext cx="365760" cy="365760"/>
          </a:xfrm>
          <a:prstGeom prst="ellipse">
            <a:avLst/>
          </a:prstGeom>
          <a:solidFill>
            <a:srgbClr val="1E2761"/>
          </a:solidFill>
          <a:ln/>
        </p:spPr>
        <p:txBody>
          <a:bodyPr/>
          <a:lstStyle/>
          <a:p>
            <a:endParaRPr lang="en-GB"/>
          </a:p>
        </p:txBody>
      </p:sp>
      <p:sp>
        <p:nvSpPr>
          <p:cNvPr id="11" name="Text 9"/>
          <p:cNvSpPr/>
          <p:nvPr/>
        </p:nvSpPr>
        <p:spPr>
          <a:xfrm>
            <a:off x="548640" y="2569464"/>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1097280" y="2551176"/>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Drafts the first pass in your house format</a:t>
            </a:r>
            <a:endParaRPr lang="en-US" sz="1300" dirty="0"/>
          </a:p>
        </p:txBody>
      </p:sp>
      <p:sp>
        <p:nvSpPr>
          <p:cNvPr id="13" name="Shape 11"/>
          <p:cNvSpPr/>
          <p:nvPr/>
        </p:nvSpPr>
        <p:spPr>
          <a:xfrm>
            <a:off x="548640" y="3227832"/>
            <a:ext cx="365760" cy="365760"/>
          </a:xfrm>
          <a:prstGeom prst="ellipse">
            <a:avLst/>
          </a:prstGeom>
          <a:solidFill>
            <a:srgbClr val="1E2761"/>
          </a:solidFill>
          <a:ln/>
        </p:spPr>
        <p:txBody>
          <a:bodyPr/>
          <a:lstStyle/>
          <a:p>
            <a:endParaRPr lang="en-GB"/>
          </a:p>
        </p:txBody>
      </p:sp>
      <p:sp>
        <p:nvSpPr>
          <p:cNvPr id="14" name="Text 12"/>
          <p:cNvSpPr/>
          <p:nvPr/>
        </p:nvSpPr>
        <p:spPr>
          <a:xfrm>
            <a:off x="548640" y="322783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1097280" y="3209544"/>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Never tires, never cuts a corner, ready before the open</a:t>
            </a:r>
            <a:endParaRPr lang="en-US" sz="1300" dirty="0"/>
          </a:p>
        </p:txBody>
      </p:sp>
      <p:sp>
        <p:nvSpPr>
          <p:cNvPr id="16" name="Shape 14"/>
          <p:cNvSpPr/>
          <p:nvPr/>
        </p:nvSpPr>
        <p:spPr>
          <a:xfrm>
            <a:off x="548640" y="3886200"/>
            <a:ext cx="365760" cy="365760"/>
          </a:xfrm>
          <a:prstGeom prst="ellipse">
            <a:avLst/>
          </a:prstGeom>
          <a:solidFill>
            <a:srgbClr val="1E2761"/>
          </a:solidFill>
          <a:ln/>
        </p:spPr>
        <p:txBody>
          <a:bodyPr/>
          <a:lstStyle/>
          <a:p>
            <a:endParaRPr lang="en-GB"/>
          </a:p>
        </p:txBody>
      </p:sp>
      <p:sp>
        <p:nvSpPr>
          <p:cNvPr id="17" name="Text 15"/>
          <p:cNvSpPr/>
          <p:nvPr/>
        </p:nvSpPr>
        <p:spPr>
          <a:xfrm>
            <a:off x="548640" y="388620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8" name="Text 16"/>
          <p:cNvSpPr/>
          <p:nvPr/>
        </p:nvSpPr>
        <p:spPr>
          <a:xfrm>
            <a:off x="1097280" y="3867912"/>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Carries the routine 80% — so you begin at the judgement</a:t>
            </a:r>
            <a:endParaRPr lang="en-US" sz="1300" dirty="0"/>
          </a:p>
        </p:txBody>
      </p:sp>
      <p:sp>
        <p:nvSpPr>
          <p:cNvPr id="19" name="Shape 17"/>
          <p:cNvSpPr/>
          <p:nvPr/>
        </p:nvSpPr>
        <p:spPr>
          <a:xfrm>
            <a:off x="5715000" y="1234440"/>
            <a:ext cx="2926080" cy="3246120"/>
          </a:xfrm>
          <a:prstGeom prst="roundRect">
            <a:avLst>
              <a:gd name="adj" fmla="val 1875"/>
            </a:avLst>
          </a:prstGeom>
          <a:solidFill>
            <a:srgbClr val="EEF3FC"/>
          </a:solidFill>
          <a:ln/>
        </p:spPr>
        <p:txBody>
          <a:bodyPr/>
          <a:lstStyle/>
          <a:p>
            <a:endParaRPr lang="en-GB"/>
          </a:p>
        </p:txBody>
      </p:sp>
      <p:sp>
        <p:nvSpPr>
          <p:cNvPr id="20" name="Text 18"/>
          <p:cNvSpPr/>
          <p:nvPr/>
        </p:nvSpPr>
        <p:spPr>
          <a:xfrm>
            <a:off x="5943600" y="1417320"/>
            <a:ext cx="2468880" cy="274320"/>
          </a:xfrm>
          <a:prstGeom prst="rect">
            <a:avLst/>
          </a:prstGeom>
          <a:noFill/>
          <a:ln/>
        </p:spPr>
        <p:txBody>
          <a:bodyPr wrap="square" lIns="0" tIns="0" rIns="0" bIns="0" rtlCol="0" anchor="ctr"/>
          <a:lstStyle/>
          <a:p>
            <a:pPr marL="0" indent="0">
              <a:buNone/>
            </a:pPr>
            <a:r>
              <a:rPr lang="en-US" sz="1050" b="1" kern="0" spc="200" dirty="0">
                <a:solidFill>
                  <a:srgbClr val="C9A227"/>
                </a:solidFill>
                <a:latin typeface="Calibri" pitchFamily="34" charset="0"/>
                <a:ea typeface="Calibri" pitchFamily="34" charset="-122"/>
                <a:cs typeface="Calibri" pitchFamily="34" charset="-120"/>
              </a:rPr>
              <a:t>WHERE YOU DECIDE</a:t>
            </a:r>
            <a:endParaRPr lang="en-US" sz="1050" dirty="0"/>
          </a:p>
        </p:txBody>
      </p:sp>
      <p:sp>
        <p:nvSpPr>
          <p:cNvPr id="21" name="Text 19"/>
          <p:cNvSpPr/>
          <p:nvPr/>
        </p:nvSpPr>
        <p:spPr>
          <a:xfrm>
            <a:off x="5943600" y="1783080"/>
            <a:ext cx="1280160" cy="2377440"/>
          </a:xfrm>
          <a:prstGeom prst="rect">
            <a:avLst/>
          </a:prstGeom>
          <a:noFill/>
          <a:ln/>
        </p:spPr>
        <p:txBody>
          <a:bodyPr wrap="square" lIns="0" tIns="0" rIns="0" bIns="0" rtlCol="0" anchor="ctr"/>
          <a:lstStyle/>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Judgement</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Conviction</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Context</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Relationships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Accountability</a:t>
            </a:r>
            <a:endParaRPr lang="en-US" sz="1250" dirty="0"/>
          </a:p>
        </p:txBody>
      </p:sp>
      <p:sp>
        <p:nvSpPr>
          <p:cNvPr id="22" name="Text 20"/>
          <p:cNvSpPr/>
          <p:nvPr/>
        </p:nvSpPr>
        <p:spPr>
          <a:xfrm>
            <a:off x="7360920" y="1783080"/>
            <a:ext cx="1188720" cy="2377440"/>
          </a:xfrm>
          <a:prstGeom prst="rect">
            <a:avLst/>
          </a:prstGeom>
          <a:noFill/>
          <a:ln/>
        </p:spPr>
        <p:txBody>
          <a:bodyPr wrap="square" lIns="0" tIns="0" rIns="0" bIns="0" rtlCol="0" anchor="ctr"/>
          <a:lstStyle/>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Scepticism</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Originality</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Timing</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Clients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The call</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CASE STUDY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Built to be trusted</a:t>
            </a:r>
            <a:endParaRPr lang="en-US" sz="2600" dirty="0"/>
          </a:p>
        </p:txBody>
      </p:sp>
      <p:sp>
        <p:nvSpPr>
          <p:cNvPr id="4" name="Shape 2"/>
          <p:cNvSpPr/>
          <p:nvPr/>
        </p:nvSpPr>
        <p:spPr>
          <a:xfrm>
            <a:off x="548640" y="1280160"/>
            <a:ext cx="3931920" cy="1261872"/>
          </a:xfrm>
          <a:prstGeom prst="roundRect">
            <a:avLst>
              <a:gd name="adj" fmla="val 4348"/>
            </a:avLst>
          </a:prstGeom>
          <a:solidFill>
            <a:srgbClr val="EEF3FC"/>
          </a:solidFill>
          <a:ln/>
        </p:spPr>
        <p:txBody>
          <a:bodyPr/>
          <a:lstStyle/>
          <a:p>
            <a:endParaRPr lang="en-GB"/>
          </a:p>
        </p:txBody>
      </p:sp>
      <p:sp>
        <p:nvSpPr>
          <p:cNvPr id="5" name="Shape 3"/>
          <p:cNvSpPr/>
          <p:nvPr/>
        </p:nvSpPr>
        <p:spPr>
          <a:xfrm>
            <a:off x="749808" y="1691640"/>
            <a:ext cx="420624" cy="420624"/>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850758" y="1792590"/>
            <a:ext cx="218724" cy="218724"/>
          </a:xfrm>
          <a:prstGeom prst="rect">
            <a:avLst/>
          </a:prstGeom>
        </p:spPr>
      </p:pic>
      <p:sp>
        <p:nvSpPr>
          <p:cNvPr id="7" name="Text 4"/>
          <p:cNvSpPr/>
          <p:nvPr/>
        </p:nvSpPr>
        <p:spPr>
          <a:xfrm>
            <a:off x="1325880" y="144475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Numbers are sacred</a:t>
            </a:r>
            <a:endParaRPr lang="en-US" sz="1450" dirty="0"/>
          </a:p>
        </p:txBody>
      </p:sp>
      <p:sp>
        <p:nvSpPr>
          <p:cNvPr id="8" name="Text 5"/>
          <p:cNvSpPr/>
          <p:nvPr/>
        </p:nvSpPr>
        <p:spPr>
          <a:xfrm>
            <a:off x="1325880" y="1755648"/>
            <a:ext cx="3017520" cy="731520"/>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Never rounded or estimated; derived figures marked (e), working shown</a:t>
            </a:r>
            <a:endParaRPr lang="en-US" sz="1100" dirty="0"/>
          </a:p>
        </p:txBody>
      </p:sp>
      <p:sp>
        <p:nvSpPr>
          <p:cNvPr id="9" name="Shape 6"/>
          <p:cNvSpPr/>
          <p:nvPr/>
        </p:nvSpPr>
        <p:spPr>
          <a:xfrm>
            <a:off x="4754880" y="1280160"/>
            <a:ext cx="3931920" cy="1261872"/>
          </a:xfrm>
          <a:prstGeom prst="roundRect">
            <a:avLst>
              <a:gd name="adj" fmla="val 4348"/>
            </a:avLst>
          </a:prstGeom>
          <a:solidFill>
            <a:srgbClr val="EEF3FC"/>
          </a:solidFill>
          <a:ln/>
        </p:spPr>
        <p:txBody>
          <a:bodyPr/>
          <a:lstStyle/>
          <a:p>
            <a:endParaRPr lang="en-GB"/>
          </a:p>
        </p:txBody>
      </p:sp>
      <p:sp>
        <p:nvSpPr>
          <p:cNvPr id="10" name="Shape 7"/>
          <p:cNvSpPr/>
          <p:nvPr/>
        </p:nvSpPr>
        <p:spPr>
          <a:xfrm>
            <a:off x="4956048" y="1691640"/>
            <a:ext cx="420624" cy="420624"/>
          </a:xfrm>
          <a:prstGeom prst="ellipse">
            <a:avLst/>
          </a:prstGeom>
          <a:solidFill>
            <a:srgbClr val="1E2761"/>
          </a:solidFill>
          <a:ln/>
        </p:spPr>
        <p:txBody>
          <a:bodyPr/>
          <a:lstStyle/>
          <a:p>
            <a:endParaRPr lang="en-GB"/>
          </a:p>
        </p:txBody>
      </p:sp>
      <p:pic>
        <p:nvPicPr>
          <p:cNvPr id="11" name="Image 1" descr="preencoded.png"/>
          <p:cNvPicPr>
            <a:picLocks noChangeAspect="1"/>
          </p:cNvPicPr>
          <p:nvPr/>
        </p:nvPicPr>
        <p:blipFill>
          <a:blip r:embed="rId4"/>
          <a:stretch>
            <a:fillRect/>
          </a:stretch>
        </p:blipFill>
        <p:spPr>
          <a:xfrm>
            <a:off x="5056998" y="1792590"/>
            <a:ext cx="218724" cy="218724"/>
          </a:xfrm>
          <a:prstGeom prst="rect">
            <a:avLst/>
          </a:prstGeom>
        </p:spPr>
      </p:pic>
      <p:sp>
        <p:nvSpPr>
          <p:cNvPr id="12" name="Text 8"/>
          <p:cNvSpPr/>
          <p:nvPr/>
        </p:nvSpPr>
        <p:spPr>
          <a:xfrm>
            <a:off x="5532120" y="144475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Source everything</a:t>
            </a:r>
            <a:endParaRPr lang="en-US" sz="1450" dirty="0"/>
          </a:p>
        </p:txBody>
      </p:sp>
      <p:sp>
        <p:nvSpPr>
          <p:cNvPr id="13" name="Text 9"/>
          <p:cNvSpPr/>
          <p:nvPr/>
        </p:nvSpPr>
        <p:spPr>
          <a:xfrm>
            <a:off x="5532120" y="1755648"/>
            <a:ext cx="3017520" cy="731520"/>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Every figure cited to its document and page</a:t>
            </a:r>
            <a:endParaRPr lang="en-US" sz="1100" dirty="0"/>
          </a:p>
        </p:txBody>
      </p:sp>
      <p:sp>
        <p:nvSpPr>
          <p:cNvPr id="14" name="Shape 10"/>
          <p:cNvSpPr/>
          <p:nvPr/>
        </p:nvSpPr>
        <p:spPr>
          <a:xfrm>
            <a:off x="548640" y="2697480"/>
            <a:ext cx="3931920" cy="1261872"/>
          </a:xfrm>
          <a:prstGeom prst="roundRect">
            <a:avLst>
              <a:gd name="adj" fmla="val 4348"/>
            </a:avLst>
          </a:prstGeom>
          <a:solidFill>
            <a:srgbClr val="EEF3FC"/>
          </a:solidFill>
          <a:ln/>
        </p:spPr>
        <p:txBody>
          <a:bodyPr/>
          <a:lstStyle/>
          <a:p>
            <a:endParaRPr lang="en-GB"/>
          </a:p>
        </p:txBody>
      </p:sp>
      <p:sp>
        <p:nvSpPr>
          <p:cNvPr id="15" name="Shape 11"/>
          <p:cNvSpPr/>
          <p:nvPr/>
        </p:nvSpPr>
        <p:spPr>
          <a:xfrm>
            <a:off x="749808" y="3108960"/>
            <a:ext cx="420624" cy="420624"/>
          </a:xfrm>
          <a:prstGeom prst="ellipse">
            <a:avLst/>
          </a:prstGeom>
          <a:solidFill>
            <a:srgbClr val="1E2761"/>
          </a:solidFill>
          <a:ln/>
        </p:spPr>
        <p:txBody>
          <a:bodyPr/>
          <a:lstStyle/>
          <a:p>
            <a:endParaRPr lang="en-GB"/>
          </a:p>
        </p:txBody>
      </p:sp>
      <p:pic>
        <p:nvPicPr>
          <p:cNvPr id="16" name="Image 2" descr="preencoded.png"/>
          <p:cNvPicPr>
            <a:picLocks noChangeAspect="1"/>
          </p:cNvPicPr>
          <p:nvPr/>
        </p:nvPicPr>
        <p:blipFill>
          <a:blip r:embed="rId5"/>
          <a:stretch>
            <a:fillRect/>
          </a:stretch>
        </p:blipFill>
        <p:spPr>
          <a:xfrm>
            <a:off x="850758" y="3209910"/>
            <a:ext cx="218724" cy="218724"/>
          </a:xfrm>
          <a:prstGeom prst="rect">
            <a:avLst/>
          </a:prstGeom>
        </p:spPr>
      </p:pic>
      <p:sp>
        <p:nvSpPr>
          <p:cNvPr id="17" name="Text 12"/>
          <p:cNvSpPr/>
          <p:nvPr/>
        </p:nvSpPr>
        <p:spPr>
          <a:xfrm>
            <a:off x="1325880" y="286207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Flag uncertainty</a:t>
            </a:r>
            <a:endParaRPr lang="en-US" sz="1450" dirty="0"/>
          </a:p>
        </p:txBody>
      </p:sp>
      <p:sp>
        <p:nvSpPr>
          <p:cNvPr id="18" name="Text 13"/>
          <p:cNvSpPr/>
          <p:nvPr/>
        </p:nvSpPr>
        <p:spPr>
          <a:xfrm>
            <a:off x="1325880" y="3172968"/>
            <a:ext cx="3017520" cy="731520"/>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Gaps reported as "not disclosed" — never papered over</a:t>
            </a:r>
            <a:endParaRPr lang="en-US" sz="1100" dirty="0"/>
          </a:p>
        </p:txBody>
      </p:sp>
      <p:sp>
        <p:nvSpPr>
          <p:cNvPr id="19" name="Shape 14"/>
          <p:cNvSpPr/>
          <p:nvPr/>
        </p:nvSpPr>
        <p:spPr>
          <a:xfrm>
            <a:off x="4754880" y="2697480"/>
            <a:ext cx="3931920" cy="1261872"/>
          </a:xfrm>
          <a:prstGeom prst="roundRect">
            <a:avLst>
              <a:gd name="adj" fmla="val 4348"/>
            </a:avLst>
          </a:prstGeom>
          <a:solidFill>
            <a:srgbClr val="EEF3FC"/>
          </a:solidFill>
          <a:ln/>
        </p:spPr>
        <p:txBody>
          <a:bodyPr/>
          <a:lstStyle/>
          <a:p>
            <a:endParaRPr lang="en-GB"/>
          </a:p>
        </p:txBody>
      </p:sp>
      <p:sp>
        <p:nvSpPr>
          <p:cNvPr id="20" name="Shape 15"/>
          <p:cNvSpPr/>
          <p:nvPr/>
        </p:nvSpPr>
        <p:spPr>
          <a:xfrm>
            <a:off x="4956048" y="3108960"/>
            <a:ext cx="420624" cy="420624"/>
          </a:xfrm>
          <a:prstGeom prst="ellipse">
            <a:avLst/>
          </a:prstGeom>
          <a:solidFill>
            <a:srgbClr val="1E2761"/>
          </a:solidFill>
          <a:ln/>
        </p:spPr>
        <p:txBody>
          <a:bodyPr/>
          <a:lstStyle/>
          <a:p>
            <a:endParaRPr lang="en-GB"/>
          </a:p>
        </p:txBody>
      </p:sp>
      <p:pic>
        <p:nvPicPr>
          <p:cNvPr id="21" name="Image 3" descr="preencoded.png"/>
          <p:cNvPicPr>
            <a:picLocks noChangeAspect="1"/>
          </p:cNvPicPr>
          <p:nvPr/>
        </p:nvPicPr>
        <p:blipFill>
          <a:blip r:embed="rId6"/>
          <a:stretch>
            <a:fillRect/>
          </a:stretch>
        </p:blipFill>
        <p:spPr>
          <a:xfrm>
            <a:off x="5056998" y="3209910"/>
            <a:ext cx="218724" cy="218724"/>
          </a:xfrm>
          <a:prstGeom prst="rect">
            <a:avLst/>
          </a:prstGeom>
        </p:spPr>
      </p:pic>
      <p:sp>
        <p:nvSpPr>
          <p:cNvPr id="22" name="Text 16"/>
          <p:cNvSpPr/>
          <p:nvPr/>
        </p:nvSpPr>
        <p:spPr>
          <a:xfrm>
            <a:off x="5532120" y="286207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Context, always</a:t>
            </a:r>
            <a:endParaRPr lang="en-US" sz="1450" dirty="0"/>
          </a:p>
        </p:txBody>
      </p:sp>
      <p:sp>
        <p:nvSpPr>
          <p:cNvPr id="23" name="Text 17"/>
          <p:cNvSpPr/>
          <p:nvPr/>
        </p:nvSpPr>
        <p:spPr>
          <a:xfrm>
            <a:off x="5532120" y="3172968"/>
            <a:ext cx="3017520" cy="731520"/>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Every number against the prior period, with the change</a:t>
            </a:r>
            <a:endParaRPr lang="en-US" sz="1100" dirty="0"/>
          </a:p>
        </p:txBody>
      </p:sp>
      <p:sp>
        <p:nvSpPr>
          <p:cNvPr id="24" name="Text 18"/>
          <p:cNvSpPr/>
          <p:nvPr/>
        </p:nvSpPr>
        <p:spPr>
          <a:xfrm>
            <a:off x="548640" y="4297680"/>
            <a:ext cx="8046720" cy="320040"/>
          </a:xfrm>
          <a:prstGeom prst="rect">
            <a:avLst/>
          </a:prstGeom>
          <a:noFill/>
          <a:ln/>
        </p:spPr>
        <p:txBody>
          <a:bodyPr wrap="square" lIns="0" tIns="0" rIns="0" bIns="0"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These rules live in the workspace configuration — enforced on every analysis, not left to memory.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LANDSCAPE</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Claude Cowork vs Copilot "Cowork"</a:t>
            </a:r>
            <a:endParaRPr lang="en-US" sz="2600" dirty="0"/>
          </a:p>
        </p:txBody>
      </p:sp>
      <p:sp>
        <p:nvSpPr>
          <p:cNvPr id="4" name="Shape 2"/>
          <p:cNvSpPr/>
          <p:nvPr/>
        </p:nvSpPr>
        <p:spPr>
          <a:xfrm>
            <a:off x="548640" y="1325880"/>
            <a:ext cx="3931920" cy="1783080"/>
          </a:xfrm>
          <a:prstGeom prst="roundRect">
            <a:avLst>
              <a:gd name="adj" fmla="val 3077"/>
            </a:avLst>
          </a:prstGeom>
          <a:solidFill>
            <a:srgbClr val="2B3674"/>
          </a:solidFill>
          <a:ln/>
        </p:spPr>
        <p:txBody>
          <a:bodyPr/>
          <a:lstStyle/>
          <a:p>
            <a:endParaRPr lang="en-GB"/>
          </a:p>
        </p:txBody>
      </p:sp>
      <p:sp>
        <p:nvSpPr>
          <p:cNvPr id="5" name="Text 3"/>
          <p:cNvSpPr/>
          <p:nvPr/>
        </p:nvSpPr>
        <p:spPr>
          <a:xfrm>
            <a:off x="7772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CADCFC"/>
                </a:solidFill>
                <a:latin typeface="Calibri" pitchFamily="34" charset="0"/>
                <a:ea typeface="Calibri" pitchFamily="34" charset="-122"/>
                <a:cs typeface="Calibri" pitchFamily="34" charset="-120"/>
              </a:rPr>
              <a:t>CLAUDE COWORK</a:t>
            </a:r>
            <a:endParaRPr lang="en-US" sz="1100" dirty="0"/>
          </a:p>
        </p:txBody>
      </p:sp>
      <p:sp>
        <p:nvSpPr>
          <p:cNvPr id="6" name="Text 4"/>
          <p:cNvSpPr/>
          <p:nvPr/>
        </p:nvSpPr>
        <p:spPr>
          <a:xfrm>
            <a:off x="777240" y="1828800"/>
            <a:ext cx="3474720" cy="11430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Skills are plain text you can read, version and share. Radically transparent and portable, with no platform lock-in. A research preview today.</a:t>
            </a:r>
            <a:endParaRPr lang="en-US" sz="1250" dirty="0"/>
          </a:p>
        </p:txBody>
      </p:sp>
      <p:sp>
        <p:nvSpPr>
          <p:cNvPr id="7" name="Shape 5"/>
          <p:cNvSpPr/>
          <p:nvPr/>
        </p:nvSpPr>
        <p:spPr>
          <a:xfrm>
            <a:off x="4663440" y="1325880"/>
            <a:ext cx="3931920" cy="1783080"/>
          </a:xfrm>
          <a:prstGeom prst="roundRect">
            <a:avLst>
              <a:gd name="adj" fmla="val 3077"/>
            </a:avLst>
          </a:prstGeom>
          <a:solidFill>
            <a:srgbClr val="CADCFC"/>
          </a:solidFill>
          <a:ln/>
        </p:spPr>
        <p:txBody>
          <a:bodyPr/>
          <a:lstStyle/>
          <a:p>
            <a:endParaRPr lang="en-GB"/>
          </a:p>
        </p:txBody>
      </p:sp>
      <p:sp>
        <p:nvSpPr>
          <p:cNvPr id="8" name="Text 6"/>
          <p:cNvSpPr/>
          <p:nvPr/>
        </p:nvSpPr>
        <p:spPr>
          <a:xfrm>
            <a:off x="48920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1E2761"/>
                </a:solidFill>
                <a:latin typeface="Calibri" pitchFamily="34" charset="0"/>
                <a:ea typeface="Calibri" pitchFamily="34" charset="-122"/>
                <a:cs typeface="Calibri" pitchFamily="34" charset="-120"/>
              </a:rPr>
              <a:t>COPILOT COWORK (FRONTIER)</a:t>
            </a:r>
            <a:endParaRPr lang="en-US" sz="1100" dirty="0"/>
          </a:p>
        </p:txBody>
      </p:sp>
      <p:sp>
        <p:nvSpPr>
          <p:cNvPr id="9" name="Text 7"/>
          <p:cNvSpPr/>
          <p:nvPr/>
        </p:nvSpPr>
        <p:spPr>
          <a:xfrm>
            <a:off x="4892040" y="1828800"/>
            <a:ext cx="3474720" cy="1143000"/>
          </a:xfrm>
          <a:prstGeom prst="rect">
            <a:avLst/>
          </a:prstGeom>
          <a:noFill/>
          <a:ln/>
        </p:spPr>
        <p:txBody>
          <a:bodyPr wrap="square" lIns="0" tIns="0" rIns="0" bIns="0" rtlCol="0" anchor="ctr"/>
          <a:lstStyle/>
          <a:p>
            <a:pPr marL="0" indent="0">
              <a:buNone/>
            </a:pPr>
            <a:r>
              <a:rPr lang="en-US" sz="1250" dirty="0">
                <a:solidFill>
                  <a:srgbClr val="1A2238"/>
                </a:solidFill>
                <a:latin typeface="Calibri" pitchFamily="34" charset="0"/>
                <a:ea typeface="Calibri" pitchFamily="34" charset="-122"/>
                <a:cs typeface="Calibri" pitchFamily="34" charset="-120"/>
              </a:rPr>
              <a:t>Microsoft’s analogue, launched March 2026. Native to the M365 estate you already run, also built on reusable "skills" — and it runs Claude among its models.</a:t>
            </a:r>
            <a:endParaRPr lang="en-US" sz="1250" dirty="0"/>
          </a:p>
        </p:txBody>
      </p:sp>
      <p:sp>
        <p:nvSpPr>
          <p:cNvPr id="10" name="Text 8"/>
          <p:cNvSpPr/>
          <p:nvPr/>
        </p:nvSpPr>
        <p:spPr>
          <a:xfrm>
            <a:off x="548640" y="3383280"/>
            <a:ext cx="1371600" cy="914400"/>
          </a:xfrm>
          <a:prstGeom prst="rect">
            <a:avLst/>
          </a:prstGeom>
          <a:noFill/>
          <a:ln/>
        </p:spPr>
        <p:txBody>
          <a:bodyPr wrap="square" lIns="0" tIns="0" rIns="0" bIns="0" rtlCol="0" anchor="ctr"/>
          <a:lstStyle/>
          <a:p>
            <a:pPr marL="0" indent="0">
              <a:buNone/>
            </a:pPr>
            <a:r>
              <a:rPr lang="en-US" sz="6000" b="1" dirty="0">
                <a:solidFill>
                  <a:srgbClr val="C9A227"/>
                </a:solidFill>
                <a:latin typeface="Georgia" pitchFamily="34" charset="0"/>
                <a:ea typeface="Georgia" pitchFamily="34" charset="-122"/>
                <a:cs typeface="Georgia" pitchFamily="34" charset="-120"/>
              </a:rPr>
              <a:t>≈</a:t>
            </a:r>
            <a:endParaRPr lang="en-US" sz="6000" dirty="0"/>
          </a:p>
        </p:txBody>
      </p:sp>
      <p:sp>
        <p:nvSpPr>
          <p:cNvPr id="11" name="Text 9"/>
          <p:cNvSpPr/>
          <p:nvPr/>
        </p:nvSpPr>
        <p:spPr>
          <a:xfrm>
            <a:off x="2011680" y="3639312"/>
            <a:ext cx="6583680" cy="5486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Genuinely analogous. The real choice is fit — your estate, governance and how much transparency you want — and the way of working ports either way.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CLAUDE 101</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Skills: instructions, not software</a:t>
            </a:r>
            <a:endParaRPr lang="en-US" sz="2600" dirty="0"/>
          </a:p>
        </p:txBody>
      </p:sp>
      <p:sp>
        <p:nvSpPr>
          <p:cNvPr id="4" name="Text 2"/>
          <p:cNvSpPr/>
          <p:nvPr/>
        </p:nvSpPr>
        <p:spPr>
          <a:xfrm>
            <a:off x="548640" y="1280160"/>
            <a:ext cx="3931920" cy="914400"/>
          </a:xfrm>
          <a:prstGeom prst="rect">
            <a:avLst/>
          </a:prstGeom>
          <a:noFill/>
          <a:ln/>
        </p:spPr>
        <p:txBody>
          <a:bodyPr wrap="square" lIns="0" tIns="0" rIns="0" bIns="0" rtlCol="0" anchor="ctr"/>
          <a:lstStyle/>
          <a:p>
            <a:pPr marL="0" indent="0">
              <a:buNone/>
            </a:pPr>
            <a:r>
              <a:rPr lang="en-US" sz="1650" i="1" dirty="0">
                <a:solidFill>
                  <a:srgbClr val="1E2761"/>
                </a:solidFill>
                <a:latin typeface="Georgia" pitchFamily="34" charset="0"/>
                <a:ea typeface="Georgia" pitchFamily="34" charset="-122"/>
                <a:cs typeface="Georgia" pitchFamily="34" charset="-120"/>
              </a:rPr>
              <a:t>"If you can write an email briefing a junior analyst, you can write a skill."</a:t>
            </a:r>
            <a:endParaRPr lang="en-US" sz="1650" dirty="0"/>
          </a:p>
        </p:txBody>
      </p:sp>
      <p:sp>
        <p:nvSpPr>
          <p:cNvPr id="5" name="Text 3"/>
          <p:cNvSpPr/>
          <p:nvPr/>
        </p:nvSpPr>
        <p:spPr>
          <a:xfrm>
            <a:off x="548640" y="2514600"/>
            <a:ext cx="3886200" cy="1737360"/>
          </a:xfrm>
          <a:prstGeom prst="rect">
            <a:avLst/>
          </a:prstGeom>
          <a:noFill/>
          <a:ln/>
        </p:spPr>
        <p:txBody>
          <a:bodyPr wrap="square" rtlCol="0" anchor="t"/>
          <a:lstStyle/>
          <a:p>
            <a:pPr marL="342900" indent="-3429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A plain-English markdown document</a:t>
            </a:r>
            <a:endParaRPr lang="en-US" sz="1300" dirty="0"/>
          </a:p>
          <a:p>
            <a:pPr marL="342900" indent="-3429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Tells Claude when to act and what to do</a:t>
            </a:r>
            <a:endParaRPr lang="en-US" sz="1300" dirty="0"/>
          </a:p>
          <a:p>
            <a:pPr marL="342900" indent="-342900">
              <a:spcAft>
                <a:spcPts val="1000"/>
              </a:spcAft>
              <a:buSzPct val="100000"/>
              <a:buChar char="•"/>
            </a:pPr>
            <a:r>
              <a:rPr lang="en-US" sz="1300" dirty="0">
                <a:solidFill>
                  <a:srgbClr val="1A2238"/>
                </a:solidFill>
                <a:latin typeface="Calibri" pitchFamily="34" charset="0"/>
                <a:ea typeface="Calibri" pitchFamily="34" charset="-122"/>
                <a:cs typeface="Calibri" pitchFamily="34" charset="-120"/>
              </a:rPr>
              <a:t>Carries the fund's standards — formats, guardrails, house style — automatically</a:t>
            </a:r>
            <a:endParaRPr lang="en-US" sz="1300" dirty="0"/>
          </a:p>
        </p:txBody>
      </p:sp>
      <p:sp>
        <p:nvSpPr>
          <p:cNvPr id="6" name="Shape 4"/>
          <p:cNvSpPr/>
          <p:nvPr/>
        </p:nvSpPr>
        <p:spPr>
          <a:xfrm>
            <a:off x="4800600" y="1188720"/>
            <a:ext cx="3886200" cy="3520440"/>
          </a:xfrm>
          <a:prstGeom prst="roundRect">
            <a:avLst>
              <a:gd name="adj" fmla="val 1558"/>
            </a:avLst>
          </a:prstGeom>
          <a:solidFill>
            <a:srgbClr val="1E2761"/>
          </a:solidFill>
          <a:ln/>
        </p:spPr>
        <p:txBody>
          <a:bodyPr/>
          <a:lstStyle/>
          <a:p>
            <a:endParaRPr lang="en-GB"/>
          </a:p>
        </p:txBody>
      </p:sp>
      <p:sp>
        <p:nvSpPr>
          <p:cNvPr id="7" name="Text 5"/>
          <p:cNvSpPr/>
          <p:nvPr/>
        </p:nvSpPr>
        <p:spPr>
          <a:xfrm>
            <a:off x="5029200" y="1371600"/>
            <a:ext cx="3474720" cy="3200400"/>
          </a:xfrm>
          <a:prstGeom prst="rect">
            <a:avLst/>
          </a:prstGeom>
          <a:noFill/>
          <a:ln/>
        </p:spPr>
        <p:txBody>
          <a:bodyPr wrap="square" lIns="0" tIns="0" rIns="0" bIns="0" rtlCol="0" anchor="t"/>
          <a:lstStyle/>
          <a:p>
            <a:pPr marL="0" indent="0">
              <a:buNone/>
            </a:pPr>
            <a:r>
              <a:rPr lang="en-US" sz="1050" dirty="0">
                <a:solidFill>
                  <a:srgbClr val="CADCFC"/>
                </a:solidFill>
                <a:latin typeface="Courier New" pitchFamily="34" charset="0"/>
                <a:ea typeface="Courier New" pitchFamily="34" charset="-122"/>
                <a:cs typeface="Courier New" pitchFamily="34" charset="-120"/>
              </a:rPr>
              <a:t>name: ic-meeting-note-formatter</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description: Formats rough IC meeting</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notes into AllWeather's standard</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minutes. Use when the user pastes</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meeting notes...</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Output format</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1. Header - date, attendees, chair</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2. Decisions taken - numbered</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3. Actions - owner and due date</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4. Dissenting views</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Rules</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Never invent content.</a:t>
            </a:r>
            <a:endParaRPr lang="en-US" sz="1050" dirty="0"/>
          </a:p>
          <a:p>
            <a:pPr marL="0" indent="0">
              <a:buNone/>
            </a:pPr>
            <a:r>
              <a:rPr lang="en-US" sz="1050" dirty="0">
                <a:solidFill>
                  <a:srgbClr val="CADCFC"/>
                </a:solidFill>
                <a:latin typeface="Courier New" pitchFamily="34" charset="0"/>
                <a:ea typeface="Courier New" pitchFamily="34" charset="-122"/>
                <a:cs typeface="Courier New" pitchFamily="34" charset="-120"/>
              </a:rPr>
              <a:t>- Keep numbers exactly as written.</a:t>
            </a:r>
            <a:endParaRPr lang="en-US" sz="1050" dirty="0"/>
          </a:p>
        </p:txBody>
      </p:sp>
      <p:sp>
        <p:nvSpPr>
          <p:cNvPr id="8" name="Text 6"/>
          <p:cNvSpPr/>
          <p:nvPr/>
        </p:nvSpPr>
        <p:spPr>
          <a:xfrm>
            <a:off x="4800600" y="4754880"/>
            <a:ext cx="3886200" cy="256032"/>
          </a:xfrm>
          <a:prstGeom prst="rect">
            <a:avLst/>
          </a:prstGeom>
          <a:noFill/>
          <a:ln/>
        </p:spPr>
        <p:txBody>
          <a:bodyPr wrap="square" lIns="0" tIns="0" rIns="0" bIns="0" rtlCol="0" anchor="ctr"/>
          <a:lstStyle/>
          <a:p>
            <a:pPr marL="0" indent="0" algn="ctr">
              <a:buNone/>
            </a:pPr>
            <a:r>
              <a:rPr lang="en-US" sz="1000" i="1" dirty="0">
                <a:solidFill>
                  <a:srgbClr val="5A6478"/>
                </a:solidFill>
                <a:latin typeface="Calibri" pitchFamily="34" charset="0"/>
                <a:ea typeface="Calibri" pitchFamily="34" charset="-122"/>
                <a:cs typeface="Calibri" pitchFamily="34" charset="-120"/>
              </a:rPr>
              <a:t>an actual skill from this workspace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LIVE DEMO</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Demystifying skills</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Every skill has three parts. All of them are plain English.</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Description — when to act</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The phrases people actually say: "format my IC notes", "tidy these minutes"</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Instructions — what to do</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The brief you would give a new team member: sections, order, format</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Rules — what never to do</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"Never invent content." "Keep numbers exactly as written." Guardrails, encoded</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Next: we build one, live, in five minutes.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KNOW THE LIMITS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Four ways it can let you down</a:t>
            </a:r>
            <a:endParaRPr lang="en-US" sz="2600" dirty="0"/>
          </a:p>
        </p:txBody>
      </p:sp>
      <p:sp>
        <p:nvSpPr>
          <p:cNvPr id="4" name="Shape 2"/>
          <p:cNvSpPr/>
          <p:nvPr/>
        </p:nvSpPr>
        <p:spPr>
          <a:xfrm>
            <a:off x="548640" y="1280160"/>
            <a:ext cx="1947672" cy="2743200"/>
          </a:xfrm>
          <a:prstGeom prst="roundRect">
            <a:avLst>
              <a:gd name="adj" fmla="val 2817"/>
            </a:avLst>
          </a:prstGeom>
          <a:solidFill>
            <a:srgbClr val="EEF3FC"/>
          </a:solidFill>
          <a:ln/>
        </p:spPr>
        <p:txBody>
          <a:bodyPr/>
          <a:lstStyle/>
          <a:p>
            <a:endParaRPr lang="en-GB"/>
          </a:p>
        </p:txBody>
      </p:sp>
      <p:sp>
        <p:nvSpPr>
          <p:cNvPr id="5" name="Text 3"/>
          <p:cNvSpPr/>
          <p:nvPr/>
        </p:nvSpPr>
        <p:spPr>
          <a:xfrm>
            <a:off x="731520"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1</a:t>
            </a:r>
            <a:endParaRPr lang="en-US" sz="2600" dirty="0"/>
          </a:p>
        </p:txBody>
      </p:sp>
      <p:sp>
        <p:nvSpPr>
          <p:cNvPr id="6" name="Text 4"/>
          <p:cNvSpPr/>
          <p:nvPr/>
        </p:nvSpPr>
        <p:spPr>
          <a:xfrm>
            <a:off x="731520"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finite attention</a:t>
            </a:r>
            <a:endParaRPr lang="en-US" sz="1050" dirty="0"/>
          </a:p>
        </p:txBody>
      </p:sp>
      <p:sp>
        <p:nvSpPr>
          <p:cNvPr id="7" name="Text 5"/>
          <p:cNvSpPr/>
          <p:nvPr/>
        </p:nvSpPr>
        <p:spPr>
          <a:xfrm>
            <a:off x="731520"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The dumb zone</a:t>
            </a:r>
            <a:endParaRPr lang="en-US" sz="1300" dirty="0"/>
          </a:p>
        </p:txBody>
      </p:sp>
      <p:sp>
        <p:nvSpPr>
          <p:cNvPr id="8" name="Text 6"/>
          <p:cNvSpPr/>
          <p:nvPr/>
        </p:nvSpPr>
        <p:spPr>
          <a:xfrm>
            <a:off x="731520"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Cram too much in at once and quality falls. An overloaded context thinks worse — like a desk buried under paper.</a:t>
            </a:r>
            <a:endParaRPr lang="en-US" sz="1000" dirty="0"/>
          </a:p>
        </p:txBody>
      </p:sp>
      <p:sp>
        <p:nvSpPr>
          <p:cNvPr id="9" name="Shape 7"/>
          <p:cNvSpPr/>
          <p:nvPr/>
        </p:nvSpPr>
        <p:spPr>
          <a:xfrm>
            <a:off x="2679192" y="1280160"/>
            <a:ext cx="1947672" cy="2743200"/>
          </a:xfrm>
          <a:prstGeom prst="roundRect">
            <a:avLst>
              <a:gd name="adj" fmla="val 2817"/>
            </a:avLst>
          </a:prstGeom>
          <a:solidFill>
            <a:srgbClr val="EEF3FC"/>
          </a:solidFill>
          <a:ln/>
        </p:spPr>
        <p:txBody>
          <a:bodyPr/>
          <a:lstStyle/>
          <a:p>
            <a:endParaRPr lang="en-GB"/>
          </a:p>
        </p:txBody>
      </p:sp>
      <p:sp>
        <p:nvSpPr>
          <p:cNvPr id="10" name="Text 8"/>
          <p:cNvSpPr/>
          <p:nvPr/>
        </p:nvSpPr>
        <p:spPr>
          <a:xfrm>
            <a:off x="2862072"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2</a:t>
            </a:r>
            <a:endParaRPr lang="en-US" sz="2600" dirty="0"/>
          </a:p>
        </p:txBody>
      </p:sp>
      <p:sp>
        <p:nvSpPr>
          <p:cNvPr id="11" name="Text 9"/>
          <p:cNvSpPr/>
          <p:nvPr/>
        </p:nvSpPr>
        <p:spPr>
          <a:xfrm>
            <a:off x="2862072"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confident errors</a:t>
            </a:r>
            <a:endParaRPr lang="en-US" sz="1050" dirty="0"/>
          </a:p>
        </p:txBody>
      </p:sp>
      <p:sp>
        <p:nvSpPr>
          <p:cNvPr id="12" name="Text 10"/>
          <p:cNvSpPr/>
          <p:nvPr/>
        </p:nvSpPr>
        <p:spPr>
          <a:xfrm>
            <a:off x="2862072"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Hallucination</a:t>
            </a:r>
            <a:endParaRPr lang="en-US" sz="1300" dirty="0"/>
          </a:p>
        </p:txBody>
      </p:sp>
      <p:sp>
        <p:nvSpPr>
          <p:cNvPr id="13" name="Text 11"/>
          <p:cNvSpPr/>
          <p:nvPr/>
        </p:nvSpPr>
        <p:spPr>
          <a:xfrm>
            <a:off x="2862072"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It can state a wrong number with total confidence. Fluent is not the same as correct — so everything stays checkable.</a:t>
            </a:r>
            <a:endParaRPr lang="en-US" sz="1000" dirty="0"/>
          </a:p>
        </p:txBody>
      </p:sp>
      <p:sp>
        <p:nvSpPr>
          <p:cNvPr id="14" name="Shape 12"/>
          <p:cNvSpPr/>
          <p:nvPr/>
        </p:nvSpPr>
        <p:spPr>
          <a:xfrm>
            <a:off x="4809744" y="1280160"/>
            <a:ext cx="1947672" cy="2743200"/>
          </a:xfrm>
          <a:prstGeom prst="roundRect">
            <a:avLst>
              <a:gd name="adj" fmla="val 2817"/>
            </a:avLst>
          </a:prstGeom>
          <a:solidFill>
            <a:srgbClr val="EEF3FC"/>
          </a:solidFill>
          <a:ln/>
        </p:spPr>
        <p:txBody>
          <a:bodyPr/>
          <a:lstStyle/>
          <a:p>
            <a:endParaRPr lang="en-GB"/>
          </a:p>
        </p:txBody>
      </p:sp>
      <p:sp>
        <p:nvSpPr>
          <p:cNvPr id="15" name="Text 13"/>
          <p:cNvSpPr/>
          <p:nvPr/>
        </p:nvSpPr>
        <p:spPr>
          <a:xfrm>
            <a:off x="4992624"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4992624"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goal drift</a:t>
            </a:r>
            <a:endParaRPr lang="en-US" sz="1050" dirty="0"/>
          </a:p>
        </p:txBody>
      </p:sp>
      <p:sp>
        <p:nvSpPr>
          <p:cNvPr id="17" name="Text 15"/>
          <p:cNvSpPr/>
          <p:nvPr/>
        </p:nvSpPr>
        <p:spPr>
          <a:xfrm>
            <a:off x="4992624"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Misalignment</a:t>
            </a:r>
            <a:endParaRPr lang="en-US" sz="1300" dirty="0"/>
          </a:p>
        </p:txBody>
      </p:sp>
      <p:sp>
        <p:nvSpPr>
          <p:cNvPr id="18" name="Text 16"/>
          <p:cNvSpPr/>
          <p:nvPr/>
        </p:nvSpPr>
        <p:spPr>
          <a:xfrm>
            <a:off x="4992624"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Ask vaguely and it optimises for the wrong thing. Most 'AI failures' are really briefing failures.</a:t>
            </a:r>
            <a:endParaRPr lang="en-US" sz="1000" dirty="0"/>
          </a:p>
        </p:txBody>
      </p:sp>
      <p:sp>
        <p:nvSpPr>
          <p:cNvPr id="19" name="Shape 17"/>
          <p:cNvSpPr/>
          <p:nvPr/>
        </p:nvSpPr>
        <p:spPr>
          <a:xfrm>
            <a:off x="6940296" y="1280160"/>
            <a:ext cx="1947672" cy="2743200"/>
          </a:xfrm>
          <a:prstGeom prst="roundRect">
            <a:avLst>
              <a:gd name="adj" fmla="val 2817"/>
            </a:avLst>
          </a:prstGeom>
          <a:solidFill>
            <a:srgbClr val="EEF3FC"/>
          </a:solidFill>
          <a:ln/>
        </p:spPr>
        <p:txBody>
          <a:bodyPr/>
          <a:lstStyle/>
          <a:p>
            <a:endParaRPr lang="en-GB"/>
          </a:p>
        </p:txBody>
      </p:sp>
      <p:sp>
        <p:nvSpPr>
          <p:cNvPr id="20" name="Text 18"/>
          <p:cNvSpPr/>
          <p:nvPr/>
        </p:nvSpPr>
        <p:spPr>
          <a:xfrm>
            <a:off x="7123176"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4</a:t>
            </a:r>
            <a:endParaRPr lang="en-US" sz="2600" dirty="0"/>
          </a:p>
        </p:txBody>
      </p:sp>
      <p:sp>
        <p:nvSpPr>
          <p:cNvPr id="21" name="Text 19"/>
          <p:cNvSpPr/>
          <p:nvPr/>
        </p:nvSpPr>
        <p:spPr>
          <a:xfrm>
            <a:off x="7123176"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not a calculator</a:t>
            </a:r>
            <a:endParaRPr lang="en-US" sz="1050" dirty="0"/>
          </a:p>
        </p:txBody>
      </p:sp>
      <p:sp>
        <p:nvSpPr>
          <p:cNvPr id="22" name="Text 20"/>
          <p:cNvSpPr/>
          <p:nvPr/>
        </p:nvSpPr>
        <p:spPr>
          <a:xfrm>
            <a:off x="7123176"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Non-deterministic</a:t>
            </a:r>
            <a:endParaRPr lang="en-US" sz="1300" dirty="0"/>
          </a:p>
        </p:txBody>
      </p:sp>
      <p:sp>
        <p:nvSpPr>
          <p:cNvPr id="23" name="Text 21"/>
          <p:cNvSpPr/>
          <p:nvPr/>
        </p:nvSpPr>
        <p:spPr>
          <a:xfrm>
            <a:off x="7123176"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Same prompt, slightly different wording each run. Great for drafting; wrong for anything that must reconcile.</a:t>
            </a:r>
            <a:endParaRPr lang="en-US" sz="1000" dirty="0"/>
          </a:p>
        </p:txBody>
      </p:sp>
      <p:sp>
        <p:nvSpPr>
          <p:cNvPr id="24" name="Text 22"/>
          <p:cNvSpPr/>
          <p:nvPr/>
        </p:nvSpPr>
        <p:spPr>
          <a:xfrm>
            <a:off x="548640" y="434340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None of these are dealbreakers — each has a discipline that defangs it. That's the next slide.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42900" y="274320"/>
            <a:ext cx="8455914" cy="480060"/>
          </a:xfrm>
          <a:prstGeom prst="rect">
            <a:avLst/>
          </a:prstGeom>
          <a:noFill/>
          <a:ln/>
        </p:spPr>
        <p:txBody>
          <a:bodyPr wrap="square" lIns="0" tIns="0" rIns="0" bIns="0" rtlCol="0" anchor="ctr"/>
          <a:lstStyle/>
          <a:p>
            <a:r>
              <a:rPr lang="en-US" sz="2400" b="1" dirty="0">
                <a:solidFill>
                  <a:srgbClr val="1E2761"/>
                </a:solidFill>
                <a:latin typeface="Georgia" pitchFamily="34" charset="0"/>
                <a:ea typeface="Georgia" pitchFamily="34" charset="-122"/>
                <a:cs typeface="Georgia" pitchFamily="34" charset="-120"/>
              </a:rPr>
              <a:t>Context utilization &amp; the “dumb zone”</a:t>
            </a:r>
            <a:endParaRPr lang="en-US" sz="2400" dirty="0"/>
          </a:p>
        </p:txBody>
      </p:sp>
      <p:sp>
        <p:nvSpPr>
          <p:cNvPr id="3" name="Text 1"/>
          <p:cNvSpPr/>
          <p:nvPr/>
        </p:nvSpPr>
        <p:spPr>
          <a:xfrm>
            <a:off x="342900" y="740664"/>
            <a:ext cx="8455914" cy="274320"/>
          </a:xfrm>
          <a:prstGeom prst="rect">
            <a:avLst/>
          </a:prstGeom>
          <a:noFill/>
          <a:ln/>
        </p:spPr>
        <p:txBody>
          <a:bodyPr wrap="square" lIns="0" tIns="0" rIns="0" bIns="0" rtlCol="0" anchor="ctr"/>
          <a:lstStyle/>
          <a:p>
            <a:r>
              <a:rPr lang="en-US" sz="1200" dirty="0">
                <a:solidFill>
                  <a:srgbClr val="93A4B8"/>
                </a:solidFill>
                <a:latin typeface="Calibri" pitchFamily="34" charset="0"/>
                <a:ea typeface="Calibri" pitchFamily="34" charset="-122"/>
                <a:cs typeface="Calibri" pitchFamily="34" charset="-120"/>
              </a:rPr>
              <a:t>Why a fuller context window quietly degrades the quality of an AI’s answers</a:t>
            </a:r>
            <a:endParaRPr lang="en-US" sz="1200" dirty="0"/>
          </a:p>
        </p:txBody>
      </p:sp>
      <p:sp>
        <p:nvSpPr>
          <p:cNvPr id="4" name="Shape 2"/>
          <p:cNvSpPr/>
          <p:nvPr/>
        </p:nvSpPr>
        <p:spPr>
          <a:xfrm>
            <a:off x="308610" y="1165860"/>
            <a:ext cx="5143500" cy="3394710"/>
          </a:xfrm>
          <a:prstGeom prst="roundRect">
            <a:avLst>
              <a:gd name="adj" fmla="val 1616"/>
            </a:avLst>
          </a:prstGeom>
          <a:solidFill>
            <a:srgbClr val="162B41"/>
          </a:solidFill>
          <a:ln/>
          <a:effectLst>
            <a:outerShdw blurRad="101600" dist="38100" dir="5400000" algn="bl" rotWithShape="0">
              <a:srgbClr val="000000">
                <a:alpha val="22000"/>
              </a:srgbClr>
            </a:outerShdw>
          </a:effectLst>
        </p:spPr>
        <p:txBody>
          <a:bodyPr/>
          <a:lstStyle/>
          <a:p>
            <a:endParaRPr lang="en-GB" sz="1350"/>
          </a:p>
        </p:txBody>
      </p:sp>
      <p:pic>
        <p:nvPicPr>
          <p:cNvPr id="5" name="Image 0" descr="preencoded.png"/>
          <p:cNvPicPr>
            <a:picLocks noChangeAspect="1"/>
          </p:cNvPicPr>
          <p:nvPr/>
        </p:nvPicPr>
        <p:blipFill>
          <a:blip r:embed="rId3"/>
          <a:stretch>
            <a:fillRect/>
          </a:stretch>
        </p:blipFill>
        <p:spPr>
          <a:xfrm>
            <a:off x="587731" y="1275588"/>
            <a:ext cx="4585259" cy="3086100"/>
          </a:xfrm>
          <a:prstGeom prst="rect">
            <a:avLst/>
          </a:prstGeom>
        </p:spPr>
      </p:pic>
      <p:sp>
        <p:nvSpPr>
          <p:cNvPr id="6" name="Text 3"/>
          <p:cNvSpPr/>
          <p:nvPr/>
        </p:nvSpPr>
        <p:spPr>
          <a:xfrm>
            <a:off x="587731" y="4368546"/>
            <a:ext cx="4585259" cy="164592"/>
          </a:xfrm>
          <a:prstGeom prst="rect">
            <a:avLst/>
          </a:prstGeom>
          <a:noFill/>
          <a:ln/>
        </p:spPr>
        <p:txBody>
          <a:bodyPr wrap="square" lIns="0" tIns="0" rIns="0" bIns="0" rtlCol="0" anchor="ctr"/>
          <a:lstStyle/>
          <a:p>
            <a:pPr algn="ctr"/>
            <a:r>
              <a:rPr lang="en-US" sz="825" i="1" dirty="0">
                <a:solidFill>
                  <a:srgbClr val="6E8298"/>
                </a:solidFill>
                <a:latin typeface="Calibri" pitchFamily="34" charset="0"/>
                <a:ea typeface="Calibri" pitchFamily="34" charset="-122"/>
                <a:cs typeface="Calibri" pitchFamily="34" charset="-120"/>
              </a:rPr>
              <a:t>Illustrative — the exact curve varies by model and task</a:t>
            </a:r>
            <a:endParaRPr lang="en-US" sz="825" dirty="0"/>
          </a:p>
        </p:txBody>
      </p:sp>
      <p:sp>
        <p:nvSpPr>
          <p:cNvPr id="7" name="Shape 4"/>
          <p:cNvSpPr/>
          <p:nvPr/>
        </p:nvSpPr>
        <p:spPr>
          <a:xfrm>
            <a:off x="5623560" y="1165860"/>
            <a:ext cx="3188970" cy="994410"/>
          </a:xfrm>
          <a:prstGeom prst="roundRect">
            <a:avLst>
              <a:gd name="adj" fmla="val 5517"/>
            </a:avLst>
          </a:prstGeom>
          <a:solidFill>
            <a:srgbClr val="162B41"/>
          </a:solidFill>
          <a:ln/>
          <a:effectLst>
            <a:outerShdw blurRad="101600" dist="38100" dir="5400000" algn="bl" rotWithShape="0">
              <a:srgbClr val="000000">
                <a:alpha val="22000"/>
              </a:srgbClr>
            </a:outerShdw>
          </a:effectLst>
        </p:spPr>
        <p:txBody>
          <a:bodyPr/>
          <a:lstStyle/>
          <a:p>
            <a:endParaRPr lang="en-GB" sz="1350"/>
          </a:p>
        </p:txBody>
      </p:sp>
      <p:sp>
        <p:nvSpPr>
          <p:cNvPr id="8" name="Shape 5"/>
          <p:cNvSpPr/>
          <p:nvPr/>
        </p:nvSpPr>
        <p:spPr>
          <a:xfrm>
            <a:off x="5829300" y="1457325"/>
            <a:ext cx="411480" cy="411480"/>
          </a:xfrm>
          <a:prstGeom prst="ellipse">
            <a:avLst/>
          </a:prstGeom>
          <a:solidFill>
            <a:srgbClr val="2DD4BF"/>
          </a:solidFill>
          <a:ln/>
        </p:spPr>
        <p:txBody>
          <a:bodyPr/>
          <a:lstStyle/>
          <a:p>
            <a:endParaRPr lang="en-GB" sz="1350"/>
          </a:p>
        </p:txBody>
      </p:sp>
      <p:sp>
        <p:nvSpPr>
          <p:cNvPr id="9" name="Text 6"/>
          <p:cNvSpPr/>
          <p:nvPr/>
        </p:nvSpPr>
        <p:spPr>
          <a:xfrm>
            <a:off x="5829300" y="1457325"/>
            <a:ext cx="411480" cy="411480"/>
          </a:xfrm>
          <a:prstGeom prst="rect">
            <a:avLst/>
          </a:prstGeom>
          <a:noFill/>
          <a:ln/>
        </p:spPr>
        <p:txBody>
          <a:bodyPr wrap="square" lIns="0" tIns="0" rIns="0" bIns="0" rtlCol="0" anchor="ctr"/>
          <a:lstStyle/>
          <a:p>
            <a:pPr algn="ctr"/>
            <a:r>
              <a:rPr lang="en-US" sz="1650" b="1" dirty="0">
                <a:solidFill>
                  <a:srgbClr val="0F2236"/>
                </a:solidFill>
                <a:latin typeface="Trebuchet MS" pitchFamily="34" charset="0"/>
                <a:ea typeface="Trebuchet MS" pitchFamily="34" charset="-122"/>
                <a:cs typeface="Trebuchet MS" pitchFamily="34" charset="-120"/>
              </a:rPr>
              <a:t>1</a:t>
            </a:r>
            <a:endParaRPr lang="en-US" sz="1650" dirty="0"/>
          </a:p>
        </p:txBody>
      </p:sp>
      <p:sp>
        <p:nvSpPr>
          <p:cNvPr id="10" name="Text 7"/>
          <p:cNvSpPr/>
          <p:nvPr/>
        </p:nvSpPr>
        <p:spPr>
          <a:xfrm>
            <a:off x="6377940" y="1316736"/>
            <a:ext cx="2297430" cy="274320"/>
          </a:xfrm>
          <a:prstGeom prst="rect">
            <a:avLst/>
          </a:prstGeom>
          <a:noFill/>
          <a:ln/>
        </p:spPr>
        <p:txBody>
          <a:bodyPr wrap="square" lIns="0" tIns="0" rIns="0" bIns="0" rtlCol="0" anchor="t"/>
          <a:lstStyle/>
          <a:p>
            <a:r>
              <a:rPr lang="en-US" sz="1163" b="1" dirty="0">
                <a:solidFill>
                  <a:srgbClr val="FFFFFF"/>
                </a:solidFill>
                <a:latin typeface="Trebuchet MS" pitchFamily="34" charset="0"/>
                <a:ea typeface="Trebuchet MS" pitchFamily="34" charset="-122"/>
                <a:cs typeface="Trebuchet MS" pitchFamily="34" charset="-120"/>
              </a:rPr>
              <a:t>Bigger window isn’t better</a:t>
            </a:r>
            <a:endParaRPr lang="en-US" sz="1163" dirty="0"/>
          </a:p>
        </p:txBody>
      </p:sp>
      <p:sp>
        <p:nvSpPr>
          <p:cNvPr id="11" name="Text 8"/>
          <p:cNvSpPr/>
          <p:nvPr/>
        </p:nvSpPr>
        <p:spPr>
          <a:xfrm>
            <a:off x="6377940" y="1604772"/>
            <a:ext cx="2297430" cy="493776"/>
          </a:xfrm>
          <a:prstGeom prst="rect">
            <a:avLst/>
          </a:prstGeom>
          <a:noFill/>
          <a:ln/>
        </p:spPr>
        <p:txBody>
          <a:bodyPr wrap="square" lIns="0" tIns="0" rIns="0" bIns="0" rtlCol="0" anchor="t"/>
          <a:lstStyle/>
          <a:p>
            <a:r>
              <a:rPr lang="en-US" sz="900" dirty="0">
                <a:solidFill>
                  <a:srgbClr val="C2CEDA"/>
                </a:solidFill>
                <a:latin typeface="Calibri" pitchFamily="34" charset="0"/>
                <a:ea typeface="Calibri" pitchFamily="34" charset="-122"/>
                <a:cs typeface="Calibri" pitchFamily="34" charset="-120"/>
              </a:rPr>
              <a:t>A large context window doesn’t mean the model attends equally to everything inside it.</a:t>
            </a:r>
            <a:endParaRPr lang="en-US" sz="900" dirty="0"/>
          </a:p>
        </p:txBody>
      </p:sp>
      <p:sp>
        <p:nvSpPr>
          <p:cNvPr id="12" name="Shape 9"/>
          <p:cNvSpPr/>
          <p:nvPr/>
        </p:nvSpPr>
        <p:spPr>
          <a:xfrm>
            <a:off x="5623560" y="2366010"/>
            <a:ext cx="3188970" cy="994410"/>
          </a:xfrm>
          <a:prstGeom prst="roundRect">
            <a:avLst>
              <a:gd name="adj" fmla="val 5517"/>
            </a:avLst>
          </a:prstGeom>
          <a:solidFill>
            <a:srgbClr val="162B41"/>
          </a:solidFill>
          <a:ln/>
          <a:effectLst>
            <a:outerShdw blurRad="101600" dist="38100" dir="5400000" algn="bl" rotWithShape="0">
              <a:srgbClr val="000000">
                <a:alpha val="22000"/>
              </a:srgbClr>
            </a:outerShdw>
          </a:effectLst>
        </p:spPr>
        <p:txBody>
          <a:bodyPr/>
          <a:lstStyle/>
          <a:p>
            <a:endParaRPr lang="en-GB" sz="1350"/>
          </a:p>
        </p:txBody>
      </p:sp>
      <p:sp>
        <p:nvSpPr>
          <p:cNvPr id="13" name="Shape 10"/>
          <p:cNvSpPr/>
          <p:nvPr/>
        </p:nvSpPr>
        <p:spPr>
          <a:xfrm>
            <a:off x="5829300" y="2657475"/>
            <a:ext cx="411480" cy="411480"/>
          </a:xfrm>
          <a:prstGeom prst="ellipse">
            <a:avLst/>
          </a:prstGeom>
          <a:solidFill>
            <a:srgbClr val="F87171"/>
          </a:solidFill>
          <a:ln/>
        </p:spPr>
        <p:txBody>
          <a:bodyPr/>
          <a:lstStyle/>
          <a:p>
            <a:endParaRPr lang="en-GB" sz="1350"/>
          </a:p>
        </p:txBody>
      </p:sp>
      <p:sp>
        <p:nvSpPr>
          <p:cNvPr id="14" name="Text 11"/>
          <p:cNvSpPr/>
          <p:nvPr/>
        </p:nvSpPr>
        <p:spPr>
          <a:xfrm>
            <a:off x="5829300" y="2657475"/>
            <a:ext cx="411480" cy="411480"/>
          </a:xfrm>
          <a:prstGeom prst="rect">
            <a:avLst/>
          </a:prstGeom>
          <a:noFill/>
          <a:ln/>
        </p:spPr>
        <p:txBody>
          <a:bodyPr wrap="square" lIns="0" tIns="0" rIns="0" bIns="0" rtlCol="0" anchor="ctr"/>
          <a:lstStyle/>
          <a:p>
            <a:pPr algn="ctr"/>
            <a:r>
              <a:rPr lang="en-US" sz="1650" b="1" dirty="0">
                <a:solidFill>
                  <a:srgbClr val="0F2236"/>
                </a:solidFill>
                <a:latin typeface="Trebuchet MS" pitchFamily="34" charset="0"/>
                <a:ea typeface="Trebuchet MS" pitchFamily="34" charset="-122"/>
                <a:cs typeface="Trebuchet MS" pitchFamily="34" charset="-120"/>
              </a:rPr>
              <a:t>2</a:t>
            </a:r>
            <a:endParaRPr lang="en-US" sz="1650" dirty="0"/>
          </a:p>
        </p:txBody>
      </p:sp>
      <p:sp>
        <p:nvSpPr>
          <p:cNvPr id="15" name="Text 12"/>
          <p:cNvSpPr/>
          <p:nvPr/>
        </p:nvSpPr>
        <p:spPr>
          <a:xfrm>
            <a:off x="6377940" y="2516886"/>
            <a:ext cx="2297430" cy="274320"/>
          </a:xfrm>
          <a:prstGeom prst="rect">
            <a:avLst/>
          </a:prstGeom>
          <a:noFill/>
          <a:ln/>
        </p:spPr>
        <p:txBody>
          <a:bodyPr wrap="square" lIns="0" tIns="0" rIns="0" bIns="0" rtlCol="0" anchor="t"/>
          <a:lstStyle/>
          <a:p>
            <a:r>
              <a:rPr lang="en-US" sz="1163" b="1" dirty="0">
                <a:solidFill>
                  <a:srgbClr val="FFFFFF"/>
                </a:solidFill>
                <a:latin typeface="Trebuchet MS" pitchFamily="34" charset="0"/>
                <a:ea typeface="Trebuchet MS" pitchFamily="34" charset="-122"/>
                <a:cs typeface="Trebuchet MS" pitchFamily="34" charset="-120"/>
              </a:rPr>
              <a:t>What the dumb zone costs</a:t>
            </a:r>
            <a:endParaRPr lang="en-US" sz="1163" dirty="0"/>
          </a:p>
        </p:txBody>
      </p:sp>
      <p:sp>
        <p:nvSpPr>
          <p:cNvPr id="16" name="Text 13"/>
          <p:cNvSpPr/>
          <p:nvPr/>
        </p:nvSpPr>
        <p:spPr>
          <a:xfrm>
            <a:off x="6377940" y="2804922"/>
            <a:ext cx="2297430" cy="493776"/>
          </a:xfrm>
          <a:prstGeom prst="rect">
            <a:avLst/>
          </a:prstGeom>
          <a:noFill/>
          <a:ln/>
        </p:spPr>
        <p:txBody>
          <a:bodyPr wrap="square" lIns="0" tIns="0" rIns="0" bIns="0" rtlCol="0" anchor="t"/>
          <a:lstStyle/>
          <a:p>
            <a:r>
              <a:rPr lang="en-US" sz="900" dirty="0">
                <a:solidFill>
                  <a:srgbClr val="C2CEDA"/>
                </a:solidFill>
                <a:latin typeface="Calibri" pitchFamily="34" charset="0"/>
                <a:ea typeface="Calibri" pitchFamily="34" charset="-122"/>
                <a:cs typeface="Calibri" pitchFamily="34" charset="-120"/>
              </a:rPr>
              <a:t>As context fills, it drops instructions, misses details buried in the middle, and reasons less reliably.</a:t>
            </a:r>
            <a:endParaRPr lang="en-US" sz="900" dirty="0"/>
          </a:p>
        </p:txBody>
      </p:sp>
      <p:sp>
        <p:nvSpPr>
          <p:cNvPr id="17" name="Shape 14"/>
          <p:cNvSpPr/>
          <p:nvPr/>
        </p:nvSpPr>
        <p:spPr>
          <a:xfrm>
            <a:off x="5623560" y="3566160"/>
            <a:ext cx="3188970" cy="994410"/>
          </a:xfrm>
          <a:prstGeom prst="roundRect">
            <a:avLst>
              <a:gd name="adj" fmla="val 5517"/>
            </a:avLst>
          </a:prstGeom>
          <a:solidFill>
            <a:srgbClr val="162B41"/>
          </a:solidFill>
          <a:ln/>
          <a:effectLst>
            <a:outerShdw blurRad="101600" dist="38100" dir="5400000" algn="bl" rotWithShape="0">
              <a:srgbClr val="000000">
                <a:alpha val="22000"/>
              </a:srgbClr>
            </a:outerShdw>
          </a:effectLst>
        </p:spPr>
        <p:txBody>
          <a:bodyPr/>
          <a:lstStyle/>
          <a:p>
            <a:endParaRPr lang="en-GB" sz="1350"/>
          </a:p>
        </p:txBody>
      </p:sp>
      <p:sp>
        <p:nvSpPr>
          <p:cNvPr id="18" name="Shape 15"/>
          <p:cNvSpPr/>
          <p:nvPr/>
        </p:nvSpPr>
        <p:spPr>
          <a:xfrm>
            <a:off x="5829300" y="3857625"/>
            <a:ext cx="411480" cy="411480"/>
          </a:xfrm>
          <a:prstGeom prst="ellipse">
            <a:avLst/>
          </a:prstGeom>
          <a:solidFill>
            <a:srgbClr val="34D399"/>
          </a:solidFill>
          <a:ln/>
        </p:spPr>
        <p:txBody>
          <a:bodyPr/>
          <a:lstStyle/>
          <a:p>
            <a:endParaRPr lang="en-GB" sz="1350"/>
          </a:p>
        </p:txBody>
      </p:sp>
      <p:sp>
        <p:nvSpPr>
          <p:cNvPr id="19" name="Text 16"/>
          <p:cNvSpPr/>
          <p:nvPr/>
        </p:nvSpPr>
        <p:spPr>
          <a:xfrm>
            <a:off x="5829300" y="3857625"/>
            <a:ext cx="411480" cy="411480"/>
          </a:xfrm>
          <a:prstGeom prst="rect">
            <a:avLst/>
          </a:prstGeom>
          <a:noFill/>
          <a:ln/>
        </p:spPr>
        <p:txBody>
          <a:bodyPr wrap="square" lIns="0" tIns="0" rIns="0" bIns="0" rtlCol="0" anchor="ctr"/>
          <a:lstStyle/>
          <a:p>
            <a:pPr algn="ctr"/>
            <a:r>
              <a:rPr lang="en-US" sz="1650" b="1" dirty="0">
                <a:solidFill>
                  <a:srgbClr val="0F2236"/>
                </a:solidFill>
                <a:latin typeface="Trebuchet MS" pitchFamily="34" charset="0"/>
                <a:ea typeface="Trebuchet MS" pitchFamily="34" charset="-122"/>
                <a:cs typeface="Trebuchet MS" pitchFamily="34" charset="-120"/>
              </a:rPr>
              <a:t>3</a:t>
            </a:r>
            <a:endParaRPr lang="en-US" sz="1650" dirty="0"/>
          </a:p>
        </p:txBody>
      </p:sp>
      <p:sp>
        <p:nvSpPr>
          <p:cNvPr id="20" name="Text 17"/>
          <p:cNvSpPr/>
          <p:nvPr/>
        </p:nvSpPr>
        <p:spPr>
          <a:xfrm>
            <a:off x="6377940" y="3717036"/>
            <a:ext cx="2297430" cy="274320"/>
          </a:xfrm>
          <a:prstGeom prst="rect">
            <a:avLst/>
          </a:prstGeom>
          <a:noFill/>
          <a:ln/>
        </p:spPr>
        <p:txBody>
          <a:bodyPr wrap="square" lIns="0" tIns="0" rIns="0" bIns="0" rtlCol="0" anchor="t"/>
          <a:lstStyle/>
          <a:p>
            <a:r>
              <a:rPr lang="en-US" sz="1163" b="1" dirty="0">
                <a:solidFill>
                  <a:srgbClr val="FFFFFF"/>
                </a:solidFill>
                <a:latin typeface="Trebuchet MS" pitchFamily="34" charset="0"/>
                <a:ea typeface="Trebuchet MS" pitchFamily="34" charset="-122"/>
                <a:cs typeface="Trebuchet MS" pitchFamily="34" charset="-120"/>
              </a:rPr>
              <a:t>Keep context lean</a:t>
            </a:r>
            <a:endParaRPr lang="en-US" sz="1163" dirty="0"/>
          </a:p>
        </p:txBody>
      </p:sp>
      <p:sp>
        <p:nvSpPr>
          <p:cNvPr id="21" name="Text 18"/>
          <p:cNvSpPr/>
          <p:nvPr/>
        </p:nvSpPr>
        <p:spPr>
          <a:xfrm>
            <a:off x="6377940" y="4005072"/>
            <a:ext cx="2297430" cy="493776"/>
          </a:xfrm>
          <a:prstGeom prst="rect">
            <a:avLst/>
          </a:prstGeom>
          <a:noFill/>
          <a:ln/>
        </p:spPr>
        <p:txBody>
          <a:bodyPr wrap="square" lIns="0" tIns="0" rIns="0" bIns="0" rtlCol="0" anchor="t"/>
          <a:lstStyle/>
          <a:p>
            <a:r>
              <a:rPr lang="en-US" sz="900" dirty="0">
                <a:solidFill>
                  <a:srgbClr val="C2CEDA"/>
                </a:solidFill>
                <a:latin typeface="Calibri" pitchFamily="34" charset="0"/>
                <a:ea typeface="Calibri" pitchFamily="34" charset="-122"/>
                <a:cs typeface="Calibri" pitchFamily="34" charset="-120"/>
              </a:rPr>
              <a:t>Feed in what’s relevant and trim the rest — focused context keeps answers in the reliable zone.</a:t>
            </a:r>
            <a:endParaRPr lang="en-US" sz="900" dirty="0"/>
          </a:p>
        </p:txBody>
      </p:sp>
      <p:sp>
        <p:nvSpPr>
          <p:cNvPr id="22" name="Text 19"/>
          <p:cNvSpPr/>
          <p:nvPr/>
        </p:nvSpPr>
        <p:spPr>
          <a:xfrm>
            <a:off x="342900" y="4677156"/>
            <a:ext cx="8455914" cy="308610"/>
          </a:xfrm>
          <a:prstGeom prst="rect">
            <a:avLst/>
          </a:prstGeom>
          <a:noFill/>
          <a:ln/>
        </p:spPr>
        <p:txBody>
          <a:bodyPr wrap="square" lIns="0" tIns="0" rIns="0" bIns="0" rtlCol="0" anchor="ctr"/>
          <a:lstStyle/>
          <a:p>
            <a:pPr algn="ctr"/>
            <a:r>
              <a:rPr lang="en-US" sz="1125" b="1" dirty="0">
                <a:solidFill>
                  <a:srgbClr val="FFFFFF"/>
                </a:solidFill>
                <a:latin typeface="Calibri" pitchFamily="34" charset="0"/>
                <a:ea typeface="Calibri" pitchFamily="34" charset="-122"/>
                <a:cs typeface="Calibri" pitchFamily="34" charset="-120"/>
              </a:rPr>
              <a:t>The takeaway:  </a:t>
            </a:r>
            <a:r>
              <a:rPr lang="en-US" sz="1125" i="1" dirty="0">
                <a:solidFill>
                  <a:srgbClr val="5EEAD4"/>
                </a:solidFill>
                <a:latin typeface="Calibri" pitchFamily="34" charset="0"/>
                <a:ea typeface="Calibri" pitchFamily="34" charset="-122"/>
                <a:cs typeface="Calibri" pitchFamily="34" charset="-120"/>
              </a:rPr>
              <a:t>use the context you need — not all the context you can.</a:t>
            </a:r>
            <a:endParaRPr lang="en-US" sz="11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STAY HONEST</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 and how we keep it honest</a:t>
            </a:r>
            <a:endParaRPr lang="en-US" sz="2600" dirty="0"/>
          </a:p>
        </p:txBody>
      </p:sp>
      <p:sp>
        <p:nvSpPr>
          <p:cNvPr id="4" name="Shape 2"/>
          <p:cNvSpPr/>
          <p:nvPr/>
        </p:nvSpPr>
        <p:spPr>
          <a:xfrm>
            <a:off x="548640" y="1307592"/>
            <a:ext cx="384048" cy="384048"/>
          </a:xfrm>
          <a:prstGeom prst="ellipse">
            <a:avLst/>
          </a:prstGeom>
          <a:solidFill>
            <a:srgbClr val="1E2761"/>
          </a:solidFill>
          <a:ln/>
        </p:spPr>
        <p:txBody>
          <a:bodyPr/>
          <a:lstStyle/>
          <a:p>
            <a:endParaRPr lang="en-GB"/>
          </a:p>
        </p:txBody>
      </p:sp>
      <p:sp>
        <p:nvSpPr>
          <p:cNvPr id="5" name="Text 3"/>
          <p:cNvSpPr/>
          <p:nvPr/>
        </p:nvSpPr>
        <p:spPr>
          <a:xfrm>
            <a:off x="548640" y="13075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43000" y="1316736"/>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Cite every number to document and page</a:t>
            </a:r>
            <a:endParaRPr lang="en-US" sz="1400" dirty="0"/>
          </a:p>
        </p:txBody>
      </p:sp>
      <p:sp>
        <p:nvSpPr>
          <p:cNvPr id="7" name="Text 5"/>
          <p:cNvSpPr/>
          <p:nvPr/>
        </p:nvSpPr>
        <p:spPr>
          <a:xfrm>
            <a:off x="6583680" y="1335024"/>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checkable in seconds</a:t>
            </a:r>
            <a:endParaRPr lang="en-US" sz="1150" dirty="0"/>
          </a:p>
        </p:txBody>
      </p:sp>
      <p:sp>
        <p:nvSpPr>
          <p:cNvPr id="8" name="Shape 6"/>
          <p:cNvSpPr/>
          <p:nvPr/>
        </p:nvSpPr>
        <p:spPr>
          <a:xfrm>
            <a:off x="548640" y="1911096"/>
            <a:ext cx="384048" cy="384048"/>
          </a:xfrm>
          <a:prstGeom prst="ellipse">
            <a:avLst/>
          </a:prstGeom>
          <a:solidFill>
            <a:srgbClr val="1E2761"/>
          </a:solidFill>
          <a:ln/>
        </p:spPr>
        <p:txBody>
          <a:bodyPr/>
          <a:lstStyle/>
          <a:p>
            <a:endParaRPr lang="en-GB"/>
          </a:p>
        </p:txBody>
      </p:sp>
      <p:sp>
        <p:nvSpPr>
          <p:cNvPr id="9" name="Text 7"/>
          <p:cNvSpPr/>
          <p:nvPr/>
        </p:nvSpPr>
        <p:spPr>
          <a:xfrm>
            <a:off x="548640" y="19110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1920240"/>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Keep scope tight; load only the skill you need</a:t>
            </a:r>
            <a:endParaRPr lang="en-US" sz="1400" dirty="0"/>
          </a:p>
        </p:txBody>
      </p:sp>
      <p:sp>
        <p:nvSpPr>
          <p:cNvPr id="11" name="Text 9"/>
          <p:cNvSpPr/>
          <p:nvPr/>
        </p:nvSpPr>
        <p:spPr>
          <a:xfrm>
            <a:off x="6583680" y="1938528"/>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beats the dumb zone</a:t>
            </a:r>
            <a:endParaRPr lang="en-US" sz="1150" dirty="0"/>
          </a:p>
        </p:txBody>
      </p:sp>
      <p:sp>
        <p:nvSpPr>
          <p:cNvPr id="12" name="Shape 10"/>
          <p:cNvSpPr/>
          <p:nvPr/>
        </p:nvSpPr>
        <p:spPr>
          <a:xfrm>
            <a:off x="548640" y="2514600"/>
            <a:ext cx="384048" cy="384048"/>
          </a:xfrm>
          <a:prstGeom prst="ellipse">
            <a:avLst/>
          </a:prstGeom>
          <a:solidFill>
            <a:srgbClr val="1E2761"/>
          </a:solidFill>
          <a:ln/>
        </p:spPr>
        <p:txBody>
          <a:bodyPr/>
          <a:lstStyle/>
          <a:p>
            <a:endParaRPr lang="en-GB"/>
          </a:p>
        </p:txBody>
      </p:sp>
      <p:sp>
        <p:nvSpPr>
          <p:cNvPr id="13" name="Text 11"/>
          <p:cNvSpPr/>
          <p:nvPr/>
        </p:nvSpPr>
        <p:spPr>
          <a:xfrm>
            <a:off x="548640" y="2514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43000" y="2523744"/>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Send exact maths to code, not the model</a:t>
            </a:r>
            <a:endParaRPr lang="en-US" sz="1400" dirty="0"/>
          </a:p>
        </p:txBody>
      </p:sp>
      <p:sp>
        <p:nvSpPr>
          <p:cNvPr id="15" name="Text 13"/>
          <p:cNvSpPr/>
          <p:nvPr/>
        </p:nvSpPr>
        <p:spPr>
          <a:xfrm>
            <a:off x="6583680" y="2542032"/>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deterministic, every time</a:t>
            </a:r>
            <a:endParaRPr lang="en-US" sz="1150" dirty="0"/>
          </a:p>
        </p:txBody>
      </p:sp>
      <p:sp>
        <p:nvSpPr>
          <p:cNvPr id="16" name="Shape 14"/>
          <p:cNvSpPr/>
          <p:nvPr/>
        </p:nvSpPr>
        <p:spPr>
          <a:xfrm>
            <a:off x="548640" y="3118104"/>
            <a:ext cx="384048" cy="384048"/>
          </a:xfrm>
          <a:prstGeom prst="ellipse">
            <a:avLst/>
          </a:prstGeom>
          <a:solidFill>
            <a:srgbClr val="1E2761"/>
          </a:solidFill>
          <a:ln/>
        </p:spPr>
        <p:txBody>
          <a:bodyPr/>
          <a:lstStyle/>
          <a:p>
            <a:endParaRPr lang="en-GB"/>
          </a:p>
        </p:txBody>
      </p:sp>
      <p:sp>
        <p:nvSpPr>
          <p:cNvPr id="17" name="Text 15"/>
          <p:cNvSpPr/>
          <p:nvPr/>
        </p:nvSpPr>
        <p:spPr>
          <a:xfrm>
            <a:off x="548640" y="311810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43000" y="3127248"/>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Brief it like a junior: explicit goals and guardrails</a:t>
            </a:r>
            <a:endParaRPr lang="en-US" sz="1400" dirty="0"/>
          </a:p>
        </p:txBody>
      </p:sp>
      <p:sp>
        <p:nvSpPr>
          <p:cNvPr id="19" name="Text 17"/>
          <p:cNvSpPr/>
          <p:nvPr/>
        </p:nvSpPr>
        <p:spPr>
          <a:xfrm>
            <a:off x="6583680" y="3145536"/>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kills goal-drift</a:t>
            </a:r>
            <a:endParaRPr lang="en-US" sz="1150" dirty="0"/>
          </a:p>
        </p:txBody>
      </p:sp>
      <p:sp>
        <p:nvSpPr>
          <p:cNvPr id="20" name="Shape 18"/>
          <p:cNvSpPr/>
          <p:nvPr/>
        </p:nvSpPr>
        <p:spPr>
          <a:xfrm>
            <a:off x="548640" y="3721608"/>
            <a:ext cx="384048" cy="384048"/>
          </a:xfrm>
          <a:prstGeom prst="ellipse">
            <a:avLst/>
          </a:prstGeom>
          <a:solidFill>
            <a:srgbClr val="1E2761"/>
          </a:solidFill>
          <a:ln/>
        </p:spPr>
        <p:txBody>
          <a:bodyPr/>
          <a:lstStyle/>
          <a:p>
            <a:endParaRPr lang="en-GB"/>
          </a:p>
        </p:txBody>
      </p:sp>
      <p:sp>
        <p:nvSpPr>
          <p:cNvPr id="21" name="Text 19"/>
          <p:cNvSpPr/>
          <p:nvPr/>
        </p:nvSpPr>
        <p:spPr>
          <a:xfrm>
            <a:off x="548640" y="37216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43000" y="3730752"/>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Human sign-off before anything leaves the building</a:t>
            </a:r>
            <a:endParaRPr lang="en-US" sz="1400" dirty="0"/>
          </a:p>
        </p:txBody>
      </p:sp>
      <p:sp>
        <p:nvSpPr>
          <p:cNvPr id="23" name="Text 21"/>
          <p:cNvSpPr/>
          <p:nvPr/>
        </p:nvSpPr>
        <p:spPr>
          <a:xfrm>
            <a:off x="6583680" y="3749040"/>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the analyst owns the call</a:t>
            </a:r>
            <a:endParaRPr lang="en-US" sz="1150" dirty="0"/>
          </a:p>
        </p:txBody>
      </p:sp>
      <p:sp>
        <p:nvSpPr>
          <p:cNvPr id="24" name="Text 22"/>
          <p:cNvSpPr/>
          <p:nvPr/>
        </p:nvSpPr>
        <p:spPr>
          <a:xfrm>
            <a:off x="548640" y="438912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Deterministic where it must reconcile; non-deterministic where judgement helps — use each for what it is good at.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BACKGROUND JOB</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Meanwhile, Claude was working</a:t>
            </a:r>
            <a:endParaRPr lang="en-US" sz="2600" dirty="0"/>
          </a:p>
        </p:txBody>
      </p:sp>
      <p:sp>
        <p:nvSpPr>
          <p:cNvPr id="4" name="Text 2"/>
          <p:cNvSpPr/>
          <p:nvPr/>
        </p:nvSpPr>
        <p:spPr>
          <a:xfrm>
            <a:off x="548640" y="1060704"/>
            <a:ext cx="8046720" cy="292608"/>
          </a:xfrm>
          <a:prstGeom prst="rect">
            <a:avLst/>
          </a:prstGeom>
          <a:noFill/>
          <a:ln/>
        </p:spPr>
        <p:txBody>
          <a:bodyPr wrap="square" lIns="0" tIns="0" rIns="0" bIns="0" rtlCol="0" anchor="ctr"/>
          <a:lstStyle/>
          <a:p>
            <a:pPr marL="0" indent="0">
              <a:buNone/>
            </a:pPr>
            <a:r>
              <a:rPr lang="en-US" sz="1200" i="1" dirty="0">
                <a:solidFill>
                  <a:srgbClr val="5A6478"/>
                </a:solidFill>
                <a:latin typeface="Calibri" pitchFamily="34" charset="0"/>
                <a:ea typeface="Calibri" pitchFamily="34" charset="-122"/>
                <a:cs typeface="Calibri" pitchFamily="34" charset="-120"/>
              </a:rPr>
              <a:t>The prompt from minute 2: "Compare Clicks and Dis-Chem's latest results... cite every number."</a:t>
            </a:r>
            <a:endParaRPr lang="en-US" sz="1200" dirty="0"/>
          </a:p>
        </p:txBody>
      </p:sp>
      <p:sp>
        <p:nvSpPr>
          <p:cNvPr id="5" name="Shape 3"/>
          <p:cNvSpPr/>
          <p:nvPr/>
        </p:nvSpPr>
        <p:spPr>
          <a:xfrm>
            <a:off x="548640" y="1463040"/>
            <a:ext cx="3931920" cy="2514600"/>
          </a:xfrm>
          <a:prstGeom prst="roundRect">
            <a:avLst>
              <a:gd name="adj" fmla="val 2182"/>
            </a:avLst>
          </a:prstGeom>
          <a:solidFill>
            <a:srgbClr val="EEF3FC"/>
          </a:solidFill>
          <a:ln/>
        </p:spPr>
        <p:txBody>
          <a:bodyPr/>
          <a:lstStyle/>
          <a:p>
            <a:endParaRPr lang="en-GB"/>
          </a:p>
        </p:txBody>
      </p:sp>
      <p:sp>
        <p:nvSpPr>
          <p:cNvPr id="6" name="Text 4"/>
          <p:cNvSpPr/>
          <p:nvPr/>
        </p:nvSpPr>
        <p:spPr>
          <a:xfrm>
            <a:off x="777240" y="1627632"/>
            <a:ext cx="3566160" cy="274320"/>
          </a:xfrm>
          <a:prstGeom prst="rect">
            <a:avLst/>
          </a:prstGeom>
          <a:noFill/>
          <a:ln/>
        </p:spPr>
        <p:txBody>
          <a:bodyPr wrap="square" lIns="0" tIns="0" rIns="0" bIns="0" rtlCol="0" anchor="ctr"/>
          <a:lstStyle/>
          <a:p>
            <a:pPr marL="0" indent="0">
              <a:buNone/>
            </a:pPr>
            <a:r>
              <a:rPr lang="en-US" sz="1100" b="1" kern="0" spc="100" dirty="0">
                <a:solidFill>
                  <a:srgbClr val="1E2761"/>
                </a:solidFill>
                <a:latin typeface="Calibri" pitchFamily="34" charset="0"/>
                <a:ea typeface="Calibri" pitchFamily="34" charset="-122"/>
                <a:cs typeface="Calibri" pitchFamily="34" charset="-120"/>
              </a:rPr>
              <a:t>CLICKS — H1 FY2026 (6m to 28 Feb 2026)</a:t>
            </a:r>
            <a:endParaRPr lang="en-US" sz="1100" dirty="0"/>
          </a:p>
        </p:txBody>
      </p:sp>
      <p:sp>
        <p:nvSpPr>
          <p:cNvPr id="7" name="Text 5"/>
          <p:cNvSpPr/>
          <p:nvPr/>
        </p:nvSpPr>
        <p:spPr>
          <a:xfrm>
            <a:off x="777240" y="1975104"/>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Turnover</a:t>
            </a:r>
            <a:endParaRPr lang="en-US" sz="1150" dirty="0"/>
          </a:p>
        </p:txBody>
      </p:sp>
      <p:sp>
        <p:nvSpPr>
          <p:cNvPr id="8" name="Text 6"/>
          <p:cNvSpPr/>
          <p:nvPr/>
        </p:nvSpPr>
        <p:spPr>
          <a:xfrm>
            <a:off x="2331720" y="1975104"/>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R24,872.2m</a:t>
            </a:r>
            <a:endParaRPr lang="en-US" sz="1150" dirty="0"/>
          </a:p>
        </p:txBody>
      </p:sp>
      <p:sp>
        <p:nvSpPr>
          <p:cNvPr id="9" name="Text 7"/>
          <p:cNvSpPr/>
          <p:nvPr/>
        </p:nvSpPr>
        <p:spPr>
          <a:xfrm>
            <a:off x="3611880" y="1975104"/>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+7.4%</a:t>
            </a:r>
            <a:endParaRPr lang="en-US" sz="1150" dirty="0"/>
          </a:p>
        </p:txBody>
      </p:sp>
      <p:sp>
        <p:nvSpPr>
          <p:cNvPr id="10" name="Text 8"/>
          <p:cNvSpPr/>
          <p:nvPr/>
        </p:nvSpPr>
        <p:spPr>
          <a:xfrm>
            <a:off x="777240" y="2359152"/>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Diluted HEPS</a:t>
            </a:r>
            <a:endParaRPr lang="en-US" sz="1150" dirty="0"/>
          </a:p>
        </p:txBody>
      </p:sp>
      <p:sp>
        <p:nvSpPr>
          <p:cNvPr id="11" name="Text 9"/>
          <p:cNvSpPr/>
          <p:nvPr/>
        </p:nvSpPr>
        <p:spPr>
          <a:xfrm>
            <a:off x="2331720" y="2359152"/>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652.8c</a:t>
            </a:r>
            <a:endParaRPr lang="en-US" sz="1150" dirty="0"/>
          </a:p>
        </p:txBody>
      </p:sp>
      <p:sp>
        <p:nvSpPr>
          <p:cNvPr id="12" name="Text 10"/>
          <p:cNvSpPr/>
          <p:nvPr/>
        </p:nvSpPr>
        <p:spPr>
          <a:xfrm>
            <a:off x="3611880" y="2359152"/>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+8.1%</a:t>
            </a:r>
            <a:endParaRPr lang="en-US" sz="1150" dirty="0"/>
          </a:p>
        </p:txBody>
      </p:sp>
      <p:sp>
        <p:nvSpPr>
          <p:cNvPr id="13" name="Text 11"/>
          <p:cNvSpPr/>
          <p:nvPr/>
        </p:nvSpPr>
        <p:spPr>
          <a:xfrm>
            <a:off x="777240" y="2743200"/>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Trading margin</a:t>
            </a:r>
            <a:endParaRPr lang="en-US" sz="1150" dirty="0"/>
          </a:p>
        </p:txBody>
      </p:sp>
      <p:sp>
        <p:nvSpPr>
          <p:cNvPr id="14" name="Text 12"/>
          <p:cNvSpPr/>
          <p:nvPr/>
        </p:nvSpPr>
        <p:spPr>
          <a:xfrm>
            <a:off x="2331720" y="2743200"/>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9.1%</a:t>
            </a:r>
            <a:endParaRPr lang="en-US" sz="1150" dirty="0"/>
          </a:p>
        </p:txBody>
      </p:sp>
      <p:sp>
        <p:nvSpPr>
          <p:cNvPr id="15" name="Text 13"/>
          <p:cNvSpPr/>
          <p:nvPr/>
        </p:nvSpPr>
        <p:spPr>
          <a:xfrm>
            <a:off x="3611880" y="2743200"/>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flat</a:t>
            </a:r>
            <a:endParaRPr lang="en-US" sz="1150" dirty="0"/>
          </a:p>
        </p:txBody>
      </p:sp>
      <p:sp>
        <p:nvSpPr>
          <p:cNvPr id="16" name="Text 14"/>
          <p:cNvSpPr/>
          <p:nvPr/>
        </p:nvSpPr>
        <p:spPr>
          <a:xfrm>
            <a:off x="777240" y="3127248"/>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Interim DPS</a:t>
            </a:r>
            <a:endParaRPr lang="en-US" sz="1150" dirty="0"/>
          </a:p>
        </p:txBody>
      </p:sp>
      <p:sp>
        <p:nvSpPr>
          <p:cNvPr id="17" name="Text 15"/>
          <p:cNvSpPr/>
          <p:nvPr/>
        </p:nvSpPr>
        <p:spPr>
          <a:xfrm>
            <a:off x="2331720" y="3127248"/>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258.0c</a:t>
            </a:r>
            <a:endParaRPr lang="en-US" sz="1150" dirty="0"/>
          </a:p>
        </p:txBody>
      </p:sp>
      <p:sp>
        <p:nvSpPr>
          <p:cNvPr id="18" name="Text 16"/>
          <p:cNvSpPr/>
          <p:nvPr/>
        </p:nvSpPr>
        <p:spPr>
          <a:xfrm>
            <a:off x="3611880" y="3127248"/>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+8.4%</a:t>
            </a:r>
            <a:endParaRPr lang="en-US" sz="1150" dirty="0"/>
          </a:p>
        </p:txBody>
      </p:sp>
      <p:sp>
        <p:nvSpPr>
          <p:cNvPr id="19" name="Text 17"/>
          <p:cNvSpPr/>
          <p:nvPr/>
        </p:nvSpPr>
        <p:spPr>
          <a:xfrm>
            <a:off x="777240" y="3639312"/>
            <a:ext cx="3566160" cy="237744"/>
          </a:xfrm>
          <a:prstGeom prst="rect">
            <a:avLst/>
          </a:prstGeom>
          <a:noFill/>
          <a:ln/>
        </p:spPr>
        <p:txBody>
          <a:bodyPr wrap="square" lIns="0" tIns="0" rIns="0" bIns="0" rtlCol="0" anchor="ctr"/>
          <a:lstStyle/>
          <a:p>
            <a:pPr marL="0" indent="0">
              <a:buNone/>
            </a:pPr>
            <a:r>
              <a:rPr lang="en-US" sz="950" i="1" dirty="0">
                <a:solidFill>
                  <a:srgbClr val="5A6478"/>
                </a:solidFill>
                <a:latin typeface="Calibri" pitchFamily="34" charset="0"/>
                <a:ea typeface="Calibri" pitchFamily="34" charset="-122"/>
                <a:cs typeface="Calibri" pitchFamily="34" charset="-120"/>
              </a:rPr>
              <a:t>per H1 FY2026 interim results</a:t>
            </a:r>
            <a:endParaRPr lang="en-US" sz="950" dirty="0"/>
          </a:p>
        </p:txBody>
      </p:sp>
      <p:sp>
        <p:nvSpPr>
          <p:cNvPr id="20" name="Shape 18"/>
          <p:cNvSpPr/>
          <p:nvPr/>
        </p:nvSpPr>
        <p:spPr>
          <a:xfrm>
            <a:off x="4663440" y="1463040"/>
            <a:ext cx="3931920" cy="2514600"/>
          </a:xfrm>
          <a:prstGeom prst="roundRect">
            <a:avLst>
              <a:gd name="adj" fmla="val 2182"/>
            </a:avLst>
          </a:prstGeom>
          <a:solidFill>
            <a:srgbClr val="EEF3FC"/>
          </a:solidFill>
          <a:ln/>
        </p:spPr>
        <p:txBody>
          <a:bodyPr/>
          <a:lstStyle/>
          <a:p>
            <a:endParaRPr lang="en-GB"/>
          </a:p>
        </p:txBody>
      </p:sp>
      <p:sp>
        <p:nvSpPr>
          <p:cNvPr id="21" name="Text 19"/>
          <p:cNvSpPr/>
          <p:nvPr/>
        </p:nvSpPr>
        <p:spPr>
          <a:xfrm>
            <a:off x="4892040" y="1627632"/>
            <a:ext cx="3566160" cy="274320"/>
          </a:xfrm>
          <a:prstGeom prst="rect">
            <a:avLst/>
          </a:prstGeom>
          <a:noFill/>
          <a:ln/>
        </p:spPr>
        <p:txBody>
          <a:bodyPr wrap="square" lIns="0" tIns="0" rIns="0" bIns="0" rtlCol="0" anchor="ctr"/>
          <a:lstStyle/>
          <a:p>
            <a:pPr marL="0" indent="0">
              <a:buNone/>
            </a:pPr>
            <a:r>
              <a:rPr lang="en-US" sz="1100" b="1" kern="0" spc="100" dirty="0">
                <a:solidFill>
                  <a:srgbClr val="1E2761"/>
                </a:solidFill>
                <a:latin typeface="Calibri" pitchFamily="34" charset="0"/>
                <a:ea typeface="Calibri" pitchFamily="34" charset="-122"/>
                <a:cs typeface="Calibri" pitchFamily="34" charset="-120"/>
              </a:rPr>
              <a:t>DIS-CHEM — FY2026 (12m to 28 Feb 2026)</a:t>
            </a:r>
            <a:endParaRPr lang="en-US" sz="1100" dirty="0"/>
          </a:p>
        </p:txBody>
      </p:sp>
      <p:sp>
        <p:nvSpPr>
          <p:cNvPr id="22" name="Text 20"/>
          <p:cNvSpPr/>
          <p:nvPr/>
        </p:nvSpPr>
        <p:spPr>
          <a:xfrm>
            <a:off x="4892040" y="1975104"/>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Revenue</a:t>
            </a:r>
            <a:endParaRPr lang="en-US" sz="1150" dirty="0"/>
          </a:p>
        </p:txBody>
      </p:sp>
      <p:sp>
        <p:nvSpPr>
          <p:cNvPr id="23" name="Text 21"/>
          <p:cNvSpPr/>
          <p:nvPr/>
        </p:nvSpPr>
        <p:spPr>
          <a:xfrm>
            <a:off x="6446520" y="1975104"/>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R42,825.8m</a:t>
            </a:r>
            <a:endParaRPr lang="en-US" sz="1150" dirty="0"/>
          </a:p>
        </p:txBody>
      </p:sp>
      <p:sp>
        <p:nvSpPr>
          <p:cNvPr id="24" name="Text 22"/>
          <p:cNvSpPr/>
          <p:nvPr/>
        </p:nvSpPr>
        <p:spPr>
          <a:xfrm>
            <a:off x="7726680" y="1975104"/>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+9.3%</a:t>
            </a:r>
            <a:endParaRPr lang="en-US" sz="1150" dirty="0"/>
          </a:p>
        </p:txBody>
      </p:sp>
      <p:sp>
        <p:nvSpPr>
          <p:cNvPr id="25" name="Text 23"/>
          <p:cNvSpPr/>
          <p:nvPr/>
        </p:nvSpPr>
        <p:spPr>
          <a:xfrm>
            <a:off x="4892040" y="2359152"/>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HEPS</a:t>
            </a:r>
            <a:endParaRPr lang="en-US" sz="1150" dirty="0"/>
          </a:p>
        </p:txBody>
      </p:sp>
      <p:sp>
        <p:nvSpPr>
          <p:cNvPr id="26" name="Text 24"/>
          <p:cNvSpPr/>
          <p:nvPr/>
        </p:nvSpPr>
        <p:spPr>
          <a:xfrm>
            <a:off x="6446520" y="2359152"/>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113.7c</a:t>
            </a:r>
            <a:endParaRPr lang="en-US" sz="1150" dirty="0"/>
          </a:p>
        </p:txBody>
      </p:sp>
      <p:sp>
        <p:nvSpPr>
          <p:cNvPr id="27" name="Text 25"/>
          <p:cNvSpPr/>
          <p:nvPr/>
        </p:nvSpPr>
        <p:spPr>
          <a:xfrm>
            <a:off x="7726680" y="2359152"/>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−17.3%</a:t>
            </a:r>
            <a:endParaRPr lang="en-US" sz="1150" dirty="0"/>
          </a:p>
        </p:txBody>
      </p:sp>
      <p:sp>
        <p:nvSpPr>
          <p:cNvPr id="28" name="Text 26"/>
          <p:cNvSpPr/>
          <p:nvPr/>
        </p:nvSpPr>
        <p:spPr>
          <a:xfrm>
            <a:off x="4892040" y="2743200"/>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LFL retail sales</a:t>
            </a:r>
            <a:endParaRPr lang="en-US" sz="1150" dirty="0"/>
          </a:p>
        </p:txBody>
      </p:sp>
      <p:sp>
        <p:nvSpPr>
          <p:cNvPr id="29" name="Text 27"/>
          <p:cNvSpPr/>
          <p:nvPr/>
        </p:nvSpPr>
        <p:spPr>
          <a:xfrm>
            <a:off x="6446520" y="2743200"/>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+5.3%</a:t>
            </a:r>
            <a:endParaRPr lang="en-US" sz="1150" dirty="0"/>
          </a:p>
        </p:txBody>
      </p:sp>
      <p:sp>
        <p:nvSpPr>
          <p:cNvPr id="30" name="Text 28"/>
          <p:cNvSpPr/>
          <p:nvPr/>
        </p:nvSpPr>
        <p:spPr>
          <a:xfrm>
            <a:off x="7726680" y="2743200"/>
            <a:ext cx="731520" cy="310896"/>
          </a:xfrm>
          <a:prstGeom prst="rect">
            <a:avLst/>
          </a:prstGeom>
          <a:noFill/>
          <a:ln/>
        </p:spPr>
        <p:txBody>
          <a:bodyPr wrap="square" lIns="0" tIns="0" rIns="0" bIns="0" rtlCol="0" anchor="ctr"/>
          <a:lstStyle/>
          <a:p>
            <a:pPr marL="0" indent="0" algn="r">
              <a:buNone/>
            </a:pPr>
            <a:endParaRPr lang="en-US" sz="1150" dirty="0"/>
          </a:p>
        </p:txBody>
      </p:sp>
      <p:sp>
        <p:nvSpPr>
          <p:cNvPr id="31" name="Text 29"/>
          <p:cNvSpPr/>
          <p:nvPr/>
        </p:nvSpPr>
        <p:spPr>
          <a:xfrm>
            <a:off x="4892040" y="3127248"/>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Final DPS</a:t>
            </a:r>
            <a:endParaRPr lang="en-US" sz="1150" dirty="0"/>
          </a:p>
        </p:txBody>
      </p:sp>
      <p:sp>
        <p:nvSpPr>
          <p:cNvPr id="32" name="Text 30"/>
          <p:cNvSpPr/>
          <p:nvPr/>
        </p:nvSpPr>
        <p:spPr>
          <a:xfrm>
            <a:off x="6446520" y="3127248"/>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15.9c</a:t>
            </a:r>
            <a:endParaRPr lang="en-US" sz="1150" dirty="0"/>
          </a:p>
        </p:txBody>
      </p:sp>
      <p:sp>
        <p:nvSpPr>
          <p:cNvPr id="33" name="Text 31"/>
          <p:cNvSpPr/>
          <p:nvPr/>
        </p:nvSpPr>
        <p:spPr>
          <a:xfrm>
            <a:off x="7726680" y="3127248"/>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−42.8%</a:t>
            </a:r>
            <a:endParaRPr lang="en-US" sz="1150" dirty="0"/>
          </a:p>
        </p:txBody>
      </p:sp>
      <p:sp>
        <p:nvSpPr>
          <p:cNvPr id="34" name="Text 32"/>
          <p:cNvSpPr/>
          <p:nvPr/>
        </p:nvSpPr>
        <p:spPr>
          <a:xfrm>
            <a:off x="4892040" y="3639312"/>
            <a:ext cx="3566160" cy="237744"/>
          </a:xfrm>
          <a:prstGeom prst="rect">
            <a:avLst/>
          </a:prstGeom>
          <a:noFill/>
          <a:ln/>
        </p:spPr>
        <p:txBody>
          <a:bodyPr wrap="square" lIns="0" tIns="0" rIns="0" bIns="0" rtlCol="0" anchor="ctr"/>
          <a:lstStyle/>
          <a:p>
            <a:pPr marL="0" indent="0">
              <a:buNone/>
            </a:pPr>
            <a:r>
              <a:rPr lang="en-US" sz="950" i="1" dirty="0">
                <a:solidFill>
                  <a:srgbClr val="5A6478"/>
                </a:solidFill>
                <a:latin typeface="Calibri" pitchFamily="34" charset="0"/>
                <a:ea typeface="Calibri" pitchFamily="34" charset="-122"/>
                <a:cs typeface="Calibri" pitchFamily="34" charset="-120"/>
              </a:rPr>
              <a:t>per FY2026 audited AFS &amp; results presentation</a:t>
            </a:r>
            <a:endParaRPr lang="en-US" sz="950" dirty="0"/>
          </a:p>
        </p:txBody>
      </p:sp>
      <p:sp>
        <p:nvSpPr>
          <p:cNvPr id="35" name="Text 33"/>
          <p:cNvSpPr/>
          <p:nvPr/>
        </p:nvSpPr>
        <p:spPr>
          <a:xfrm>
            <a:off x="548640" y="4206240"/>
            <a:ext cx="8046720" cy="502920"/>
          </a:xfrm>
          <a:prstGeom prst="rect">
            <a:avLst/>
          </a:prstGeom>
          <a:noFill/>
          <a:ln/>
        </p:spPr>
        <p:txBody>
          <a:bodyPr wrap="square" lIns="0" tIns="0" rIns="0" bIns="0" rtlCol="0" anchor="ctr"/>
          <a:lstStyle/>
          <a:p>
            <a:pPr marL="0" indent="0">
              <a:buNone/>
            </a:pPr>
            <a:r>
              <a:rPr lang="en-US" sz="1200" i="1" dirty="0">
                <a:solidFill>
                  <a:srgbClr val="1E2761"/>
                </a:solidFill>
                <a:latin typeface="Calibri" pitchFamily="34" charset="0"/>
                <a:ea typeface="Calibri" pitchFamily="34" charset="-122"/>
                <a:cs typeface="Calibri" pitchFamily="34" charset="-120"/>
              </a:rPr>
              <a:t>Reporting periods differ (six vs twelve months, both to 28 February 2026) — a caveat Claude raised itself, with every figure cited to document and page.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CLAUDE 101</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Connectors: plug into your tools</a:t>
            </a:r>
            <a:endParaRPr lang="en-US" sz="2600" dirty="0"/>
          </a:p>
        </p:txBody>
      </p:sp>
      <p:sp>
        <p:nvSpPr>
          <p:cNvPr id="4" name="Shape 2"/>
          <p:cNvSpPr/>
          <p:nvPr/>
        </p:nvSpPr>
        <p:spPr>
          <a:xfrm>
            <a:off x="548640" y="1280160"/>
            <a:ext cx="1947672" cy="2148840"/>
          </a:xfrm>
          <a:prstGeom prst="roundRect">
            <a:avLst>
              <a:gd name="adj" fmla="val 2817"/>
            </a:avLst>
          </a:prstGeom>
          <a:solidFill>
            <a:srgbClr val="EEF3FC"/>
          </a:solidFill>
          <a:ln/>
        </p:spPr>
        <p:txBody>
          <a:bodyPr/>
          <a:lstStyle/>
          <a:p>
            <a:endParaRPr lang="en-GB"/>
          </a:p>
        </p:txBody>
      </p:sp>
      <p:sp>
        <p:nvSpPr>
          <p:cNvPr id="5" name="Shape 3"/>
          <p:cNvSpPr/>
          <p:nvPr/>
        </p:nvSpPr>
        <p:spPr>
          <a:xfrm>
            <a:off x="749808" y="1517904"/>
            <a:ext cx="438912" cy="438912"/>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855147" y="1623243"/>
            <a:ext cx="228234" cy="228234"/>
          </a:xfrm>
          <a:prstGeom prst="rect">
            <a:avLst/>
          </a:prstGeom>
        </p:spPr>
      </p:pic>
      <p:sp>
        <p:nvSpPr>
          <p:cNvPr id="7" name="Text 4"/>
          <p:cNvSpPr/>
          <p:nvPr/>
        </p:nvSpPr>
        <p:spPr>
          <a:xfrm>
            <a:off x="749808" y="2103120"/>
            <a:ext cx="1600200" cy="292608"/>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SharePoint</a:t>
            </a:r>
            <a:endParaRPr lang="en-US" sz="1400" dirty="0"/>
          </a:p>
        </p:txBody>
      </p:sp>
      <p:sp>
        <p:nvSpPr>
          <p:cNvPr id="8" name="Text 5"/>
          <p:cNvSpPr/>
          <p:nvPr/>
        </p:nvSpPr>
        <p:spPr>
          <a:xfrm>
            <a:off x="749808" y="2414016"/>
            <a:ext cx="1600200" cy="914400"/>
          </a:xfrm>
          <a:prstGeom prst="rect">
            <a:avLst/>
          </a:prstGeom>
          <a:noFill/>
          <a:ln/>
        </p:spPr>
        <p:txBody>
          <a:bodyPr wrap="square" lIns="0" tIns="0" rIns="0" bIns="0" rtlCol="0" anchor="ctr"/>
          <a:lstStyle/>
          <a:p>
            <a:pPr marL="0" indent="0">
              <a:buNone/>
            </a:pPr>
            <a:r>
              <a:rPr lang="en-US" sz="1050" dirty="0">
                <a:solidFill>
                  <a:srgbClr val="1A2238"/>
                </a:solidFill>
                <a:latin typeface="Calibri" pitchFamily="34" charset="0"/>
                <a:ea typeface="Calibri" pitchFamily="34" charset="-122"/>
                <a:cs typeface="Calibri" pitchFamily="34" charset="-120"/>
              </a:rPr>
              <a:t>Internal research, models and notes — read in place</a:t>
            </a:r>
            <a:endParaRPr lang="en-US" sz="1050" dirty="0"/>
          </a:p>
        </p:txBody>
      </p:sp>
      <p:sp>
        <p:nvSpPr>
          <p:cNvPr id="9" name="Shape 6"/>
          <p:cNvSpPr/>
          <p:nvPr/>
        </p:nvSpPr>
        <p:spPr>
          <a:xfrm>
            <a:off x="2679192" y="1280160"/>
            <a:ext cx="1947672" cy="2148840"/>
          </a:xfrm>
          <a:prstGeom prst="roundRect">
            <a:avLst>
              <a:gd name="adj" fmla="val 2817"/>
            </a:avLst>
          </a:prstGeom>
          <a:solidFill>
            <a:srgbClr val="EEF3FC"/>
          </a:solidFill>
          <a:ln/>
        </p:spPr>
        <p:txBody>
          <a:bodyPr/>
          <a:lstStyle/>
          <a:p>
            <a:endParaRPr lang="en-GB"/>
          </a:p>
        </p:txBody>
      </p:sp>
      <p:sp>
        <p:nvSpPr>
          <p:cNvPr id="10" name="Shape 7"/>
          <p:cNvSpPr/>
          <p:nvPr/>
        </p:nvSpPr>
        <p:spPr>
          <a:xfrm>
            <a:off x="2880360" y="1517904"/>
            <a:ext cx="438912" cy="438912"/>
          </a:xfrm>
          <a:prstGeom prst="ellipse">
            <a:avLst/>
          </a:prstGeom>
          <a:solidFill>
            <a:srgbClr val="1E2761"/>
          </a:solidFill>
          <a:ln/>
        </p:spPr>
        <p:txBody>
          <a:bodyPr/>
          <a:lstStyle/>
          <a:p>
            <a:endParaRPr lang="en-GB"/>
          </a:p>
        </p:txBody>
      </p:sp>
      <p:pic>
        <p:nvPicPr>
          <p:cNvPr id="11" name="Image 1" descr="preencoded.png"/>
          <p:cNvPicPr>
            <a:picLocks noChangeAspect="1"/>
          </p:cNvPicPr>
          <p:nvPr/>
        </p:nvPicPr>
        <p:blipFill>
          <a:blip r:embed="rId4"/>
          <a:stretch>
            <a:fillRect/>
          </a:stretch>
        </p:blipFill>
        <p:spPr>
          <a:xfrm>
            <a:off x="2985699" y="1623243"/>
            <a:ext cx="228234" cy="228234"/>
          </a:xfrm>
          <a:prstGeom prst="rect">
            <a:avLst/>
          </a:prstGeom>
        </p:spPr>
      </p:pic>
      <p:sp>
        <p:nvSpPr>
          <p:cNvPr id="12" name="Text 8"/>
          <p:cNvSpPr/>
          <p:nvPr/>
        </p:nvSpPr>
        <p:spPr>
          <a:xfrm>
            <a:off x="2880360" y="2103120"/>
            <a:ext cx="1600200" cy="292608"/>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Outlook</a:t>
            </a:r>
            <a:endParaRPr lang="en-US" sz="1400" dirty="0"/>
          </a:p>
        </p:txBody>
      </p:sp>
      <p:sp>
        <p:nvSpPr>
          <p:cNvPr id="13" name="Text 9"/>
          <p:cNvSpPr/>
          <p:nvPr/>
        </p:nvSpPr>
        <p:spPr>
          <a:xfrm>
            <a:off x="2880360" y="2414016"/>
            <a:ext cx="1600200" cy="914400"/>
          </a:xfrm>
          <a:prstGeom prst="rect">
            <a:avLst/>
          </a:prstGeom>
          <a:noFill/>
          <a:ln/>
        </p:spPr>
        <p:txBody>
          <a:bodyPr wrap="square" lIns="0" tIns="0" rIns="0" bIns="0" rtlCol="0" anchor="ctr"/>
          <a:lstStyle/>
          <a:p>
            <a:pPr marL="0" indent="0">
              <a:buNone/>
            </a:pPr>
            <a:r>
              <a:rPr lang="en-US" sz="1050" dirty="0">
                <a:solidFill>
                  <a:srgbClr val="1A2238"/>
                </a:solidFill>
                <a:latin typeface="Calibri" pitchFamily="34" charset="0"/>
                <a:ea typeface="Calibri" pitchFamily="34" charset="-122"/>
                <a:cs typeface="Calibri" pitchFamily="34" charset="-120"/>
              </a:rPr>
              <a:t>Broker notes and results emails</a:t>
            </a:r>
            <a:endParaRPr lang="en-US" sz="1050" dirty="0"/>
          </a:p>
        </p:txBody>
      </p:sp>
      <p:sp>
        <p:nvSpPr>
          <p:cNvPr id="14" name="Shape 10"/>
          <p:cNvSpPr/>
          <p:nvPr/>
        </p:nvSpPr>
        <p:spPr>
          <a:xfrm>
            <a:off x="4809744" y="1280160"/>
            <a:ext cx="1947672" cy="2148840"/>
          </a:xfrm>
          <a:prstGeom prst="roundRect">
            <a:avLst>
              <a:gd name="adj" fmla="val 2817"/>
            </a:avLst>
          </a:prstGeom>
          <a:solidFill>
            <a:srgbClr val="EEF3FC"/>
          </a:solidFill>
          <a:ln/>
        </p:spPr>
        <p:txBody>
          <a:bodyPr/>
          <a:lstStyle/>
          <a:p>
            <a:endParaRPr lang="en-GB"/>
          </a:p>
        </p:txBody>
      </p:sp>
      <p:sp>
        <p:nvSpPr>
          <p:cNvPr id="15" name="Shape 11"/>
          <p:cNvSpPr/>
          <p:nvPr/>
        </p:nvSpPr>
        <p:spPr>
          <a:xfrm>
            <a:off x="5010912" y="1517904"/>
            <a:ext cx="438912" cy="438912"/>
          </a:xfrm>
          <a:prstGeom prst="ellipse">
            <a:avLst/>
          </a:prstGeom>
          <a:solidFill>
            <a:srgbClr val="1E2761"/>
          </a:solidFill>
          <a:ln/>
        </p:spPr>
        <p:txBody>
          <a:bodyPr/>
          <a:lstStyle/>
          <a:p>
            <a:endParaRPr lang="en-GB"/>
          </a:p>
        </p:txBody>
      </p:sp>
      <p:pic>
        <p:nvPicPr>
          <p:cNvPr id="16" name="Image 2" descr="preencoded.png"/>
          <p:cNvPicPr>
            <a:picLocks noChangeAspect="1"/>
          </p:cNvPicPr>
          <p:nvPr/>
        </p:nvPicPr>
        <p:blipFill>
          <a:blip r:embed="rId5"/>
          <a:stretch>
            <a:fillRect/>
          </a:stretch>
        </p:blipFill>
        <p:spPr>
          <a:xfrm>
            <a:off x="5116251" y="1623243"/>
            <a:ext cx="228234" cy="228234"/>
          </a:xfrm>
          <a:prstGeom prst="rect">
            <a:avLst/>
          </a:prstGeom>
        </p:spPr>
      </p:pic>
      <p:sp>
        <p:nvSpPr>
          <p:cNvPr id="17" name="Text 12"/>
          <p:cNvSpPr/>
          <p:nvPr/>
        </p:nvSpPr>
        <p:spPr>
          <a:xfrm>
            <a:off x="5010912" y="2103120"/>
            <a:ext cx="1600200" cy="292608"/>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Teams</a:t>
            </a:r>
            <a:endParaRPr lang="en-US" sz="1400" dirty="0"/>
          </a:p>
        </p:txBody>
      </p:sp>
      <p:sp>
        <p:nvSpPr>
          <p:cNvPr id="18" name="Text 13"/>
          <p:cNvSpPr/>
          <p:nvPr/>
        </p:nvSpPr>
        <p:spPr>
          <a:xfrm>
            <a:off x="5010912" y="2414016"/>
            <a:ext cx="1600200" cy="914400"/>
          </a:xfrm>
          <a:prstGeom prst="rect">
            <a:avLst/>
          </a:prstGeom>
          <a:noFill/>
          <a:ln/>
        </p:spPr>
        <p:txBody>
          <a:bodyPr wrap="square" lIns="0" tIns="0" rIns="0" bIns="0" rtlCol="0" anchor="ctr"/>
          <a:lstStyle/>
          <a:p>
            <a:pPr marL="0" indent="0">
              <a:buNone/>
            </a:pPr>
            <a:r>
              <a:rPr lang="en-US" sz="1050" dirty="0">
                <a:solidFill>
                  <a:srgbClr val="1A2238"/>
                </a:solidFill>
                <a:latin typeface="Calibri" pitchFamily="34" charset="0"/>
                <a:ea typeface="Calibri" pitchFamily="34" charset="-122"/>
                <a:cs typeface="Calibri" pitchFamily="34" charset="-120"/>
              </a:rPr>
              <a:t>Flag material findings to the desk</a:t>
            </a:r>
            <a:endParaRPr lang="en-US" sz="1050" dirty="0"/>
          </a:p>
        </p:txBody>
      </p:sp>
      <p:sp>
        <p:nvSpPr>
          <p:cNvPr id="19" name="Shape 14"/>
          <p:cNvSpPr/>
          <p:nvPr/>
        </p:nvSpPr>
        <p:spPr>
          <a:xfrm>
            <a:off x="6940296" y="1280160"/>
            <a:ext cx="1947672" cy="2148840"/>
          </a:xfrm>
          <a:prstGeom prst="roundRect">
            <a:avLst>
              <a:gd name="adj" fmla="val 2817"/>
            </a:avLst>
          </a:prstGeom>
          <a:solidFill>
            <a:srgbClr val="EEF3FC"/>
          </a:solidFill>
          <a:ln/>
        </p:spPr>
        <p:txBody>
          <a:bodyPr/>
          <a:lstStyle/>
          <a:p>
            <a:endParaRPr lang="en-GB"/>
          </a:p>
        </p:txBody>
      </p:sp>
      <p:sp>
        <p:nvSpPr>
          <p:cNvPr id="20" name="Shape 15"/>
          <p:cNvSpPr/>
          <p:nvPr/>
        </p:nvSpPr>
        <p:spPr>
          <a:xfrm>
            <a:off x="7141464" y="1517904"/>
            <a:ext cx="438912" cy="438912"/>
          </a:xfrm>
          <a:prstGeom prst="ellipse">
            <a:avLst/>
          </a:prstGeom>
          <a:solidFill>
            <a:srgbClr val="1E2761"/>
          </a:solidFill>
          <a:ln/>
        </p:spPr>
        <p:txBody>
          <a:bodyPr/>
          <a:lstStyle/>
          <a:p>
            <a:endParaRPr lang="en-GB"/>
          </a:p>
        </p:txBody>
      </p:sp>
      <p:pic>
        <p:nvPicPr>
          <p:cNvPr id="21" name="Image 3" descr="preencoded.png"/>
          <p:cNvPicPr>
            <a:picLocks noChangeAspect="1"/>
          </p:cNvPicPr>
          <p:nvPr/>
        </p:nvPicPr>
        <p:blipFill>
          <a:blip r:embed="rId6"/>
          <a:stretch>
            <a:fillRect/>
          </a:stretch>
        </p:blipFill>
        <p:spPr>
          <a:xfrm>
            <a:off x="7246803" y="1623243"/>
            <a:ext cx="228234" cy="228234"/>
          </a:xfrm>
          <a:prstGeom prst="rect">
            <a:avLst/>
          </a:prstGeom>
        </p:spPr>
      </p:pic>
      <p:sp>
        <p:nvSpPr>
          <p:cNvPr id="22" name="Text 16"/>
          <p:cNvSpPr/>
          <p:nvPr/>
        </p:nvSpPr>
        <p:spPr>
          <a:xfrm>
            <a:off x="7141464" y="2103120"/>
            <a:ext cx="1600200" cy="292608"/>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Bloomberg</a:t>
            </a:r>
            <a:endParaRPr lang="en-US" sz="1400" dirty="0"/>
          </a:p>
        </p:txBody>
      </p:sp>
      <p:sp>
        <p:nvSpPr>
          <p:cNvPr id="23" name="Text 17"/>
          <p:cNvSpPr/>
          <p:nvPr/>
        </p:nvSpPr>
        <p:spPr>
          <a:xfrm>
            <a:off x="7141464" y="2414016"/>
            <a:ext cx="1600200" cy="914400"/>
          </a:xfrm>
          <a:prstGeom prst="rect">
            <a:avLst/>
          </a:prstGeom>
          <a:noFill/>
          <a:ln/>
        </p:spPr>
        <p:txBody>
          <a:bodyPr wrap="square" lIns="0" tIns="0" rIns="0" bIns="0" rtlCol="0" anchor="ctr"/>
          <a:lstStyle/>
          <a:p>
            <a:pPr marL="0" indent="0">
              <a:buNone/>
            </a:pPr>
            <a:r>
              <a:rPr lang="en-US" sz="1050" dirty="0">
                <a:solidFill>
                  <a:srgbClr val="1A2238"/>
                </a:solidFill>
                <a:latin typeface="Calibri" pitchFamily="34" charset="0"/>
                <a:ea typeface="Calibri" pitchFamily="34" charset="-122"/>
                <a:cs typeface="Calibri" pitchFamily="34" charset="-120"/>
              </a:rPr>
              <a:t>Pricing and consensus (where licensed)</a:t>
            </a:r>
            <a:endParaRPr lang="en-US" sz="1050" dirty="0"/>
          </a:p>
        </p:txBody>
      </p:sp>
      <p:sp>
        <p:nvSpPr>
          <p:cNvPr id="24" name="Text 18"/>
          <p:cNvSpPr/>
          <p:nvPr/>
        </p:nvSpPr>
        <p:spPr>
          <a:xfrm>
            <a:off x="548640" y="3794760"/>
            <a:ext cx="8046720" cy="320040"/>
          </a:xfrm>
          <a:prstGeom prst="rect">
            <a:avLst/>
          </a:prstGeom>
          <a:noFill/>
          <a:ln/>
        </p:spPr>
        <p:txBody>
          <a:bodyPr wrap="square" lIns="0" tIns="0" rIns="0" bIns="0" rtlCol="0" anchor="ctr"/>
          <a:lstStyle/>
          <a:p>
            <a:pPr marL="0" indent="0">
              <a:buNone/>
            </a:pPr>
            <a:r>
              <a:rPr lang="en-US" sz="1300" dirty="0">
                <a:solidFill>
                  <a:srgbClr val="5A6478"/>
                </a:solidFill>
                <a:latin typeface="Calibri" pitchFamily="34" charset="0"/>
                <a:ea typeface="Calibri" pitchFamily="34" charset="-122"/>
                <a:cs typeface="Calibri" pitchFamily="34" charset="-120"/>
              </a:rPr>
              <a:t>Connected once by an admin. Afterwards Claude can cite internal models alongside public filings.</a:t>
            </a:r>
            <a:endParaRPr lang="en-US" sz="1300" dirty="0"/>
          </a:p>
        </p:txBody>
      </p:sp>
      <p:sp>
        <p:nvSpPr>
          <p:cNvPr id="25" name="Text 19"/>
          <p:cNvSpPr/>
          <p:nvPr/>
        </p:nvSpPr>
        <p:spPr>
          <a:xfrm>
            <a:off x="548640" y="4160520"/>
            <a:ext cx="8046720" cy="320040"/>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For AllWeather, SharePoint becomes the system of record — detail in the roadmap.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LIVE DEMO</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Building or Updating a skill (with help from Claude)</a:t>
            </a:r>
            <a:endParaRPr lang="en-US" sz="2000" dirty="0"/>
          </a:p>
        </p:txBody>
      </p:sp>
      <p:sp>
        <p:nvSpPr>
          <p:cNvPr id="4" name="Text 2"/>
          <p:cNvSpPr/>
          <p:nvPr/>
        </p:nvSpPr>
        <p:spPr>
          <a:xfrm>
            <a:off x="548640" y="1188720"/>
            <a:ext cx="8046720" cy="3200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Your idea, in one paragraph of plain English (let's write a few together):</a:t>
            </a:r>
            <a:endParaRPr lang="en-US" sz="1400" dirty="0"/>
          </a:p>
        </p:txBody>
      </p:sp>
      <p:sp>
        <p:nvSpPr>
          <p:cNvPr id="5" name="Shape 3"/>
          <p:cNvSpPr/>
          <p:nvPr/>
        </p:nvSpPr>
        <p:spPr>
          <a:xfrm>
            <a:off x="548640" y="1538715"/>
            <a:ext cx="8046720" cy="974372"/>
          </a:xfrm>
          <a:prstGeom prst="roundRect">
            <a:avLst>
              <a:gd name="adj" fmla="val 3158"/>
            </a:avLst>
          </a:prstGeom>
          <a:solidFill>
            <a:srgbClr val="CADCFC"/>
          </a:solidFill>
          <a:ln/>
        </p:spPr>
        <p:txBody>
          <a:bodyPr/>
          <a:lstStyle/>
          <a:p>
            <a:endParaRPr lang="en-GB"/>
          </a:p>
        </p:txBody>
      </p:sp>
      <p:sp>
        <p:nvSpPr>
          <p:cNvPr id="6" name="Text 4"/>
          <p:cNvSpPr/>
          <p:nvPr/>
        </p:nvSpPr>
        <p:spPr>
          <a:xfrm>
            <a:off x="868680" y="1544449"/>
            <a:ext cx="7406640" cy="968638"/>
          </a:xfrm>
          <a:prstGeom prst="rect">
            <a:avLst/>
          </a:prstGeom>
          <a:noFill/>
          <a:ln/>
        </p:spPr>
        <p:txBody>
          <a:bodyPr wrap="square" lIns="0" tIns="0" rIns="0" bIns="0" rtlCol="0" anchor="ctr"/>
          <a:lstStyle/>
          <a:p>
            <a:r>
              <a:rPr lang="en-US" sz="1400" i="1" dirty="0">
                <a:solidFill>
                  <a:srgbClr val="1A2238"/>
                </a:solidFill>
                <a:ea typeface="Georgia" pitchFamily="34" charset="-122"/>
                <a:cs typeface="Georgia" pitchFamily="34" charset="-120"/>
              </a:rPr>
              <a:t>"</a:t>
            </a:r>
            <a:r>
              <a:rPr lang="en-GB" sz="1400" dirty="0"/>
              <a:t>Extend our general JSE financial-report skill with modular "sector overlay“ bolt-</a:t>
            </a:r>
            <a:r>
              <a:rPr lang="en-GB" sz="1400" dirty="0" err="1"/>
              <a:t>ons</a:t>
            </a:r>
            <a:r>
              <a:rPr lang="en-GB" sz="1400" dirty="0"/>
              <a:t> — industry-specific </a:t>
            </a:r>
            <a:r>
              <a:rPr lang="en-GB" sz="1400" dirty="0" err="1"/>
              <a:t>NAVc</a:t>
            </a:r>
            <a:r>
              <a:rPr lang="en-GB" sz="1400" dirty="0"/>
              <a:t> KPIs that don't duplicate the core. Use mining (AISC, grade, recovery, reserve life, P/) as the worked example: show the architecture and what's possible. Grill me to ensure that our goals are aligned.</a:t>
            </a:r>
            <a:r>
              <a:rPr lang="en-US" sz="1400" i="1" dirty="0">
                <a:solidFill>
                  <a:srgbClr val="1A2238"/>
                </a:solidFill>
                <a:ea typeface="Georgia" pitchFamily="34" charset="-122"/>
                <a:cs typeface="Georgia" pitchFamily="34" charset="-120"/>
              </a:rPr>
              <a:t>"</a:t>
            </a:r>
            <a:endParaRPr lang="en-US" sz="1400" dirty="0"/>
          </a:p>
        </p:txBody>
      </p:sp>
      <p:sp>
        <p:nvSpPr>
          <p:cNvPr id="8" name="Shape 3">
            <a:extLst>
              <a:ext uri="{FF2B5EF4-FFF2-40B4-BE49-F238E27FC236}">
                <a16:creationId xmlns:a16="http://schemas.microsoft.com/office/drawing/2014/main" id="{35B5151F-D508-A7CF-B4F2-A6A70F30C388}"/>
              </a:ext>
            </a:extLst>
          </p:cNvPr>
          <p:cNvSpPr/>
          <p:nvPr/>
        </p:nvSpPr>
        <p:spPr>
          <a:xfrm>
            <a:off x="548640" y="2614467"/>
            <a:ext cx="8046720" cy="833053"/>
          </a:xfrm>
          <a:prstGeom prst="roundRect">
            <a:avLst>
              <a:gd name="adj" fmla="val 3158"/>
            </a:avLst>
          </a:prstGeom>
          <a:solidFill>
            <a:srgbClr val="CADCFC"/>
          </a:solidFill>
          <a:ln/>
        </p:spPr>
        <p:txBody>
          <a:bodyPr/>
          <a:lstStyle/>
          <a:p>
            <a:endParaRPr lang="en-GB"/>
          </a:p>
        </p:txBody>
      </p:sp>
      <p:sp>
        <p:nvSpPr>
          <p:cNvPr id="9" name="Text 4">
            <a:extLst>
              <a:ext uri="{FF2B5EF4-FFF2-40B4-BE49-F238E27FC236}">
                <a16:creationId xmlns:a16="http://schemas.microsoft.com/office/drawing/2014/main" id="{8B19882B-0679-0F49-66A5-676EC5433C67}"/>
              </a:ext>
            </a:extLst>
          </p:cNvPr>
          <p:cNvSpPr/>
          <p:nvPr/>
        </p:nvSpPr>
        <p:spPr>
          <a:xfrm>
            <a:off x="868680" y="2623954"/>
            <a:ext cx="7406640" cy="823566"/>
          </a:xfrm>
          <a:prstGeom prst="rect">
            <a:avLst/>
          </a:prstGeom>
          <a:noFill/>
          <a:ln/>
        </p:spPr>
        <p:txBody>
          <a:bodyPr wrap="square" lIns="0" tIns="0" rIns="0" bIns="0" rtlCol="0" anchor="ctr"/>
          <a:lstStyle/>
          <a:p>
            <a:r>
              <a:rPr lang="en-GB" sz="1400" dirty="0"/>
              <a:t>“Augment the existing JSE analyst skill to look for company announcements, identify positive negative verbiage to determine sentiment, likely to lead to earnings improvements or downgrades or changes in market share. Grill me to ensure that our goals are aligned.”</a:t>
            </a:r>
          </a:p>
        </p:txBody>
      </p:sp>
      <p:sp>
        <p:nvSpPr>
          <p:cNvPr id="10" name="Shape 3">
            <a:extLst>
              <a:ext uri="{FF2B5EF4-FFF2-40B4-BE49-F238E27FC236}">
                <a16:creationId xmlns:a16="http://schemas.microsoft.com/office/drawing/2014/main" id="{681B6C97-08B2-971D-475D-9B242346933A}"/>
              </a:ext>
            </a:extLst>
          </p:cNvPr>
          <p:cNvSpPr/>
          <p:nvPr/>
        </p:nvSpPr>
        <p:spPr>
          <a:xfrm>
            <a:off x="548640" y="3558647"/>
            <a:ext cx="8046720" cy="731705"/>
          </a:xfrm>
          <a:prstGeom prst="roundRect">
            <a:avLst>
              <a:gd name="adj" fmla="val 3158"/>
            </a:avLst>
          </a:prstGeom>
          <a:solidFill>
            <a:srgbClr val="CADCFC"/>
          </a:solidFill>
          <a:ln/>
        </p:spPr>
        <p:txBody>
          <a:bodyPr/>
          <a:lstStyle/>
          <a:p>
            <a:endParaRPr lang="en-GB"/>
          </a:p>
        </p:txBody>
      </p:sp>
      <p:sp>
        <p:nvSpPr>
          <p:cNvPr id="11" name="Text 4">
            <a:extLst>
              <a:ext uri="{FF2B5EF4-FFF2-40B4-BE49-F238E27FC236}">
                <a16:creationId xmlns:a16="http://schemas.microsoft.com/office/drawing/2014/main" id="{0C0F029B-1BB9-713D-E6F3-DB4592E90D00}"/>
              </a:ext>
            </a:extLst>
          </p:cNvPr>
          <p:cNvSpPr/>
          <p:nvPr/>
        </p:nvSpPr>
        <p:spPr>
          <a:xfrm>
            <a:off x="868680" y="3564381"/>
            <a:ext cx="7406640" cy="670108"/>
          </a:xfrm>
          <a:prstGeom prst="rect">
            <a:avLst/>
          </a:prstGeom>
          <a:noFill/>
          <a:ln/>
        </p:spPr>
        <p:txBody>
          <a:bodyPr wrap="square" lIns="0" tIns="0" rIns="0" bIns="0" rtlCol="0" anchor="ctr"/>
          <a:lstStyle/>
          <a:p>
            <a:r>
              <a:rPr lang="en-GB" sz="1400" dirty="0"/>
              <a:t>I want to customise the JSE analyst skill for </a:t>
            </a:r>
            <a:r>
              <a:rPr lang="en-GB" sz="1400" dirty="0" err="1"/>
              <a:t>AllWeather</a:t>
            </a:r>
            <a:r>
              <a:rPr lang="en-GB" sz="1400" dirty="0"/>
              <a:t>. Our tagline is "Investing in positive outcomes," and I want every analysis to reflect that philosophy.</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LIVE DEMO</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Watch it come to life</a:t>
            </a:r>
            <a:endParaRPr lang="en-US" sz="2600" dirty="0"/>
          </a:p>
        </p:txBody>
      </p:sp>
      <p:sp>
        <p:nvSpPr>
          <p:cNvPr id="4" name="Shape 2"/>
          <p:cNvSpPr/>
          <p:nvPr/>
        </p:nvSpPr>
        <p:spPr>
          <a:xfrm>
            <a:off x="548640" y="1417320"/>
            <a:ext cx="420624" cy="420624"/>
          </a:xfrm>
          <a:prstGeom prst="ellipse">
            <a:avLst/>
          </a:prstGeom>
          <a:solidFill>
            <a:srgbClr val="C9A227"/>
          </a:solidFill>
          <a:ln/>
        </p:spPr>
        <p:txBody>
          <a:bodyPr/>
          <a:lstStyle/>
          <a:p>
            <a:endParaRPr lang="en-GB"/>
          </a:p>
        </p:txBody>
      </p:sp>
      <p:sp>
        <p:nvSpPr>
          <p:cNvPr id="5" name="Text 3"/>
          <p:cNvSpPr/>
          <p:nvPr/>
        </p:nvSpPr>
        <p:spPr>
          <a:xfrm>
            <a:off x="548640" y="1417320"/>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88720" y="1371600"/>
            <a:ext cx="740664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Claude writes the skill</a:t>
            </a:r>
            <a:endParaRPr lang="en-US" sz="1600" dirty="0"/>
          </a:p>
        </p:txBody>
      </p:sp>
      <p:sp>
        <p:nvSpPr>
          <p:cNvPr id="7" name="Text 5"/>
          <p:cNvSpPr/>
          <p:nvPr/>
        </p:nvSpPr>
        <p:spPr>
          <a:xfrm>
            <a:off x="1188720" y="1709928"/>
            <a:ext cx="7406640" cy="411480"/>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A one-page SKILL.md appears — read it back; it's plain English you can edit.</a:t>
            </a:r>
            <a:endParaRPr lang="en-US" sz="1250" dirty="0"/>
          </a:p>
        </p:txBody>
      </p:sp>
      <p:sp>
        <p:nvSpPr>
          <p:cNvPr id="8" name="Shape 6"/>
          <p:cNvSpPr/>
          <p:nvPr/>
        </p:nvSpPr>
        <p:spPr>
          <a:xfrm>
            <a:off x="548640" y="2377440"/>
            <a:ext cx="420624" cy="420624"/>
          </a:xfrm>
          <a:prstGeom prst="ellipse">
            <a:avLst/>
          </a:prstGeom>
          <a:solidFill>
            <a:srgbClr val="C9A227"/>
          </a:solidFill>
          <a:ln/>
        </p:spPr>
        <p:txBody>
          <a:bodyPr/>
          <a:lstStyle/>
          <a:p>
            <a:endParaRPr lang="en-GB"/>
          </a:p>
        </p:txBody>
      </p:sp>
      <p:sp>
        <p:nvSpPr>
          <p:cNvPr id="9" name="Text 7"/>
          <p:cNvSpPr/>
          <p:nvPr/>
        </p:nvSpPr>
        <p:spPr>
          <a:xfrm>
            <a:off x="548640" y="2377440"/>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88720" y="2331720"/>
            <a:ext cx="740664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Point it at a miner</a:t>
            </a:r>
            <a:endParaRPr lang="en-US" sz="1600" dirty="0"/>
          </a:p>
        </p:txBody>
      </p:sp>
      <p:sp>
        <p:nvSpPr>
          <p:cNvPr id="11" name="Text 9"/>
          <p:cNvSpPr/>
          <p:nvPr/>
        </p:nvSpPr>
        <p:spPr>
          <a:xfrm>
            <a:off x="1188720" y="2670048"/>
            <a:ext cx="7406640" cy="411480"/>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"Apply it to the latest results" — it loads the new skill and works the loop.</a:t>
            </a:r>
            <a:endParaRPr lang="en-US" sz="1250" dirty="0"/>
          </a:p>
        </p:txBody>
      </p:sp>
      <p:sp>
        <p:nvSpPr>
          <p:cNvPr id="12" name="Shape 10"/>
          <p:cNvSpPr/>
          <p:nvPr/>
        </p:nvSpPr>
        <p:spPr>
          <a:xfrm>
            <a:off x="548640" y="3337560"/>
            <a:ext cx="420624" cy="420624"/>
          </a:xfrm>
          <a:prstGeom prst="ellipse">
            <a:avLst/>
          </a:prstGeom>
          <a:solidFill>
            <a:srgbClr val="C9A227"/>
          </a:solidFill>
          <a:ln/>
        </p:spPr>
        <p:txBody>
          <a:bodyPr/>
          <a:lstStyle/>
          <a:p>
            <a:endParaRPr lang="en-GB"/>
          </a:p>
        </p:txBody>
      </p:sp>
      <p:sp>
        <p:nvSpPr>
          <p:cNvPr id="13" name="Text 11"/>
          <p:cNvSpPr/>
          <p:nvPr/>
        </p:nvSpPr>
        <p:spPr>
          <a:xfrm>
            <a:off x="548640" y="3337560"/>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188720" y="3291840"/>
            <a:ext cx="740664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Then turn it into Excel</a:t>
            </a:r>
            <a:endParaRPr lang="en-US" sz="1600" dirty="0"/>
          </a:p>
        </p:txBody>
      </p:sp>
      <p:sp>
        <p:nvSpPr>
          <p:cNvPr id="15" name="Text 13"/>
          <p:cNvSpPr/>
          <p:nvPr/>
        </p:nvSpPr>
        <p:spPr>
          <a:xfrm>
            <a:off x="1188720" y="3630168"/>
            <a:ext cx="7406640" cy="411480"/>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"Now a peer table as a formatted workbook" — same skill, a different output.</a:t>
            </a:r>
            <a:endParaRPr lang="en-US" sz="1250" dirty="0"/>
          </a:p>
        </p:txBody>
      </p:sp>
      <p:sp>
        <p:nvSpPr>
          <p:cNvPr id="16" name="Text 14"/>
          <p:cNvSpPr/>
          <p:nvPr/>
        </p:nvSpPr>
        <p:spPr>
          <a:xfrm>
            <a:off x="548640" y="4434840"/>
            <a:ext cx="8046720" cy="320040"/>
          </a:xfrm>
          <a:prstGeom prst="rect">
            <a:avLst/>
          </a:prstGeom>
          <a:noFill/>
          <a:ln/>
        </p:spPr>
        <p:txBody>
          <a:bodyPr wrap="square" lIns="0" tIns="0" rIns="0" bIns="0" rtlCol="0" anchor="ctr"/>
          <a:lstStyle/>
          <a:p>
            <a:pPr marL="0" indent="0">
              <a:buNone/>
            </a:pPr>
            <a:r>
              <a:rPr lang="en-US" sz="1350" i="1" dirty="0">
                <a:solidFill>
                  <a:srgbClr val="C9A227"/>
                </a:solidFill>
                <a:latin typeface="Calibri" pitchFamily="34" charset="0"/>
                <a:ea typeface="Calibri" pitchFamily="34" charset="-122"/>
                <a:cs typeface="Calibri" pitchFamily="34" charset="-120"/>
              </a:rPr>
              <a:t>Written once, this skill now reads every miner on the JSE — this results season and every one after. That is the leverage.</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LIVE DEMO</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The same skill, delivered as Excel</a:t>
            </a:r>
            <a:endParaRPr lang="en-US" sz="2600" dirty="0"/>
          </a:p>
        </p:txBody>
      </p:sp>
      <p:sp>
        <p:nvSpPr>
          <p:cNvPr id="4" name="Text 2"/>
          <p:cNvSpPr/>
          <p:nvPr/>
        </p:nvSpPr>
        <p:spPr>
          <a:xfrm>
            <a:off x="548640" y="1060704"/>
            <a:ext cx="8046720" cy="292608"/>
          </a:xfrm>
          <a:prstGeom prst="rect">
            <a:avLst/>
          </a:prstGeom>
          <a:noFill/>
          <a:ln/>
        </p:spPr>
        <p:txBody>
          <a:bodyPr wrap="square" lIns="0" tIns="0" rIns="0" bIns="0" rtlCol="0" anchor="ctr"/>
          <a:lstStyle/>
          <a:p>
            <a:pPr marL="0" indent="0">
              <a:buNone/>
            </a:pPr>
            <a:r>
              <a:rPr lang="en-US" sz="1200" i="1" dirty="0">
                <a:solidFill>
                  <a:srgbClr val="5A6478"/>
                </a:solidFill>
                <a:latin typeface="Calibri" pitchFamily="34" charset="0"/>
                <a:ea typeface="Calibri" pitchFamily="34" charset="-122"/>
                <a:cs typeface="Calibri" pitchFamily="34" charset="-120"/>
              </a:rPr>
              <a:t>Follow-up prompt: "Now turn the mining peer comparison into a formatted Excel workbook — one row per company, with a ratios-and-flags tab."</a:t>
            </a:r>
            <a:endParaRPr lang="en-US" sz="1200" dirty="0"/>
          </a:p>
        </p:txBody>
      </p:sp>
      <p:sp>
        <p:nvSpPr>
          <p:cNvPr id="5" name="Shape 3"/>
          <p:cNvSpPr/>
          <p:nvPr/>
        </p:nvSpPr>
        <p:spPr>
          <a:xfrm>
            <a:off x="548640" y="1463040"/>
            <a:ext cx="3931920" cy="2514600"/>
          </a:xfrm>
          <a:prstGeom prst="roundRect">
            <a:avLst>
              <a:gd name="adj" fmla="val 2182"/>
            </a:avLst>
          </a:prstGeom>
          <a:solidFill>
            <a:srgbClr val="EEF3FC"/>
          </a:solidFill>
          <a:ln/>
        </p:spPr>
        <p:txBody>
          <a:bodyPr/>
          <a:lstStyle/>
          <a:p>
            <a:endParaRPr lang="en-GB"/>
          </a:p>
        </p:txBody>
      </p:sp>
      <p:sp>
        <p:nvSpPr>
          <p:cNvPr id="6" name="Text 4"/>
          <p:cNvSpPr/>
          <p:nvPr/>
        </p:nvSpPr>
        <p:spPr>
          <a:xfrm>
            <a:off x="777240" y="1627632"/>
            <a:ext cx="3566160" cy="274320"/>
          </a:xfrm>
          <a:prstGeom prst="rect">
            <a:avLst/>
          </a:prstGeom>
          <a:noFill/>
          <a:ln/>
        </p:spPr>
        <p:txBody>
          <a:bodyPr wrap="square" lIns="0" tIns="0" rIns="0" bIns="0" rtlCol="0" anchor="ctr"/>
          <a:lstStyle/>
          <a:p>
            <a:pPr marL="0" indent="0">
              <a:buNone/>
            </a:pPr>
            <a:r>
              <a:rPr lang="en-US" sz="1100" b="1" kern="0" spc="100" dirty="0">
                <a:solidFill>
                  <a:srgbClr val="1E2761"/>
                </a:solidFill>
                <a:latin typeface="Calibri" pitchFamily="34" charset="0"/>
                <a:ea typeface="Calibri" pitchFamily="34" charset="-122"/>
                <a:cs typeface="Calibri" pitchFamily="34" charset="-120"/>
              </a:rPr>
              <a:t>METRICS THE SKILL FILLS (1 of 2)</a:t>
            </a:r>
            <a:endParaRPr lang="en-US" sz="1100" dirty="0"/>
          </a:p>
        </p:txBody>
      </p:sp>
      <p:sp>
        <p:nvSpPr>
          <p:cNvPr id="7" name="Text 5"/>
          <p:cNvSpPr/>
          <p:nvPr/>
        </p:nvSpPr>
        <p:spPr>
          <a:xfrm>
            <a:off x="777240" y="1975104"/>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Revenue (R'm)</a:t>
            </a:r>
            <a:endParaRPr lang="en-US" sz="1150" dirty="0"/>
          </a:p>
        </p:txBody>
      </p:sp>
      <p:sp>
        <p:nvSpPr>
          <p:cNvPr id="8" name="Text 6"/>
          <p:cNvSpPr/>
          <p:nvPr/>
        </p:nvSpPr>
        <p:spPr>
          <a:xfrm>
            <a:off x="2331720" y="1975104"/>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 —</a:t>
            </a:r>
            <a:endParaRPr lang="en-US" sz="1150" dirty="0"/>
          </a:p>
        </p:txBody>
      </p:sp>
      <p:sp>
        <p:nvSpPr>
          <p:cNvPr id="9" name="Text 7"/>
          <p:cNvSpPr/>
          <p:nvPr/>
        </p:nvSpPr>
        <p:spPr>
          <a:xfrm>
            <a:off x="3611880" y="1975104"/>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vs pcp</a:t>
            </a:r>
            <a:endParaRPr lang="en-US" sz="1150" dirty="0"/>
          </a:p>
        </p:txBody>
      </p:sp>
      <p:sp>
        <p:nvSpPr>
          <p:cNvPr id="10" name="Text 8"/>
          <p:cNvSpPr/>
          <p:nvPr/>
        </p:nvSpPr>
        <p:spPr>
          <a:xfrm>
            <a:off x="777240" y="2359152"/>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EBITDA margin</a:t>
            </a:r>
            <a:endParaRPr lang="en-US" sz="1150" dirty="0"/>
          </a:p>
        </p:txBody>
      </p:sp>
      <p:sp>
        <p:nvSpPr>
          <p:cNvPr id="11" name="Text 9"/>
          <p:cNvSpPr/>
          <p:nvPr/>
        </p:nvSpPr>
        <p:spPr>
          <a:xfrm>
            <a:off x="2331720" y="2359152"/>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a:t>
            </a:r>
            <a:endParaRPr lang="en-US" sz="1150" dirty="0"/>
          </a:p>
        </p:txBody>
      </p:sp>
      <p:sp>
        <p:nvSpPr>
          <p:cNvPr id="12" name="Text 10"/>
          <p:cNvSpPr/>
          <p:nvPr/>
        </p:nvSpPr>
        <p:spPr>
          <a:xfrm>
            <a:off x="3611880" y="2359152"/>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bps</a:t>
            </a:r>
            <a:endParaRPr lang="en-US" sz="1150" dirty="0"/>
          </a:p>
        </p:txBody>
      </p:sp>
      <p:sp>
        <p:nvSpPr>
          <p:cNvPr id="13" name="Text 11"/>
          <p:cNvSpPr/>
          <p:nvPr/>
        </p:nvSpPr>
        <p:spPr>
          <a:xfrm>
            <a:off x="777240" y="2743200"/>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Headline EPS</a:t>
            </a:r>
            <a:endParaRPr lang="en-US" sz="1150" dirty="0"/>
          </a:p>
        </p:txBody>
      </p:sp>
      <p:sp>
        <p:nvSpPr>
          <p:cNvPr id="14" name="Text 12"/>
          <p:cNvSpPr/>
          <p:nvPr/>
        </p:nvSpPr>
        <p:spPr>
          <a:xfrm>
            <a:off x="2331720" y="2743200"/>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c</a:t>
            </a:r>
            <a:endParaRPr lang="en-US" sz="1150" dirty="0"/>
          </a:p>
        </p:txBody>
      </p:sp>
      <p:sp>
        <p:nvSpPr>
          <p:cNvPr id="15" name="Text 13"/>
          <p:cNvSpPr/>
          <p:nvPr/>
        </p:nvSpPr>
        <p:spPr>
          <a:xfrm>
            <a:off x="3611880" y="2743200"/>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vs pcp</a:t>
            </a:r>
            <a:endParaRPr lang="en-US" sz="1150" dirty="0"/>
          </a:p>
        </p:txBody>
      </p:sp>
      <p:sp>
        <p:nvSpPr>
          <p:cNvPr id="16" name="Text 14"/>
          <p:cNvSpPr/>
          <p:nvPr/>
        </p:nvSpPr>
        <p:spPr>
          <a:xfrm>
            <a:off x="777240" y="3127248"/>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Net debt / EBITDA</a:t>
            </a:r>
            <a:endParaRPr lang="en-US" sz="1150" dirty="0"/>
          </a:p>
        </p:txBody>
      </p:sp>
      <p:sp>
        <p:nvSpPr>
          <p:cNvPr id="17" name="Text 15"/>
          <p:cNvSpPr/>
          <p:nvPr/>
        </p:nvSpPr>
        <p:spPr>
          <a:xfrm>
            <a:off x="2331720" y="3127248"/>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a:t>
            </a:r>
            <a:endParaRPr lang="en-US" sz="1150" dirty="0"/>
          </a:p>
        </p:txBody>
      </p:sp>
      <p:sp>
        <p:nvSpPr>
          <p:cNvPr id="18" name="Text 16"/>
          <p:cNvSpPr/>
          <p:nvPr/>
        </p:nvSpPr>
        <p:spPr>
          <a:xfrm>
            <a:off x="3611880" y="3127248"/>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flag</a:t>
            </a:r>
            <a:endParaRPr lang="en-US" sz="1150" dirty="0"/>
          </a:p>
        </p:txBody>
      </p:sp>
      <p:sp>
        <p:nvSpPr>
          <p:cNvPr id="19" name="Text 17"/>
          <p:cNvSpPr/>
          <p:nvPr/>
        </p:nvSpPr>
        <p:spPr>
          <a:xfrm>
            <a:off x="777240" y="3639312"/>
            <a:ext cx="3566160" cy="237744"/>
          </a:xfrm>
          <a:prstGeom prst="rect">
            <a:avLst/>
          </a:prstGeom>
          <a:noFill/>
          <a:ln/>
        </p:spPr>
        <p:txBody>
          <a:bodyPr wrap="square" lIns="0" tIns="0" rIns="0" bIns="0" rtlCol="0" anchor="ctr"/>
          <a:lstStyle/>
          <a:p>
            <a:pPr marL="0" indent="0">
              <a:buNone/>
            </a:pPr>
            <a:r>
              <a:rPr lang="en-US" sz="950" i="1" dirty="0">
                <a:solidFill>
                  <a:srgbClr val="5A6478"/>
                </a:solidFill>
                <a:latin typeface="Calibri" pitchFamily="34" charset="0"/>
                <a:ea typeface="Calibri" pitchFamily="34" charset="-122"/>
                <a:cs typeface="Calibri" pitchFamily="34" charset="-120"/>
              </a:rPr>
              <a:t>cited to document &amp; page</a:t>
            </a:r>
            <a:endParaRPr lang="en-US" sz="950" dirty="0"/>
          </a:p>
        </p:txBody>
      </p:sp>
      <p:sp>
        <p:nvSpPr>
          <p:cNvPr id="20" name="Shape 18"/>
          <p:cNvSpPr/>
          <p:nvPr/>
        </p:nvSpPr>
        <p:spPr>
          <a:xfrm>
            <a:off x="4663440" y="1463040"/>
            <a:ext cx="3931920" cy="2514600"/>
          </a:xfrm>
          <a:prstGeom prst="roundRect">
            <a:avLst>
              <a:gd name="adj" fmla="val 2182"/>
            </a:avLst>
          </a:prstGeom>
          <a:solidFill>
            <a:srgbClr val="EEF3FC"/>
          </a:solidFill>
          <a:ln/>
        </p:spPr>
        <p:txBody>
          <a:bodyPr/>
          <a:lstStyle/>
          <a:p>
            <a:endParaRPr lang="en-GB"/>
          </a:p>
        </p:txBody>
      </p:sp>
      <p:sp>
        <p:nvSpPr>
          <p:cNvPr id="21" name="Text 19"/>
          <p:cNvSpPr/>
          <p:nvPr/>
        </p:nvSpPr>
        <p:spPr>
          <a:xfrm>
            <a:off x="4892040" y="1627632"/>
            <a:ext cx="3566160" cy="274320"/>
          </a:xfrm>
          <a:prstGeom prst="rect">
            <a:avLst/>
          </a:prstGeom>
          <a:noFill/>
          <a:ln/>
        </p:spPr>
        <p:txBody>
          <a:bodyPr wrap="square" lIns="0" tIns="0" rIns="0" bIns="0" rtlCol="0" anchor="ctr"/>
          <a:lstStyle/>
          <a:p>
            <a:pPr marL="0" indent="0">
              <a:buNone/>
            </a:pPr>
            <a:r>
              <a:rPr lang="en-US" sz="1100" b="1" kern="0" spc="100" dirty="0">
                <a:solidFill>
                  <a:srgbClr val="1E2761"/>
                </a:solidFill>
                <a:latin typeface="Calibri" pitchFamily="34" charset="0"/>
                <a:ea typeface="Calibri" pitchFamily="34" charset="-122"/>
                <a:cs typeface="Calibri" pitchFamily="34" charset="-120"/>
              </a:rPr>
              <a:t>METRICS THE SKILL FILLS (2 of 2)</a:t>
            </a:r>
            <a:endParaRPr lang="en-US" sz="1100" dirty="0"/>
          </a:p>
        </p:txBody>
      </p:sp>
      <p:sp>
        <p:nvSpPr>
          <p:cNvPr id="22" name="Text 20"/>
          <p:cNvSpPr/>
          <p:nvPr/>
        </p:nvSpPr>
        <p:spPr>
          <a:xfrm>
            <a:off x="4892040" y="1975104"/>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Free cash flow</a:t>
            </a:r>
            <a:endParaRPr lang="en-US" sz="1150" dirty="0"/>
          </a:p>
        </p:txBody>
      </p:sp>
      <p:sp>
        <p:nvSpPr>
          <p:cNvPr id="23" name="Text 21"/>
          <p:cNvSpPr/>
          <p:nvPr/>
        </p:nvSpPr>
        <p:spPr>
          <a:xfrm>
            <a:off x="6446520" y="1975104"/>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 —</a:t>
            </a:r>
            <a:endParaRPr lang="en-US" sz="1150" dirty="0"/>
          </a:p>
        </p:txBody>
      </p:sp>
      <p:sp>
        <p:nvSpPr>
          <p:cNvPr id="24" name="Text 22"/>
          <p:cNvSpPr/>
          <p:nvPr/>
        </p:nvSpPr>
        <p:spPr>
          <a:xfrm>
            <a:off x="7726680" y="1975104"/>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vs pcp</a:t>
            </a:r>
            <a:endParaRPr lang="en-US" sz="1150" dirty="0"/>
          </a:p>
        </p:txBody>
      </p:sp>
      <p:sp>
        <p:nvSpPr>
          <p:cNvPr id="25" name="Text 23"/>
          <p:cNvSpPr/>
          <p:nvPr/>
        </p:nvSpPr>
        <p:spPr>
          <a:xfrm>
            <a:off x="4892040" y="2359152"/>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Dividend / share</a:t>
            </a:r>
            <a:endParaRPr lang="en-US" sz="1150" dirty="0"/>
          </a:p>
        </p:txBody>
      </p:sp>
      <p:sp>
        <p:nvSpPr>
          <p:cNvPr id="26" name="Text 24"/>
          <p:cNvSpPr/>
          <p:nvPr/>
        </p:nvSpPr>
        <p:spPr>
          <a:xfrm>
            <a:off x="6446520" y="2359152"/>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c</a:t>
            </a:r>
            <a:endParaRPr lang="en-US" sz="1150" dirty="0"/>
          </a:p>
        </p:txBody>
      </p:sp>
      <p:sp>
        <p:nvSpPr>
          <p:cNvPr id="27" name="Text 25"/>
          <p:cNvSpPr/>
          <p:nvPr/>
        </p:nvSpPr>
        <p:spPr>
          <a:xfrm>
            <a:off x="7726680" y="2359152"/>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vs pcp</a:t>
            </a:r>
            <a:endParaRPr lang="en-US" sz="1150" dirty="0"/>
          </a:p>
        </p:txBody>
      </p:sp>
      <p:sp>
        <p:nvSpPr>
          <p:cNvPr id="28" name="Text 26"/>
          <p:cNvSpPr/>
          <p:nvPr/>
        </p:nvSpPr>
        <p:spPr>
          <a:xfrm>
            <a:off x="4892040" y="2743200"/>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Production</a:t>
            </a:r>
            <a:endParaRPr lang="en-US" sz="1150" dirty="0"/>
          </a:p>
        </p:txBody>
      </p:sp>
      <p:sp>
        <p:nvSpPr>
          <p:cNvPr id="29" name="Text 27"/>
          <p:cNvSpPr/>
          <p:nvPr/>
        </p:nvSpPr>
        <p:spPr>
          <a:xfrm>
            <a:off x="6446520" y="2743200"/>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 Mt</a:t>
            </a:r>
            <a:endParaRPr lang="en-US" sz="1150" dirty="0"/>
          </a:p>
        </p:txBody>
      </p:sp>
      <p:sp>
        <p:nvSpPr>
          <p:cNvPr id="30" name="Text 28"/>
          <p:cNvSpPr/>
          <p:nvPr/>
        </p:nvSpPr>
        <p:spPr>
          <a:xfrm>
            <a:off x="7726680" y="2743200"/>
            <a:ext cx="731520" cy="310896"/>
          </a:xfrm>
          <a:prstGeom prst="rect">
            <a:avLst/>
          </a:prstGeom>
          <a:noFill/>
          <a:ln/>
        </p:spPr>
        <p:txBody>
          <a:bodyPr wrap="square" lIns="0" tIns="0" rIns="0" bIns="0" rtlCol="0" anchor="ctr"/>
          <a:lstStyle/>
          <a:p>
            <a:pPr marL="0" indent="0" algn="r">
              <a:buNone/>
            </a:pPr>
            <a:endParaRPr lang="en-US" sz="1150" dirty="0"/>
          </a:p>
        </p:txBody>
      </p:sp>
      <p:sp>
        <p:nvSpPr>
          <p:cNvPr id="31" name="Text 29"/>
          <p:cNvSpPr/>
          <p:nvPr/>
        </p:nvSpPr>
        <p:spPr>
          <a:xfrm>
            <a:off x="4892040" y="3127248"/>
            <a:ext cx="155448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Unit cost</a:t>
            </a:r>
            <a:endParaRPr lang="en-US" sz="1150" dirty="0"/>
          </a:p>
        </p:txBody>
      </p:sp>
      <p:sp>
        <p:nvSpPr>
          <p:cNvPr id="32" name="Text 30"/>
          <p:cNvSpPr/>
          <p:nvPr/>
        </p:nvSpPr>
        <p:spPr>
          <a:xfrm>
            <a:off x="6446520" y="3127248"/>
            <a:ext cx="1234440" cy="310896"/>
          </a:xfrm>
          <a:prstGeom prst="rect">
            <a:avLst/>
          </a:prstGeom>
          <a:noFill/>
          <a:ln/>
        </p:spPr>
        <p:txBody>
          <a:bodyPr wrap="square" lIns="0" tIns="0" rIns="0" bIns="0" rtlCol="0" anchor="ctr"/>
          <a:lstStyle/>
          <a:p>
            <a:pPr marL="0" indent="0" algn="r">
              <a:buNone/>
            </a:pPr>
            <a:r>
              <a:rPr lang="en-US" sz="1150" b="1" dirty="0">
                <a:solidFill>
                  <a:srgbClr val="1E2761"/>
                </a:solidFill>
                <a:latin typeface="Calibri" pitchFamily="34" charset="0"/>
                <a:ea typeface="Calibri" pitchFamily="34" charset="-122"/>
                <a:cs typeface="Calibri" pitchFamily="34" charset="-120"/>
              </a:rPr>
              <a:t>R —</a:t>
            </a:r>
            <a:endParaRPr lang="en-US" sz="1150" dirty="0"/>
          </a:p>
        </p:txBody>
      </p:sp>
      <p:sp>
        <p:nvSpPr>
          <p:cNvPr id="33" name="Text 31"/>
          <p:cNvSpPr/>
          <p:nvPr/>
        </p:nvSpPr>
        <p:spPr>
          <a:xfrm>
            <a:off x="7726680" y="3127248"/>
            <a:ext cx="731520" cy="310896"/>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flag</a:t>
            </a:r>
            <a:endParaRPr lang="en-US" sz="1150" dirty="0"/>
          </a:p>
        </p:txBody>
      </p:sp>
      <p:sp>
        <p:nvSpPr>
          <p:cNvPr id="34" name="Text 32"/>
          <p:cNvSpPr/>
          <p:nvPr/>
        </p:nvSpPr>
        <p:spPr>
          <a:xfrm>
            <a:off x="4892040" y="3639312"/>
            <a:ext cx="3566160" cy="237744"/>
          </a:xfrm>
          <a:prstGeom prst="rect">
            <a:avLst/>
          </a:prstGeom>
          <a:noFill/>
          <a:ln/>
        </p:spPr>
        <p:txBody>
          <a:bodyPr wrap="square" lIns="0" tIns="0" rIns="0" bIns="0" rtlCol="0" anchor="ctr"/>
          <a:lstStyle/>
          <a:p>
            <a:pPr marL="0" indent="0">
              <a:buNone/>
            </a:pPr>
            <a:r>
              <a:rPr lang="en-US" sz="950" i="1" dirty="0">
                <a:solidFill>
                  <a:srgbClr val="5A6478"/>
                </a:solidFill>
                <a:latin typeface="Calibri" pitchFamily="34" charset="0"/>
                <a:ea typeface="Calibri" pitchFamily="34" charset="-122"/>
                <a:cs typeface="Calibri" pitchFamily="34" charset="-120"/>
              </a:rPr>
              <a:t>one row per company</a:t>
            </a:r>
            <a:endParaRPr lang="en-US" sz="950" dirty="0"/>
          </a:p>
        </p:txBody>
      </p:sp>
      <p:sp>
        <p:nvSpPr>
          <p:cNvPr id="35" name="Text 33"/>
          <p:cNvSpPr/>
          <p:nvPr/>
        </p:nvSpPr>
        <p:spPr>
          <a:xfrm>
            <a:off x="548640" y="4206240"/>
            <a:ext cx="8046720" cy="502920"/>
          </a:xfrm>
          <a:prstGeom prst="rect">
            <a:avLst/>
          </a:prstGeom>
          <a:noFill/>
          <a:ln/>
        </p:spPr>
        <p:txBody>
          <a:bodyPr wrap="square" lIns="0" tIns="0" rIns="0" bIns="0" rtlCol="0" anchor="ctr"/>
          <a:lstStyle/>
          <a:p>
            <a:pPr marL="0" indent="0">
              <a:buNone/>
            </a:pPr>
            <a:r>
              <a:rPr lang="en-US" sz="1200" i="1" dirty="0">
                <a:solidFill>
                  <a:srgbClr val="1E2761"/>
                </a:solidFill>
                <a:latin typeface="Calibri" pitchFamily="34" charset="0"/>
                <a:ea typeface="Calibri" pitchFamily="34" charset="-122"/>
                <a:cs typeface="Calibri" pitchFamily="34" charset="-120"/>
              </a:rPr>
              <a:t>*Illustrative columns. The live build fills them with cited figures for real names — Anglo, BHP, Sasol, Gold Fields, Exxaro — every number sourced.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ADOPTION</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Where the data lives: SharePoint</a:t>
            </a:r>
            <a:endParaRPr lang="en-US" sz="2600" dirty="0"/>
          </a:p>
        </p:txBody>
      </p:sp>
      <p:sp>
        <p:nvSpPr>
          <p:cNvPr id="4" name="Shape 2"/>
          <p:cNvSpPr/>
          <p:nvPr/>
        </p:nvSpPr>
        <p:spPr>
          <a:xfrm>
            <a:off x="548640" y="1325880"/>
            <a:ext cx="2468880" cy="1143000"/>
          </a:xfrm>
          <a:prstGeom prst="roundRect">
            <a:avLst>
              <a:gd name="adj" fmla="val 4800"/>
            </a:avLst>
          </a:prstGeom>
          <a:solidFill>
            <a:srgbClr val="1E2761"/>
          </a:solidFill>
          <a:ln/>
        </p:spPr>
        <p:txBody>
          <a:bodyPr/>
          <a:lstStyle/>
          <a:p>
            <a:endParaRPr lang="en-GB"/>
          </a:p>
        </p:txBody>
      </p:sp>
      <p:sp>
        <p:nvSpPr>
          <p:cNvPr id="5" name="Text 3"/>
          <p:cNvSpPr/>
          <p:nvPr/>
        </p:nvSpPr>
        <p:spPr>
          <a:xfrm>
            <a:off x="685800" y="1463040"/>
            <a:ext cx="2194560" cy="86868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"JSE Research"</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SharePoint library</a:t>
            </a:r>
            <a:endParaRPr lang="en-US" sz="1250" dirty="0"/>
          </a:p>
        </p:txBody>
      </p:sp>
      <p:sp>
        <p:nvSpPr>
          <p:cNvPr id="6" name="Text 4"/>
          <p:cNvSpPr/>
          <p:nvPr/>
        </p:nvSpPr>
        <p:spPr>
          <a:xfrm>
            <a:off x="3063240" y="1481328"/>
            <a:ext cx="1371600" cy="822960"/>
          </a:xfrm>
          <a:prstGeom prst="rect">
            <a:avLst/>
          </a:prstGeom>
          <a:noFill/>
          <a:ln/>
        </p:spPr>
        <p:txBody>
          <a:bodyPr wrap="square" lIns="0" tIns="0" rIns="0" bIns="0" rtlCol="0" anchor="ctr"/>
          <a:lstStyle/>
          <a:p>
            <a:pPr marL="0" indent="0" algn="ctr">
              <a:buNone/>
            </a:pPr>
            <a:r>
              <a:rPr lang="en-US" sz="1100" b="1" dirty="0">
                <a:solidFill>
                  <a:srgbClr val="C9A227"/>
                </a:solidFill>
                <a:latin typeface="Calibri" pitchFamily="34" charset="0"/>
                <a:ea typeface="Calibri" pitchFamily="34" charset="-122"/>
                <a:cs typeface="Calibri" pitchFamily="34" charset="-120"/>
              </a:rPr>
              <a:t>OneDrive sync</a:t>
            </a:r>
            <a:endParaRPr lang="en-US" sz="1100" dirty="0"/>
          </a:p>
          <a:p>
            <a:pPr marL="0" indent="0" algn="ctr">
              <a:buNone/>
            </a:pPr>
            <a:r>
              <a:rPr lang="en-US" sz="1100" b="1" dirty="0">
                <a:solidFill>
                  <a:srgbClr val="C9A227"/>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4480560" y="1325880"/>
            <a:ext cx="2468880" cy="1143000"/>
          </a:xfrm>
          <a:prstGeom prst="roundRect">
            <a:avLst>
              <a:gd name="adj" fmla="val 4800"/>
            </a:avLst>
          </a:prstGeom>
          <a:solidFill>
            <a:srgbClr val="EEF3FC"/>
          </a:solidFill>
          <a:ln/>
        </p:spPr>
        <p:txBody>
          <a:bodyPr/>
          <a:lstStyle/>
          <a:p>
            <a:endParaRPr lang="en-GB"/>
          </a:p>
        </p:txBody>
      </p:sp>
      <p:sp>
        <p:nvSpPr>
          <p:cNvPr id="8" name="Text 6"/>
          <p:cNvSpPr/>
          <p:nvPr/>
        </p:nvSpPr>
        <p:spPr>
          <a:xfrm>
            <a:off x="4617720" y="1463040"/>
            <a:ext cx="2194560" cy="86868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Local working folder</a:t>
            </a:r>
            <a:endParaRPr lang="en-US" sz="1250" dirty="0"/>
          </a:p>
          <a:p>
            <a:pPr marL="0" indent="0" algn="ctr">
              <a:buNone/>
            </a:pPr>
            <a:r>
              <a:rPr lang="en-US" sz="1250" b="1" dirty="0">
                <a:solidFill>
                  <a:srgbClr val="1E2761"/>
                </a:solidFill>
                <a:latin typeface="Calibri" pitchFamily="34" charset="0"/>
                <a:ea typeface="Calibri" pitchFamily="34" charset="-122"/>
                <a:cs typeface="Calibri" pitchFamily="34" charset="-120"/>
              </a:rPr>
              <a:t>(Cowork)</a:t>
            </a:r>
            <a:endParaRPr lang="en-US" sz="1250" dirty="0"/>
          </a:p>
        </p:txBody>
      </p:sp>
      <p:sp>
        <p:nvSpPr>
          <p:cNvPr id="9" name="Text 7"/>
          <p:cNvSpPr/>
          <p:nvPr/>
        </p:nvSpPr>
        <p:spPr>
          <a:xfrm>
            <a:off x="6967728" y="1664208"/>
            <a:ext cx="457200" cy="457200"/>
          </a:xfrm>
          <a:prstGeom prst="rect">
            <a:avLst/>
          </a:prstGeom>
          <a:noFill/>
          <a:ln/>
        </p:spPr>
        <p:txBody>
          <a:bodyPr wrap="square" lIns="0" tIns="0" rIns="0" bIns="0" rtlCol="0" anchor="ctr"/>
          <a:lstStyle/>
          <a:p>
            <a:pPr marL="0" indent="0" algn="ctr">
              <a:buNone/>
            </a:pPr>
            <a:r>
              <a:rPr lang="en-US" sz="2000" b="1" dirty="0">
                <a:solidFill>
                  <a:srgbClr val="C9A227"/>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7452360" y="1325880"/>
            <a:ext cx="1325880" cy="1143000"/>
          </a:xfrm>
          <a:prstGeom prst="roundRect">
            <a:avLst>
              <a:gd name="adj" fmla="val 4800"/>
            </a:avLst>
          </a:prstGeom>
          <a:solidFill>
            <a:srgbClr val="C9A227"/>
          </a:solidFill>
          <a:ln/>
        </p:spPr>
        <p:txBody>
          <a:bodyPr/>
          <a:lstStyle/>
          <a:p>
            <a:endParaRPr lang="en-GB"/>
          </a:p>
        </p:txBody>
      </p:sp>
      <p:sp>
        <p:nvSpPr>
          <p:cNvPr id="11" name="Text 9"/>
          <p:cNvSpPr/>
          <p:nvPr/>
        </p:nvSpPr>
        <p:spPr>
          <a:xfrm>
            <a:off x="7498080" y="1463040"/>
            <a:ext cx="1234440" cy="868680"/>
          </a:xfrm>
          <a:prstGeom prst="rect">
            <a:avLst/>
          </a:prstGeom>
          <a:noFill/>
          <a:ln/>
        </p:spPr>
        <p:txBody>
          <a:bodyPr wrap="square" lIns="0" tIns="0" rIns="0" bIns="0"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Claude</a:t>
            </a:r>
            <a:endParaRPr lang="en-US" sz="1400" dirty="0"/>
          </a:p>
        </p:txBody>
      </p:sp>
      <p:sp>
        <p:nvSpPr>
          <p:cNvPr id="12" name="Text 10"/>
          <p:cNvSpPr/>
          <p:nvPr/>
        </p:nvSpPr>
        <p:spPr>
          <a:xfrm>
            <a:off x="548640" y="2697480"/>
            <a:ext cx="8046720" cy="292608"/>
          </a:xfrm>
          <a:prstGeom prst="rect">
            <a:avLst/>
          </a:prstGeom>
          <a:noFill/>
          <a:ln/>
        </p:spPr>
        <p:txBody>
          <a:bodyPr wrap="square" lIns="0" tIns="0" rIns="0" bIns="0" rtlCol="0" anchor="ctr"/>
          <a:lstStyle/>
          <a:p>
            <a:pPr marL="0" indent="0">
              <a:buNone/>
            </a:pPr>
            <a:r>
              <a:rPr lang="en-US" sz="1200" dirty="0">
                <a:solidFill>
                  <a:srgbClr val="5A6478"/>
                </a:solidFill>
                <a:latin typeface="Calibri" pitchFamily="34" charset="0"/>
                <a:ea typeface="Calibri" pitchFamily="34" charset="-122"/>
                <a:cs typeface="Calibri" pitchFamily="34" charset="-120"/>
              </a:rPr>
              <a:t>Existing  /Research/[Company]/  read directly via the SharePoint connector — no migration needed.</a:t>
            </a:r>
            <a:endParaRPr lang="en-US" sz="1200" dirty="0"/>
          </a:p>
        </p:txBody>
      </p:sp>
      <p:sp>
        <p:nvSpPr>
          <p:cNvPr id="13" name="Text 11"/>
          <p:cNvSpPr/>
          <p:nvPr/>
        </p:nvSpPr>
        <p:spPr>
          <a:xfrm>
            <a:off x="548640" y="3108960"/>
            <a:ext cx="7863840" cy="1005840"/>
          </a:xfrm>
          <a:prstGeom prst="rect">
            <a:avLst/>
          </a:prstGeom>
          <a:noFill/>
          <a:ln/>
        </p:spPr>
        <p:txBody>
          <a:bodyPr wrap="square" rtlCol="0" anchor="ctr"/>
          <a:lstStyle/>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Team-wide visibility, versioning and retention — for free</a:t>
            </a:r>
            <a:endParaRPr lang="en-US" sz="1250" dirty="0"/>
          </a:p>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Claude works on local synced files: fast and reliable</a:t>
            </a:r>
            <a:endParaRPr lang="en-US" sz="1250" dirty="0"/>
          </a:p>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Existing internal research readable in place</a:t>
            </a:r>
            <a:endParaRPr lang="en-US" sz="1250" dirty="0"/>
          </a:p>
        </p:txBody>
      </p:sp>
      <p:sp>
        <p:nvSpPr>
          <p:cNvPr id="14" name="Text 12"/>
          <p:cNvSpPr/>
          <p:nvPr/>
        </p:nvSpPr>
        <p:spPr>
          <a:xfrm>
            <a:off x="548640" y="4297680"/>
            <a:ext cx="8046720" cy="320040"/>
          </a:xfrm>
          <a:prstGeom prst="rect">
            <a:avLst/>
          </a:prstGeom>
          <a:noFill/>
          <a:ln/>
        </p:spPr>
        <p:txBody>
          <a:bodyPr wrap="square" lIns="0" tIns="0" rIns="0" bIns="0" rtlCol="0" anchor="ctr"/>
          <a:lstStyle/>
          <a:p>
            <a:pPr marL="0" indent="0">
              <a:buNone/>
            </a:pPr>
            <a:r>
              <a:rPr lang="en-US" sz="1250" i="1" dirty="0">
                <a:solidFill>
                  <a:srgbClr val="1E2761"/>
                </a:solidFill>
                <a:latin typeface="Calibri" pitchFamily="34" charset="0"/>
                <a:ea typeface="Calibri" pitchFamily="34" charset="-122"/>
                <a:cs typeface="Calibri" pitchFamily="34" charset="-120"/>
              </a:rPr>
              <a:t>Start with one writer (the pilot analyst); everyone else reads via SharePoint — avoids sync conflicts.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AFTER TODAY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you'll have in your hands</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You don't have to remember any of this — it's all written down, for two audiences:</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Everyday guide</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For every PM and analyst: what Claude is, how to ask well, a prompt cheat-sheet. No code.</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Builder's guide</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For the hands-on: the anatomy of a skill, the workspace, MCP connectors, maintenance.</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live workspace</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This JSE workspace itself — yours to use, copy and grow. A starting point, not a finished product.</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This is a collaboration: we'll learn what works for AllWeather together, and the guides grow with us.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THE THREE OBJECTIVES, REVISITED</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So — did we get there?</a:t>
            </a:r>
            <a:endParaRPr lang="en-US" sz="2600" dirty="0"/>
          </a:p>
        </p:txBody>
      </p:sp>
      <p:sp>
        <p:nvSpPr>
          <p:cNvPr id="4" name="Text 2"/>
          <p:cNvSpPr/>
          <p:nvPr/>
        </p:nvSpPr>
        <p:spPr>
          <a:xfrm>
            <a:off x="548640" y="1078992"/>
            <a:ext cx="8046720" cy="292608"/>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The three I opened with — and what you've now seen of each:</a:t>
            </a:r>
            <a:endParaRPr lang="en-US" sz="1400" dirty="0"/>
          </a:p>
        </p:txBody>
      </p:sp>
      <p:sp>
        <p:nvSpPr>
          <p:cNvPr id="5" name="Shape 3"/>
          <p:cNvSpPr/>
          <p:nvPr/>
        </p:nvSpPr>
        <p:spPr>
          <a:xfrm>
            <a:off x="548640" y="1554480"/>
            <a:ext cx="8046720" cy="749808"/>
          </a:xfrm>
          <a:prstGeom prst="roundRect">
            <a:avLst>
              <a:gd name="adj" fmla="val 7317"/>
            </a:avLst>
          </a:prstGeom>
          <a:solidFill>
            <a:srgbClr val="EEF3FC"/>
          </a:solidFill>
          <a:ln/>
        </p:spPr>
        <p:txBody>
          <a:bodyPr/>
          <a:lstStyle/>
          <a:p>
            <a:endParaRPr lang="en-GB"/>
          </a:p>
        </p:txBody>
      </p:sp>
      <p:sp>
        <p:nvSpPr>
          <p:cNvPr id="6" name="Text 4"/>
          <p:cNvSpPr/>
          <p:nvPr/>
        </p:nvSpPr>
        <p:spPr>
          <a:xfrm>
            <a:off x="777240" y="170078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417320" y="166420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It's real</a:t>
            </a:r>
            <a:endParaRPr lang="en-US" sz="1350" dirty="0"/>
          </a:p>
        </p:txBody>
      </p:sp>
      <p:sp>
        <p:nvSpPr>
          <p:cNvPr id="8" name="Text 6"/>
          <p:cNvSpPr/>
          <p:nvPr/>
        </p:nvSpPr>
        <p:spPr>
          <a:xfrm>
            <a:off x="1417320" y="194767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You watched Claude research two companies end-to-end, every figure cited — and turn one sentence into a peer-comparison spreadsheet.</a:t>
            </a:r>
            <a:endParaRPr lang="en-US" sz="1150" dirty="0"/>
          </a:p>
        </p:txBody>
      </p:sp>
      <p:sp>
        <p:nvSpPr>
          <p:cNvPr id="9" name="Shape 7"/>
          <p:cNvSpPr/>
          <p:nvPr/>
        </p:nvSpPr>
        <p:spPr>
          <a:xfrm>
            <a:off x="548640" y="2423160"/>
            <a:ext cx="8046720" cy="749808"/>
          </a:xfrm>
          <a:prstGeom prst="roundRect">
            <a:avLst>
              <a:gd name="adj" fmla="val 7317"/>
            </a:avLst>
          </a:prstGeom>
          <a:solidFill>
            <a:srgbClr val="EEF3FC"/>
          </a:solidFill>
          <a:ln/>
        </p:spPr>
        <p:txBody>
          <a:bodyPr/>
          <a:lstStyle/>
          <a:p>
            <a:endParaRPr lang="en-GB"/>
          </a:p>
        </p:txBody>
      </p:sp>
      <p:sp>
        <p:nvSpPr>
          <p:cNvPr id="10" name="Text 8"/>
          <p:cNvSpPr/>
          <p:nvPr/>
        </p:nvSpPr>
        <p:spPr>
          <a:xfrm>
            <a:off x="777240" y="256946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417320" y="253288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It's for you — and it compounds</a:t>
            </a:r>
            <a:endParaRPr lang="en-US" sz="1350" dirty="0"/>
          </a:p>
        </p:txBody>
      </p:sp>
      <p:sp>
        <p:nvSpPr>
          <p:cNvPr id="12" name="Text 10"/>
          <p:cNvSpPr/>
          <p:nvPr/>
        </p:nvSpPr>
        <p:spPr>
          <a:xfrm>
            <a:off x="1417320" y="281635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We wrote a brand-new mining skill in plain English, live. Written once, it now reads every miner on the JSE — this season and every season after.</a:t>
            </a:r>
            <a:endParaRPr lang="en-US" sz="1150" dirty="0"/>
          </a:p>
        </p:txBody>
      </p:sp>
      <p:sp>
        <p:nvSpPr>
          <p:cNvPr id="13" name="Shape 11"/>
          <p:cNvSpPr/>
          <p:nvPr/>
        </p:nvSpPr>
        <p:spPr>
          <a:xfrm>
            <a:off x="548640" y="3291840"/>
            <a:ext cx="8046720" cy="749808"/>
          </a:xfrm>
          <a:prstGeom prst="roundRect">
            <a:avLst>
              <a:gd name="adj" fmla="val 7317"/>
            </a:avLst>
          </a:prstGeom>
          <a:solidFill>
            <a:srgbClr val="EEF3FC"/>
          </a:solidFill>
          <a:ln/>
        </p:spPr>
        <p:txBody>
          <a:bodyPr/>
          <a:lstStyle/>
          <a:p>
            <a:endParaRPr lang="en-GB"/>
          </a:p>
        </p:txBody>
      </p:sp>
      <p:sp>
        <p:nvSpPr>
          <p:cNvPr id="14" name="Text 12"/>
          <p:cNvSpPr/>
          <p:nvPr/>
        </p:nvSpPr>
        <p:spPr>
          <a:xfrm>
            <a:off x="777240" y="3438144"/>
            <a:ext cx="457200" cy="457200"/>
          </a:xfrm>
          <a:prstGeom prst="rect">
            <a:avLst/>
          </a:prstGeom>
          <a:noFill/>
          <a:ln/>
        </p:spPr>
        <p:txBody>
          <a:bodyPr wrap="square" lIns="0" tIns="0" rIns="0" bIns="0" rtlCol="0" anchor="ctr"/>
          <a:lstStyle/>
          <a:p>
            <a:pPr marL="0" indent="0">
              <a:buNone/>
            </a:pPr>
            <a:r>
              <a:rPr lang="en-US" sz="2400" b="1" dirty="0">
                <a:solidFill>
                  <a:srgbClr val="C9A227"/>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417320" y="3401568"/>
            <a:ext cx="69494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It amplifies, it doesn't replace</a:t>
            </a:r>
            <a:endParaRPr lang="en-US" sz="1350" dirty="0"/>
          </a:p>
        </p:txBody>
      </p:sp>
      <p:sp>
        <p:nvSpPr>
          <p:cNvPr id="16" name="Text 14"/>
          <p:cNvSpPr/>
          <p:nvPr/>
        </p:nvSpPr>
        <p:spPr>
          <a:xfrm>
            <a:off x="1417320" y="3685032"/>
            <a:ext cx="6949440" cy="310896"/>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Nothing here removes your judgement. It hands back the hours around it, and shortens the path to the decision.</a:t>
            </a:r>
            <a:endParaRPr lang="en-US" sz="1150" dirty="0"/>
          </a:p>
        </p:txBody>
      </p:sp>
      <p:sp>
        <p:nvSpPr>
          <p:cNvPr id="17" name="Text 15"/>
          <p:cNvSpPr/>
          <p:nvPr/>
        </p:nvSpPr>
        <p:spPr>
          <a:xfrm>
            <a:off x="548640" y="4315968"/>
            <a:ext cx="8046720" cy="320040"/>
          </a:xfrm>
          <a:prstGeom prst="rect">
            <a:avLst/>
          </a:prstGeom>
          <a:noFill/>
          <a:ln/>
        </p:spPr>
        <p:txBody>
          <a:bodyPr wrap="square" lIns="0" tIns="0" rIns="0" bIns="0" rtlCol="0" anchor="ctr"/>
          <a:lstStyle/>
          <a:p>
            <a:pPr marL="0" indent="0">
              <a:buNone/>
            </a:pPr>
            <a:r>
              <a:rPr lang="en-US" sz="1400" b="1" i="1" dirty="0">
                <a:solidFill>
                  <a:srgbClr val="C9A227"/>
                </a:solidFill>
                <a:latin typeface="Calibri" pitchFamily="34" charset="0"/>
                <a:ea typeface="Calibri" pitchFamily="34" charset="-122"/>
                <a:cs typeface="Calibri" pitchFamily="34" charset="-120"/>
              </a:rPr>
              <a:t>The same three I opened with. Now — what I'm asking for.</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NEXT STEPS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What we're asking for today</a:t>
            </a:r>
            <a:endParaRPr lang="en-US" sz="2600" dirty="0"/>
          </a:p>
        </p:txBody>
      </p:sp>
      <p:sp>
        <p:nvSpPr>
          <p:cNvPr id="4" name="Shape 2"/>
          <p:cNvSpPr/>
          <p:nvPr/>
        </p:nvSpPr>
        <p:spPr>
          <a:xfrm>
            <a:off x="548640" y="1435608"/>
            <a:ext cx="420624" cy="420624"/>
          </a:xfrm>
          <a:prstGeom prst="ellipse">
            <a:avLst/>
          </a:prstGeom>
          <a:solidFill>
            <a:srgbClr val="C9A227"/>
          </a:solidFill>
          <a:ln/>
        </p:spPr>
        <p:txBody>
          <a:bodyPr/>
          <a:lstStyle/>
          <a:p>
            <a:endParaRPr lang="en-GB"/>
          </a:p>
        </p:txBody>
      </p:sp>
      <p:sp>
        <p:nvSpPr>
          <p:cNvPr id="5" name="Text 3"/>
          <p:cNvSpPr/>
          <p:nvPr/>
        </p:nvSpPr>
        <p:spPr>
          <a:xfrm>
            <a:off x="548640" y="1435608"/>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88720" y="1417320"/>
            <a:ext cx="7406640" cy="50292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Nominate two pilot analysts</a:t>
            </a:r>
            <a:endParaRPr lang="en-US" sz="1600" dirty="0"/>
          </a:p>
        </p:txBody>
      </p:sp>
      <p:sp>
        <p:nvSpPr>
          <p:cNvPr id="7" name="Shape 5"/>
          <p:cNvSpPr/>
          <p:nvPr/>
        </p:nvSpPr>
        <p:spPr>
          <a:xfrm>
            <a:off x="548640" y="2148840"/>
            <a:ext cx="420624" cy="420624"/>
          </a:xfrm>
          <a:prstGeom prst="ellipse">
            <a:avLst/>
          </a:prstGeom>
          <a:solidFill>
            <a:srgbClr val="C9A227"/>
          </a:solidFill>
          <a:ln/>
        </p:spPr>
        <p:txBody>
          <a:bodyPr/>
          <a:lstStyle/>
          <a:p>
            <a:endParaRPr lang="en-GB"/>
          </a:p>
        </p:txBody>
      </p:sp>
      <p:sp>
        <p:nvSpPr>
          <p:cNvPr id="8" name="Text 6"/>
          <p:cNvSpPr/>
          <p:nvPr/>
        </p:nvSpPr>
        <p:spPr>
          <a:xfrm>
            <a:off x="548640" y="2148840"/>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188720" y="2130552"/>
            <a:ext cx="7406640" cy="50292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Approve the "JSE Research" SharePoint library and connector consent</a:t>
            </a:r>
            <a:endParaRPr lang="en-US" sz="1600" dirty="0"/>
          </a:p>
        </p:txBody>
      </p:sp>
      <p:sp>
        <p:nvSpPr>
          <p:cNvPr id="10" name="Shape 8"/>
          <p:cNvSpPr/>
          <p:nvPr/>
        </p:nvSpPr>
        <p:spPr>
          <a:xfrm>
            <a:off x="548640" y="2862072"/>
            <a:ext cx="420624" cy="420624"/>
          </a:xfrm>
          <a:prstGeom prst="ellipse">
            <a:avLst/>
          </a:prstGeom>
          <a:solidFill>
            <a:srgbClr val="C9A227"/>
          </a:solidFill>
          <a:ln/>
        </p:spPr>
        <p:txBody>
          <a:bodyPr/>
          <a:lstStyle/>
          <a:p>
            <a:endParaRPr lang="en-GB"/>
          </a:p>
        </p:txBody>
      </p:sp>
      <p:sp>
        <p:nvSpPr>
          <p:cNvPr id="11" name="Text 9"/>
          <p:cNvSpPr/>
          <p:nvPr/>
        </p:nvSpPr>
        <p:spPr>
          <a:xfrm>
            <a:off x="548640" y="2862072"/>
            <a:ext cx="420624" cy="420624"/>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3</a:t>
            </a:r>
            <a:endParaRPr lang="en-US" sz="1500" dirty="0"/>
          </a:p>
        </p:txBody>
      </p:sp>
      <p:sp>
        <p:nvSpPr>
          <p:cNvPr id="12" name="Text 10"/>
          <p:cNvSpPr/>
          <p:nvPr/>
        </p:nvSpPr>
        <p:spPr>
          <a:xfrm>
            <a:off x="1188720" y="2843784"/>
            <a:ext cx="7406640" cy="50292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Thirty minutes in week two to review pilot output</a:t>
            </a:r>
            <a:endParaRPr lang="en-US" sz="1600" dirty="0"/>
          </a:p>
        </p:txBody>
      </p:sp>
      <p:sp>
        <p:nvSpPr>
          <p:cNvPr id="13" name="Text 11"/>
          <p:cNvSpPr/>
          <p:nvPr/>
        </p:nvSpPr>
        <p:spPr>
          <a:xfrm>
            <a:off x="548640" y="3977640"/>
            <a:ext cx="8046720" cy="685800"/>
          </a:xfrm>
          <a:prstGeom prst="rect">
            <a:avLst/>
          </a:prstGeom>
          <a:noFill/>
          <a:ln/>
        </p:spPr>
        <p:txBody>
          <a:bodyPr wrap="square" lIns="0" tIns="0" rIns="0" bIns="0" rtlCol="0" anchor="ctr"/>
          <a:lstStyle/>
          <a:p>
            <a:pPr marL="0" indent="0">
              <a:buNone/>
            </a:pPr>
            <a:r>
              <a:rPr lang="en-US" sz="3600" b="1" dirty="0">
                <a:solidFill>
                  <a:srgbClr val="C9A227"/>
                </a:solidFill>
                <a:latin typeface="Georgia" pitchFamily="34" charset="0"/>
                <a:ea typeface="Georgia" pitchFamily="34" charset="-122"/>
                <a:cs typeface="Georgia" pitchFamily="34" charset="-120"/>
              </a:rPr>
              <a:t>Questions?</a:t>
            </a:r>
            <a:endParaRPr lang="en-US" sz="3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SECURITY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Security and data handling</a:t>
            </a:r>
            <a:endParaRPr lang="en-US" sz="2600" dirty="0"/>
          </a:p>
        </p:txBody>
      </p:sp>
      <p:sp>
        <p:nvSpPr>
          <p:cNvPr id="4" name="Text 2"/>
          <p:cNvSpPr/>
          <p:nvPr/>
        </p:nvSpPr>
        <p:spPr>
          <a:xfrm>
            <a:off x="7726680" y="292608"/>
            <a:ext cx="914400" cy="274320"/>
          </a:xfrm>
          <a:prstGeom prst="rect">
            <a:avLst/>
          </a:prstGeom>
          <a:noFill/>
          <a:ln/>
        </p:spPr>
        <p:txBody>
          <a:bodyPr wrap="square" lIns="0" tIns="0" rIns="0" bIns="0" rtlCol="0" anchor="ctr"/>
          <a:lstStyle/>
          <a:p>
            <a:pPr marL="0" indent="0" algn="r">
              <a:buNone/>
            </a:pPr>
            <a:r>
              <a:rPr lang="en-US" sz="1050" b="1" kern="0" spc="200" dirty="0">
                <a:solidFill>
                  <a:srgbClr val="5A6478"/>
                </a:solidFill>
                <a:latin typeface="Calibri" pitchFamily="34" charset="0"/>
                <a:ea typeface="Calibri" pitchFamily="34" charset="-122"/>
                <a:cs typeface="Calibri" pitchFamily="34" charset="-120"/>
              </a:rPr>
              <a:t>BACKUP</a:t>
            </a:r>
            <a:endParaRPr lang="en-US" sz="1050" dirty="0"/>
          </a:p>
        </p:txBody>
      </p:sp>
      <p:sp>
        <p:nvSpPr>
          <p:cNvPr id="5" name="Shape 3"/>
          <p:cNvSpPr/>
          <p:nvPr/>
        </p:nvSpPr>
        <p:spPr>
          <a:xfrm>
            <a:off x="548640" y="1289304"/>
            <a:ext cx="420624" cy="420624"/>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649590" y="1390254"/>
            <a:ext cx="218724" cy="218724"/>
          </a:xfrm>
          <a:prstGeom prst="rect">
            <a:avLst/>
          </a:prstGeom>
        </p:spPr>
      </p:pic>
      <p:sp>
        <p:nvSpPr>
          <p:cNvPr id="7" name="Text 4"/>
          <p:cNvSpPr/>
          <p:nvPr/>
        </p:nvSpPr>
        <p:spPr>
          <a:xfrm>
            <a:off x="1188720" y="1234440"/>
            <a:ext cx="74066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Folder-scoped access</a:t>
            </a:r>
            <a:endParaRPr lang="en-US" sz="1400" dirty="0"/>
          </a:p>
        </p:txBody>
      </p:sp>
      <p:sp>
        <p:nvSpPr>
          <p:cNvPr id="8" name="Text 5"/>
          <p:cNvSpPr/>
          <p:nvPr/>
        </p:nvSpPr>
        <p:spPr>
          <a:xfrm>
            <a:off x="1188720" y="1517904"/>
            <a:ext cx="7406640" cy="45720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Claude reads and writes only the selected working folder — nothing else on the machine</a:t>
            </a:r>
            <a:endParaRPr lang="en-US" sz="1150" dirty="0"/>
          </a:p>
        </p:txBody>
      </p:sp>
      <p:sp>
        <p:nvSpPr>
          <p:cNvPr id="9" name="Shape 6"/>
          <p:cNvSpPr/>
          <p:nvPr/>
        </p:nvSpPr>
        <p:spPr>
          <a:xfrm>
            <a:off x="548640" y="2130552"/>
            <a:ext cx="420624" cy="420624"/>
          </a:xfrm>
          <a:prstGeom prst="ellipse">
            <a:avLst/>
          </a:prstGeom>
          <a:solidFill>
            <a:srgbClr val="1E2761"/>
          </a:solidFill>
          <a:ln/>
        </p:spPr>
        <p:txBody>
          <a:bodyPr/>
          <a:lstStyle/>
          <a:p>
            <a:endParaRPr lang="en-GB"/>
          </a:p>
        </p:txBody>
      </p:sp>
      <p:pic>
        <p:nvPicPr>
          <p:cNvPr id="10" name="Image 1" descr="preencoded.png"/>
          <p:cNvPicPr>
            <a:picLocks noChangeAspect="1"/>
          </p:cNvPicPr>
          <p:nvPr/>
        </p:nvPicPr>
        <p:blipFill>
          <a:blip r:embed="rId4"/>
          <a:stretch>
            <a:fillRect/>
          </a:stretch>
        </p:blipFill>
        <p:spPr>
          <a:xfrm>
            <a:off x="649590" y="2231502"/>
            <a:ext cx="218724" cy="218724"/>
          </a:xfrm>
          <a:prstGeom prst="rect">
            <a:avLst/>
          </a:prstGeom>
        </p:spPr>
      </p:pic>
      <p:sp>
        <p:nvSpPr>
          <p:cNvPr id="11" name="Text 7"/>
          <p:cNvSpPr/>
          <p:nvPr/>
        </p:nvSpPr>
        <p:spPr>
          <a:xfrm>
            <a:off x="1188720" y="2075688"/>
            <a:ext cx="74066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Explicit permissions</a:t>
            </a:r>
            <a:endParaRPr lang="en-US" sz="1400" dirty="0"/>
          </a:p>
        </p:txBody>
      </p:sp>
      <p:sp>
        <p:nvSpPr>
          <p:cNvPr id="12" name="Text 8"/>
          <p:cNvSpPr/>
          <p:nvPr/>
        </p:nvSpPr>
        <p:spPr>
          <a:xfrm>
            <a:off x="1188720" y="2359152"/>
            <a:ext cx="7406640" cy="45720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File, command and web actions sit behind prompts; browser actions happen in a visible tab</a:t>
            </a:r>
            <a:endParaRPr lang="en-US" sz="1150" dirty="0"/>
          </a:p>
        </p:txBody>
      </p:sp>
      <p:sp>
        <p:nvSpPr>
          <p:cNvPr id="13" name="Shape 9"/>
          <p:cNvSpPr/>
          <p:nvPr/>
        </p:nvSpPr>
        <p:spPr>
          <a:xfrm>
            <a:off x="548640" y="2971800"/>
            <a:ext cx="420624" cy="420624"/>
          </a:xfrm>
          <a:prstGeom prst="ellipse">
            <a:avLst/>
          </a:prstGeom>
          <a:solidFill>
            <a:srgbClr val="1E2761"/>
          </a:solidFill>
          <a:ln/>
        </p:spPr>
        <p:txBody>
          <a:bodyPr/>
          <a:lstStyle/>
          <a:p>
            <a:endParaRPr lang="en-GB"/>
          </a:p>
        </p:txBody>
      </p:sp>
      <p:pic>
        <p:nvPicPr>
          <p:cNvPr id="14" name="Image 2" descr="preencoded.png"/>
          <p:cNvPicPr>
            <a:picLocks noChangeAspect="1"/>
          </p:cNvPicPr>
          <p:nvPr/>
        </p:nvPicPr>
        <p:blipFill>
          <a:blip r:embed="rId5"/>
          <a:stretch>
            <a:fillRect/>
          </a:stretch>
        </p:blipFill>
        <p:spPr>
          <a:xfrm>
            <a:off x="649590" y="3072750"/>
            <a:ext cx="218724" cy="218724"/>
          </a:xfrm>
          <a:prstGeom prst="rect">
            <a:avLst/>
          </a:prstGeom>
        </p:spPr>
      </p:pic>
      <p:sp>
        <p:nvSpPr>
          <p:cNvPr id="15" name="Text 10"/>
          <p:cNvSpPr/>
          <p:nvPr/>
        </p:nvSpPr>
        <p:spPr>
          <a:xfrm>
            <a:off x="1188720" y="2916936"/>
            <a:ext cx="74066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Admin controls</a:t>
            </a:r>
            <a:endParaRPr lang="en-US" sz="1400" dirty="0"/>
          </a:p>
        </p:txBody>
      </p:sp>
      <p:sp>
        <p:nvSpPr>
          <p:cNvPr id="16" name="Text 11"/>
          <p:cNvSpPr/>
          <p:nvPr/>
        </p:nvSpPr>
        <p:spPr>
          <a:xfrm>
            <a:off x="1188720" y="3200400"/>
            <a:ext cx="7406640" cy="45720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Org owners control web access and connectors centrally (Admin settings → Capabilities)</a:t>
            </a:r>
            <a:endParaRPr lang="en-US" sz="1150" dirty="0"/>
          </a:p>
        </p:txBody>
      </p:sp>
      <p:sp>
        <p:nvSpPr>
          <p:cNvPr id="17" name="Shape 12"/>
          <p:cNvSpPr/>
          <p:nvPr/>
        </p:nvSpPr>
        <p:spPr>
          <a:xfrm>
            <a:off x="548640" y="3813048"/>
            <a:ext cx="420624" cy="420624"/>
          </a:xfrm>
          <a:prstGeom prst="ellipse">
            <a:avLst/>
          </a:prstGeom>
          <a:solidFill>
            <a:srgbClr val="1E2761"/>
          </a:solidFill>
          <a:ln/>
        </p:spPr>
        <p:txBody>
          <a:bodyPr/>
          <a:lstStyle/>
          <a:p>
            <a:endParaRPr lang="en-GB"/>
          </a:p>
        </p:txBody>
      </p:sp>
      <p:pic>
        <p:nvPicPr>
          <p:cNvPr id="18" name="Image 3" descr="preencoded.png"/>
          <p:cNvPicPr>
            <a:picLocks noChangeAspect="1"/>
          </p:cNvPicPr>
          <p:nvPr/>
        </p:nvPicPr>
        <p:blipFill>
          <a:blip r:embed="rId6"/>
          <a:stretch>
            <a:fillRect/>
          </a:stretch>
        </p:blipFill>
        <p:spPr>
          <a:xfrm>
            <a:off x="649590" y="3913998"/>
            <a:ext cx="218724" cy="218724"/>
          </a:xfrm>
          <a:prstGeom prst="rect">
            <a:avLst/>
          </a:prstGeom>
        </p:spPr>
      </p:pic>
      <p:sp>
        <p:nvSpPr>
          <p:cNvPr id="19" name="Text 13"/>
          <p:cNvSpPr/>
          <p:nvPr/>
        </p:nvSpPr>
        <p:spPr>
          <a:xfrm>
            <a:off x="1188720" y="3758184"/>
            <a:ext cx="74066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Data handling</a:t>
            </a:r>
            <a:endParaRPr lang="en-US" sz="1400" dirty="0"/>
          </a:p>
        </p:txBody>
      </p:sp>
      <p:sp>
        <p:nvSpPr>
          <p:cNvPr id="20" name="Text 14"/>
          <p:cNvSpPr/>
          <p:nvPr/>
        </p:nvSpPr>
        <p:spPr>
          <a:xfrm>
            <a:off x="1188720" y="4041648"/>
            <a:ext cx="7406640" cy="45720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Commercial terms govern training and retention — confirm the current policy at docs.claude.com at decision time</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SETUP</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Full setup checklist</a:t>
            </a:r>
            <a:endParaRPr lang="en-US" sz="2600" dirty="0"/>
          </a:p>
        </p:txBody>
      </p:sp>
      <p:sp>
        <p:nvSpPr>
          <p:cNvPr id="4" name="Text 2"/>
          <p:cNvSpPr/>
          <p:nvPr/>
        </p:nvSpPr>
        <p:spPr>
          <a:xfrm>
            <a:off x="7726680" y="292608"/>
            <a:ext cx="914400" cy="274320"/>
          </a:xfrm>
          <a:prstGeom prst="rect">
            <a:avLst/>
          </a:prstGeom>
          <a:noFill/>
          <a:ln/>
        </p:spPr>
        <p:txBody>
          <a:bodyPr wrap="square" lIns="0" tIns="0" rIns="0" bIns="0" rtlCol="0" anchor="ctr"/>
          <a:lstStyle/>
          <a:p>
            <a:pPr marL="0" indent="0" algn="r">
              <a:buNone/>
            </a:pPr>
            <a:r>
              <a:rPr lang="en-US" sz="1050" b="1" kern="0" spc="200" dirty="0">
                <a:solidFill>
                  <a:srgbClr val="5A6478"/>
                </a:solidFill>
                <a:latin typeface="Calibri" pitchFamily="34" charset="0"/>
                <a:ea typeface="Calibri" pitchFamily="34" charset="-122"/>
                <a:cs typeface="Calibri" pitchFamily="34" charset="-120"/>
              </a:rPr>
              <a:t>BACKUP</a:t>
            </a:r>
            <a:endParaRPr lang="en-US" sz="1050" dirty="0"/>
          </a:p>
        </p:txBody>
      </p:sp>
      <p:sp>
        <p:nvSpPr>
          <p:cNvPr id="5" name="Text 3"/>
          <p:cNvSpPr/>
          <p:nvPr/>
        </p:nvSpPr>
        <p:spPr>
          <a:xfrm>
            <a:off x="548640" y="1234440"/>
            <a:ext cx="3931920" cy="274320"/>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1 · Install &amp; access</a:t>
            </a:r>
            <a:endParaRPr lang="en-US" sz="1250" dirty="0"/>
          </a:p>
        </p:txBody>
      </p:sp>
      <p:sp>
        <p:nvSpPr>
          <p:cNvPr id="6" name="Text 4"/>
          <p:cNvSpPr/>
          <p:nvPr/>
        </p:nvSpPr>
        <p:spPr>
          <a:xfrm>
            <a:off x="594360" y="1545336"/>
            <a:ext cx="3886200" cy="137160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Team/Enterprise licences with Cowork</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Desktop app on pilot machines</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Org admin enables Cowork + web access</a:t>
            </a:r>
            <a:endParaRPr lang="en-US" sz="1000" dirty="0"/>
          </a:p>
        </p:txBody>
      </p:sp>
      <p:sp>
        <p:nvSpPr>
          <p:cNvPr id="7" name="Text 5"/>
          <p:cNvSpPr/>
          <p:nvPr/>
        </p:nvSpPr>
        <p:spPr>
          <a:xfrm>
            <a:off x="4754880" y="1234440"/>
            <a:ext cx="3931920" cy="274320"/>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2 · Workspace</a:t>
            </a:r>
            <a:endParaRPr lang="en-US" sz="1250" dirty="0"/>
          </a:p>
        </p:txBody>
      </p:sp>
      <p:sp>
        <p:nvSpPr>
          <p:cNvPr id="8" name="Text 6"/>
          <p:cNvSpPr/>
          <p:nvPr/>
        </p:nvSpPr>
        <p:spPr>
          <a:xfrm>
            <a:off x="4800600" y="1545336"/>
            <a:ext cx="3886200" cy="137160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Create working folder; grant access</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Add CLAUDE.md (the 'employee handbook')</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Skills in .claude/skills/ inside the folder</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Copy manifest tooling; never hand-edit the index</a:t>
            </a:r>
            <a:endParaRPr lang="en-US" sz="1000" dirty="0"/>
          </a:p>
        </p:txBody>
      </p:sp>
      <p:sp>
        <p:nvSpPr>
          <p:cNvPr id="9" name="Text 7"/>
          <p:cNvSpPr/>
          <p:nvPr/>
        </p:nvSpPr>
        <p:spPr>
          <a:xfrm>
            <a:off x="548640" y="3017520"/>
            <a:ext cx="3931920" cy="274320"/>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3 · Permissions &amp; browser</a:t>
            </a:r>
            <a:endParaRPr lang="en-US" sz="1250" dirty="0"/>
          </a:p>
        </p:txBody>
      </p:sp>
      <p:sp>
        <p:nvSpPr>
          <p:cNvPr id="10" name="Text 8"/>
          <p:cNvSpPr/>
          <p:nvPr/>
        </p:nvSpPr>
        <p:spPr>
          <a:xfrm>
            <a:off x="594360" y="3328416"/>
            <a:ext cx="3886200" cy="137160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Approve file/command/web prompts</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Install + connect the Chrome extension</a:t>
            </a:r>
            <a:endParaRPr lang="en-US" sz="1000" dirty="0"/>
          </a:p>
        </p:txBody>
      </p:sp>
      <p:sp>
        <p:nvSpPr>
          <p:cNvPr id="11" name="Text 9"/>
          <p:cNvSpPr/>
          <p:nvPr/>
        </p:nvSpPr>
        <p:spPr>
          <a:xfrm>
            <a:off x="4754880" y="3017520"/>
            <a:ext cx="3931920" cy="274320"/>
          </a:xfrm>
          <a:prstGeom prst="rect">
            <a:avLst/>
          </a:prstGeom>
          <a:noFill/>
          <a:ln/>
        </p:spPr>
        <p:txBody>
          <a:bodyPr wrap="square" lIns="0" tIns="0" rIns="0" bIns="0" rtlCol="0" anchor="ctr"/>
          <a:lstStyle/>
          <a:p>
            <a:pPr marL="0" indent="0">
              <a:buNone/>
            </a:pPr>
            <a:r>
              <a:rPr lang="en-US" sz="1250" b="1" dirty="0">
                <a:solidFill>
                  <a:srgbClr val="C9A227"/>
                </a:solidFill>
                <a:latin typeface="Calibri" pitchFamily="34" charset="0"/>
                <a:ea typeface="Calibri" pitchFamily="34" charset="-122"/>
                <a:cs typeface="Calibri" pitchFamily="34" charset="-120"/>
              </a:rPr>
              <a:t>4 · SharePoint</a:t>
            </a:r>
            <a:endParaRPr lang="en-US" sz="1250" dirty="0"/>
          </a:p>
        </p:txBody>
      </p:sp>
      <p:sp>
        <p:nvSpPr>
          <p:cNvPr id="12" name="Text 10"/>
          <p:cNvSpPr/>
          <p:nvPr/>
        </p:nvSpPr>
        <p:spPr>
          <a:xfrm>
            <a:off x="4800600" y="3328416"/>
            <a:ext cx="3886200" cy="137160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Create 'JSE Research' library; sync via OneDrive</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Use the synced folder as the working folder</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Connect SharePoint connector (admin consent)</a:t>
            </a:r>
            <a:endParaRPr lang="en-US" sz="1000" dirty="0"/>
          </a:p>
          <a:p>
            <a:pPr marL="342900" indent="-342900">
              <a:spcAft>
                <a:spcPts val="300"/>
              </a:spcAft>
              <a:buSzPct val="100000"/>
              <a:buChar char="•"/>
            </a:pPr>
            <a:r>
              <a:rPr lang="en-US" sz="1000" dirty="0">
                <a:solidFill>
                  <a:srgbClr val="1A2238"/>
                </a:solidFill>
                <a:latin typeface="Calibri" pitchFamily="34" charset="0"/>
                <a:ea typeface="Calibri" pitchFamily="34" charset="-122"/>
                <a:cs typeface="Calibri" pitchFamily="34" charset="-120"/>
              </a:rPr>
              <a:t>One writer to start; team reads via SharePoint</a:t>
            </a:r>
            <a:endParaRPr lang="en-US" sz="1000" dirty="0"/>
          </a:p>
        </p:txBody>
      </p:sp>
      <p:sp>
        <p:nvSpPr>
          <p:cNvPr id="13" name="Text 11"/>
          <p:cNvSpPr/>
          <p:nvPr/>
        </p:nvSpPr>
        <p:spPr>
          <a:xfrm>
            <a:off x="548640" y="4736592"/>
            <a:ext cx="8046720" cy="274320"/>
          </a:xfrm>
          <a:prstGeom prst="rect">
            <a:avLst/>
          </a:prstGeom>
          <a:noFill/>
          <a:ln/>
        </p:spPr>
        <p:txBody>
          <a:bodyPr wrap="square" lIns="0" tIns="0" rIns="0" bIns="0" rtlCol="0" anchor="ctr"/>
          <a:lstStyle/>
          <a:p>
            <a:pPr marL="0" indent="0">
              <a:buNone/>
            </a:pPr>
            <a:r>
              <a:rPr lang="en-US" sz="1100" i="1" dirty="0">
                <a:solidFill>
                  <a:srgbClr val="1E2761"/>
                </a:solidFill>
                <a:latin typeface="Calibri" pitchFamily="34" charset="0"/>
                <a:ea typeface="Calibri" pitchFamily="34" charset="-122"/>
                <a:cs typeface="Calibri" pitchFamily="34" charset="-120"/>
              </a:rPr>
              <a:t>5 · Verify: "what are we tracking?" → "tell me about Shoprite" → paste rough notes. All three should just work.</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0240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77951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WHERE THE DATA COMES FROM</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How Claude gets what it analyses</a:t>
            </a:r>
            <a:endParaRPr lang="en-US" sz="2600" dirty="0"/>
          </a:p>
        </p:txBody>
      </p:sp>
      <p:sp>
        <p:nvSpPr>
          <p:cNvPr id="4" name="Shape 2"/>
          <p:cNvSpPr/>
          <p:nvPr/>
        </p:nvSpPr>
        <p:spPr>
          <a:xfrm>
            <a:off x="548640" y="1325880"/>
            <a:ext cx="2468880" cy="1143000"/>
          </a:xfrm>
          <a:prstGeom prst="roundRect">
            <a:avLst>
              <a:gd name="adj" fmla="val 4800"/>
            </a:avLst>
          </a:prstGeom>
          <a:solidFill>
            <a:srgbClr val="1E2761"/>
          </a:solidFill>
          <a:ln/>
        </p:spPr>
        <p:txBody>
          <a:bodyPr/>
          <a:lstStyle/>
          <a:p>
            <a:endParaRPr lang="en-GB"/>
          </a:p>
        </p:txBody>
      </p:sp>
      <p:sp>
        <p:nvSpPr>
          <p:cNvPr id="5" name="Text 3"/>
          <p:cNvSpPr/>
          <p:nvPr/>
        </p:nvSpPr>
        <p:spPr>
          <a:xfrm>
            <a:off x="685800" y="1463040"/>
            <a:ext cx="2194560" cy="86868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Public web</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IR sites · SENS · filings</a:t>
            </a:r>
            <a:endParaRPr lang="en-US" sz="1250" dirty="0"/>
          </a:p>
        </p:txBody>
      </p:sp>
      <p:sp>
        <p:nvSpPr>
          <p:cNvPr id="6" name="Text 4"/>
          <p:cNvSpPr/>
          <p:nvPr/>
        </p:nvSpPr>
        <p:spPr>
          <a:xfrm>
            <a:off x="3063240" y="1481328"/>
            <a:ext cx="1371600" cy="822960"/>
          </a:xfrm>
          <a:prstGeom prst="rect">
            <a:avLst/>
          </a:prstGeom>
          <a:noFill/>
          <a:ln/>
        </p:spPr>
        <p:txBody>
          <a:bodyPr wrap="square" lIns="0" tIns="0" rIns="0" bIns="0" rtlCol="0" anchor="ctr"/>
          <a:lstStyle/>
          <a:p>
            <a:pPr marL="0" indent="0" algn="ctr">
              <a:buNone/>
            </a:pPr>
            <a:r>
              <a:rPr lang="en-US" sz="1100" b="1" dirty="0">
                <a:solidFill>
                  <a:srgbClr val="C9A227"/>
                </a:solidFill>
                <a:latin typeface="Calibri" pitchFamily="34" charset="0"/>
                <a:ea typeface="Calibri" pitchFamily="34" charset="-122"/>
                <a:cs typeface="Calibri" pitchFamily="34" charset="-120"/>
              </a:rPr>
              <a:t>Fetched &amp; filed by</a:t>
            </a:r>
            <a:endParaRPr lang="en-US" sz="1100" dirty="0"/>
          </a:p>
          <a:p>
            <a:pPr marL="0" indent="0" algn="ctr">
              <a:buNone/>
            </a:pPr>
            <a:r>
              <a:rPr lang="en-US" sz="1100" b="1" dirty="0">
                <a:solidFill>
                  <a:srgbClr val="C9A227"/>
                </a:solidFill>
                <a:latin typeface="Calibri" pitchFamily="34" charset="0"/>
                <a:ea typeface="Calibri" pitchFamily="34" charset="-122"/>
                <a:cs typeface="Calibri" pitchFamily="34" charset="-120"/>
              </a:rPr>
              <a:t>→</a:t>
            </a:r>
            <a:endParaRPr lang="en-US" sz="1100" dirty="0"/>
          </a:p>
        </p:txBody>
      </p:sp>
      <p:sp>
        <p:nvSpPr>
          <p:cNvPr id="7" name="Shape 5"/>
          <p:cNvSpPr/>
          <p:nvPr/>
        </p:nvSpPr>
        <p:spPr>
          <a:xfrm>
            <a:off x="4480560" y="1325880"/>
            <a:ext cx="2468880" cy="1143000"/>
          </a:xfrm>
          <a:prstGeom prst="roundRect">
            <a:avLst>
              <a:gd name="adj" fmla="val 4800"/>
            </a:avLst>
          </a:prstGeom>
          <a:solidFill>
            <a:srgbClr val="EEF3FC"/>
          </a:solidFill>
          <a:ln/>
        </p:spPr>
        <p:txBody>
          <a:bodyPr/>
          <a:lstStyle/>
          <a:p>
            <a:endParaRPr lang="en-GB"/>
          </a:p>
        </p:txBody>
      </p:sp>
      <p:sp>
        <p:nvSpPr>
          <p:cNvPr id="8" name="Text 6"/>
          <p:cNvSpPr/>
          <p:nvPr/>
        </p:nvSpPr>
        <p:spPr>
          <a:xfrm>
            <a:off x="4617720" y="1463040"/>
            <a:ext cx="2194560" cy="86868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The download skill</a:t>
            </a:r>
            <a:endParaRPr lang="en-US" sz="1250" dirty="0"/>
          </a:p>
          <a:p>
            <a:pPr marL="0" indent="0" algn="ctr">
              <a:buNone/>
            </a:pPr>
            <a:r>
              <a:rPr lang="en-US" sz="1250" b="1" dirty="0">
                <a:solidFill>
                  <a:srgbClr val="1E2761"/>
                </a:solidFill>
                <a:latin typeface="Calibri" pitchFamily="34" charset="0"/>
                <a:ea typeface="Calibri" pitchFamily="34" charset="-122"/>
                <a:cs typeface="Calibri" pitchFamily="34" charset="-120"/>
              </a:rPr>
              <a:t>+ Chrome for hard sites</a:t>
            </a:r>
            <a:endParaRPr lang="en-US" sz="1250" dirty="0"/>
          </a:p>
        </p:txBody>
      </p:sp>
      <p:sp>
        <p:nvSpPr>
          <p:cNvPr id="9" name="Text 7"/>
          <p:cNvSpPr/>
          <p:nvPr/>
        </p:nvSpPr>
        <p:spPr>
          <a:xfrm>
            <a:off x="6967728" y="1664208"/>
            <a:ext cx="457200" cy="457200"/>
          </a:xfrm>
          <a:prstGeom prst="rect">
            <a:avLst/>
          </a:prstGeom>
          <a:noFill/>
          <a:ln/>
        </p:spPr>
        <p:txBody>
          <a:bodyPr wrap="square" lIns="0" tIns="0" rIns="0" bIns="0" rtlCol="0" anchor="ctr"/>
          <a:lstStyle/>
          <a:p>
            <a:pPr marL="0" indent="0" algn="ctr">
              <a:buNone/>
            </a:pPr>
            <a:r>
              <a:rPr lang="en-US" sz="2000" b="1" dirty="0">
                <a:solidFill>
                  <a:srgbClr val="C9A227"/>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7452360" y="1325880"/>
            <a:ext cx="1325880" cy="1143000"/>
          </a:xfrm>
          <a:prstGeom prst="roundRect">
            <a:avLst>
              <a:gd name="adj" fmla="val 4800"/>
            </a:avLst>
          </a:prstGeom>
          <a:solidFill>
            <a:srgbClr val="C9A227"/>
          </a:solidFill>
          <a:ln/>
        </p:spPr>
        <p:txBody>
          <a:bodyPr/>
          <a:lstStyle/>
          <a:p>
            <a:endParaRPr lang="en-GB"/>
          </a:p>
        </p:txBody>
      </p:sp>
      <p:sp>
        <p:nvSpPr>
          <p:cNvPr id="11" name="Text 9"/>
          <p:cNvSpPr/>
          <p:nvPr/>
        </p:nvSpPr>
        <p:spPr>
          <a:xfrm>
            <a:off x="7498080" y="1463040"/>
            <a:ext cx="1234440" cy="868680"/>
          </a:xfrm>
          <a:prstGeom prst="rect">
            <a:avLst/>
          </a:prstGeom>
          <a:noFill/>
          <a:ln/>
        </p:spPr>
        <p:txBody>
          <a:bodyPr wrap="square" lIns="0" tIns="0" rIns="0" bIns="0"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Workspace + Claude</a:t>
            </a:r>
            <a:endParaRPr lang="en-US" sz="1400" dirty="0"/>
          </a:p>
        </p:txBody>
      </p:sp>
      <p:sp>
        <p:nvSpPr>
          <p:cNvPr id="12" name="Text 10"/>
          <p:cNvSpPr/>
          <p:nvPr/>
        </p:nvSpPr>
        <p:spPr>
          <a:xfrm>
            <a:off x="548640" y="2697480"/>
            <a:ext cx="8046720" cy="292608"/>
          </a:xfrm>
          <a:prstGeom prst="rect">
            <a:avLst/>
          </a:prstGeom>
          <a:noFill/>
          <a:ln/>
        </p:spPr>
        <p:txBody>
          <a:bodyPr wrap="square" lIns="0" tIns="0" rIns="0" bIns="0" rtlCol="0" anchor="ctr"/>
          <a:lstStyle/>
          <a:p>
            <a:pPr marL="0" indent="0">
              <a:buNone/>
            </a:pPr>
            <a:r>
              <a:rPr lang="en-US" sz="1200" dirty="0">
                <a:solidFill>
                  <a:srgbClr val="5A6478"/>
                </a:solidFill>
                <a:latin typeface="Calibri" pitchFamily="34" charset="0"/>
                <a:ea typeface="Calibri" pitchFamily="34" charset="-122"/>
                <a:cs typeface="Calibri" pitchFamily="34" charset="-120"/>
              </a:rPr>
              <a:t>Internal models &amp; notes join via the SharePoint connector — read in place, no migration.</a:t>
            </a:r>
            <a:endParaRPr lang="en-US" sz="1200" dirty="0"/>
          </a:p>
        </p:txBody>
      </p:sp>
      <p:sp>
        <p:nvSpPr>
          <p:cNvPr id="13" name="Text 11"/>
          <p:cNvSpPr/>
          <p:nvPr/>
        </p:nvSpPr>
        <p:spPr>
          <a:xfrm>
            <a:off x="548640" y="3108960"/>
            <a:ext cx="7863840" cy="1005840"/>
          </a:xfrm>
          <a:prstGeom prst="rect">
            <a:avLst/>
          </a:prstGeom>
          <a:noFill/>
          <a:ln/>
        </p:spPr>
        <p:txBody>
          <a:bodyPr wrap="square" rtlCol="0" anchor="ctr"/>
          <a:lstStyle/>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Web search &amp; fetch for anything public — prices, news, filings</a:t>
            </a:r>
            <a:endParaRPr lang="en-US" sz="1250" dirty="0"/>
          </a:p>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The download skill finds, names and files reports automatically</a:t>
            </a:r>
            <a:endParaRPr lang="en-US" sz="1250" dirty="0"/>
          </a:p>
          <a:p>
            <a:pPr marL="342900" indent="-342900">
              <a:spcAft>
                <a:spcPts val="600"/>
              </a:spcAft>
              <a:buSzPct val="100000"/>
              <a:buChar char="•"/>
            </a:pPr>
            <a:r>
              <a:rPr lang="en-US" sz="1250" dirty="0">
                <a:solidFill>
                  <a:srgbClr val="1A2238"/>
                </a:solidFill>
                <a:latin typeface="Calibri" pitchFamily="34" charset="0"/>
                <a:ea typeface="Calibri" pitchFamily="34" charset="-122"/>
                <a:cs typeface="Calibri" pitchFamily="34" charset="-120"/>
              </a:rPr>
              <a:t>Chrome extension drives IR sites that block plain downloads</a:t>
            </a:r>
            <a:endParaRPr lang="en-US" sz="1250" dirty="0"/>
          </a:p>
        </p:txBody>
      </p:sp>
      <p:sp>
        <p:nvSpPr>
          <p:cNvPr id="14" name="Text 12"/>
          <p:cNvSpPr/>
          <p:nvPr/>
        </p:nvSpPr>
        <p:spPr>
          <a:xfrm>
            <a:off x="548640" y="4297680"/>
            <a:ext cx="8046720" cy="320040"/>
          </a:xfrm>
          <a:prstGeom prst="rect">
            <a:avLst/>
          </a:prstGeom>
          <a:noFill/>
          <a:ln/>
        </p:spPr>
        <p:txBody>
          <a:bodyPr wrap="square" lIns="0" tIns="0" rIns="0" bIns="0" rtlCol="0" anchor="ctr"/>
          <a:lstStyle/>
          <a:p>
            <a:pPr marL="0" indent="0">
              <a:buNone/>
            </a:pPr>
            <a:r>
              <a:rPr lang="en-US" sz="1250" i="1" dirty="0">
                <a:solidFill>
                  <a:srgbClr val="1E2761"/>
                </a:solidFill>
                <a:latin typeface="Calibri" pitchFamily="34" charset="0"/>
                <a:ea typeface="Calibri" pitchFamily="34" charset="-122"/>
                <a:cs typeface="Calibri" pitchFamily="34" charset="-120"/>
              </a:rPr>
              <a:t>Every fetch, file write and connector sits behind a permission prompt — nothing happens silently.</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ADOPTION</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The path from pilot to firm-wide</a:t>
            </a:r>
            <a:endParaRPr lang="en-US" sz="2600" dirty="0"/>
          </a:p>
        </p:txBody>
      </p:sp>
      <p:sp>
        <p:nvSpPr>
          <p:cNvPr id="4" name="Shape 2"/>
          <p:cNvSpPr/>
          <p:nvPr/>
        </p:nvSpPr>
        <p:spPr>
          <a:xfrm>
            <a:off x="548640" y="1280160"/>
            <a:ext cx="1947672" cy="2743200"/>
          </a:xfrm>
          <a:prstGeom prst="roundRect">
            <a:avLst>
              <a:gd name="adj" fmla="val 2817"/>
            </a:avLst>
          </a:prstGeom>
          <a:solidFill>
            <a:srgbClr val="EEF3FC"/>
          </a:solidFill>
          <a:ln/>
        </p:spPr>
        <p:txBody>
          <a:bodyPr/>
          <a:lstStyle/>
          <a:p>
            <a:endParaRPr lang="en-GB"/>
          </a:p>
        </p:txBody>
      </p:sp>
      <p:sp>
        <p:nvSpPr>
          <p:cNvPr id="5" name="Text 3"/>
          <p:cNvSpPr/>
          <p:nvPr/>
        </p:nvSpPr>
        <p:spPr>
          <a:xfrm>
            <a:off x="731520"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M1</a:t>
            </a:r>
            <a:endParaRPr lang="en-US" sz="2600" dirty="0"/>
          </a:p>
        </p:txBody>
      </p:sp>
      <p:sp>
        <p:nvSpPr>
          <p:cNvPr id="6" name="Text 4"/>
          <p:cNvSpPr/>
          <p:nvPr/>
        </p:nvSpPr>
        <p:spPr>
          <a:xfrm>
            <a:off x="731520"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Weeks 1–2</a:t>
            </a:r>
            <a:endParaRPr lang="en-US" sz="1050" dirty="0"/>
          </a:p>
        </p:txBody>
      </p:sp>
      <p:sp>
        <p:nvSpPr>
          <p:cNvPr id="7" name="Text 5"/>
          <p:cNvSpPr/>
          <p:nvPr/>
        </p:nvSpPr>
        <p:spPr>
          <a:xfrm>
            <a:off x="731520"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JSE workspace live</a:t>
            </a:r>
            <a:endParaRPr lang="en-US" sz="1300" dirty="0"/>
          </a:p>
        </p:txBody>
      </p:sp>
      <p:sp>
        <p:nvSpPr>
          <p:cNvPr id="8" name="Text 6"/>
          <p:cNvSpPr/>
          <p:nvPr/>
        </p:nvSpPr>
        <p:spPr>
          <a:xfrm>
            <a:off x="731520"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Deployed to SharePoint; two pilot analysts; current coverage as the watchlist</a:t>
            </a:r>
            <a:endParaRPr lang="en-US" sz="1000" dirty="0"/>
          </a:p>
        </p:txBody>
      </p:sp>
      <p:sp>
        <p:nvSpPr>
          <p:cNvPr id="9" name="Shape 7"/>
          <p:cNvSpPr/>
          <p:nvPr/>
        </p:nvSpPr>
        <p:spPr>
          <a:xfrm>
            <a:off x="2679192" y="1280160"/>
            <a:ext cx="1947672" cy="2743200"/>
          </a:xfrm>
          <a:prstGeom prst="roundRect">
            <a:avLst>
              <a:gd name="adj" fmla="val 2817"/>
            </a:avLst>
          </a:prstGeom>
          <a:solidFill>
            <a:srgbClr val="EEF3FC"/>
          </a:solidFill>
          <a:ln/>
        </p:spPr>
        <p:txBody>
          <a:bodyPr/>
          <a:lstStyle/>
          <a:p>
            <a:endParaRPr lang="en-GB"/>
          </a:p>
        </p:txBody>
      </p:sp>
      <p:sp>
        <p:nvSpPr>
          <p:cNvPr id="10" name="Text 8"/>
          <p:cNvSpPr/>
          <p:nvPr/>
        </p:nvSpPr>
        <p:spPr>
          <a:xfrm>
            <a:off x="2862072"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M2</a:t>
            </a:r>
            <a:endParaRPr lang="en-US" sz="2600" dirty="0"/>
          </a:p>
        </p:txBody>
      </p:sp>
      <p:sp>
        <p:nvSpPr>
          <p:cNvPr id="11" name="Text 9"/>
          <p:cNvSpPr/>
          <p:nvPr/>
        </p:nvSpPr>
        <p:spPr>
          <a:xfrm>
            <a:off x="2862072"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Weeks 3–6</a:t>
            </a:r>
            <a:endParaRPr lang="en-US" sz="1050" dirty="0"/>
          </a:p>
        </p:txBody>
      </p:sp>
      <p:sp>
        <p:nvSpPr>
          <p:cNvPr id="12" name="Text 10"/>
          <p:cNvSpPr/>
          <p:nvPr/>
        </p:nvSpPr>
        <p:spPr>
          <a:xfrm>
            <a:off x="2862072"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Connect the estate</a:t>
            </a:r>
            <a:endParaRPr lang="en-US" sz="1300" dirty="0"/>
          </a:p>
        </p:txBody>
      </p:sp>
      <p:sp>
        <p:nvSpPr>
          <p:cNvPr id="13" name="Text 11"/>
          <p:cNvSpPr/>
          <p:nvPr/>
        </p:nvSpPr>
        <p:spPr>
          <a:xfrm>
            <a:off x="2862072"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SharePoint research and Outlook broker notes wired in; team-wide read access</a:t>
            </a:r>
            <a:endParaRPr lang="en-US" sz="1000" dirty="0"/>
          </a:p>
        </p:txBody>
      </p:sp>
      <p:sp>
        <p:nvSpPr>
          <p:cNvPr id="14" name="Shape 12"/>
          <p:cNvSpPr/>
          <p:nvPr/>
        </p:nvSpPr>
        <p:spPr>
          <a:xfrm>
            <a:off x="4809744" y="1280160"/>
            <a:ext cx="1947672" cy="2743200"/>
          </a:xfrm>
          <a:prstGeom prst="roundRect">
            <a:avLst>
              <a:gd name="adj" fmla="val 2817"/>
            </a:avLst>
          </a:prstGeom>
          <a:solidFill>
            <a:srgbClr val="EEF3FC"/>
          </a:solidFill>
          <a:ln/>
        </p:spPr>
        <p:txBody>
          <a:bodyPr/>
          <a:lstStyle/>
          <a:p>
            <a:endParaRPr lang="en-GB"/>
          </a:p>
        </p:txBody>
      </p:sp>
      <p:sp>
        <p:nvSpPr>
          <p:cNvPr id="15" name="Text 13"/>
          <p:cNvSpPr/>
          <p:nvPr/>
        </p:nvSpPr>
        <p:spPr>
          <a:xfrm>
            <a:off x="4992624"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M3</a:t>
            </a:r>
            <a:endParaRPr lang="en-US" sz="2600" dirty="0"/>
          </a:p>
        </p:txBody>
      </p:sp>
      <p:sp>
        <p:nvSpPr>
          <p:cNvPr id="16" name="Text 14"/>
          <p:cNvSpPr/>
          <p:nvPr/>
        </p:nvSpPr>
        <p:spPr>
          <a:xfrm>
            <a:off x="4992624"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Weeks 6–10</a:t>
            </a:r>
            <a:endParaRPr lang="en-US" sz="1050" dirty="0"/>
          </a:p>
        </p:txBody>
      </p:sp>
      <p:sp>
        <p:nvSpPr>
          <p:cNvPr id="17" name="Text 15"/>
          <p:cNvSpPr/>
          <p:nvPr/>
        </p:nvSpPr>
        <p:spPr>
          <a:xfrm>
            <a:off x="4992624"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Automate the rhythm</a:t>
            </a:r>
            <a:endParaRPr lang="en-US" sz="1300" dirty="0"/>
          </a:p>
        </p:txBody>
      </p:sp>
      <p:sp>
        <p:nvSpPr>
          <p:cNvPr id="18" name="Text 16"/>
          <p:cNvSpPr/>
          <p:nvPr/>
        </p:nvSpPr>
        <p:spPr>
          <a:xfrm>
            <a:off x="4992624"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Morning watchlist updates; IC pack generation; analysts writing their own skills</a:t>
            </a:r>
            <a:endParaRPr lang="en-US" sz="1000" dirty="0"/>
          </a:p>
        </p:txBody>
      </p:sp>
      <p:sp>
        <p:nvSpPr>
          <p:cNvPr id="19" name="Shape 17"/>
          <p:cNvSpPr/>
          <p:nvPr/>
        </p:nvSpPr>
        <p:spPr>
          <a:xfrm>
            <a:off x="6940296" y="1280160"/>
            <a:ext cx="1947672" cy="2743200"/>
          </a:xfrm>
          <a:prstGeom prst="roundRect">
            <a:avLst>
              <a:gd name="adj" fmla="val 2817"/>
            </a:avLst>
          </a:prstGeom>
          <a:solidFill>
            <a:srgbClr val="EEF3FC"/>
          </a:solidFill>
          <a:ln/>
        </p:spPr>
        <p:txBody>
          <a:bodyPr/>
          <a:lstStyle/>
          <a:p>
            <a:endParaRPr lang="en-GB"/>
          </a:p>
        </p:txBody>
      </p:sp>
      <p:sp>
        <p:nvSpPr>
          <p:cNvPr id="20" name="Text 18"/>
          <p:cNvSpPr/>
          <p:nvPr/>
        </p:nvSpPr>
        <p:spPr>
          <a:xfrm>
            <a:off x="7123176" y="1444752"/>
            <a:ext cx="1097280" cy="457200"/>
          </a:xfrm>
          <a:prstGeom prst="rect">
            <a:avLst/>
          </a:prstGeom>
          <a:noFill/>
          <a:ln/>
        </p:spPr>
        <p:txBody>
          <a:bodyPr wrap="square" lIns="0" tIns="0" rIns="0" bIns="0" rtlCol="0" anchor="ctr"/>
          <a:lstStyle/>
          <a:p>
            <a:pPr marL="0" indent="0">
              <a:buNone/>
            </a:pPr>
            <a:r>
              <a:rPr lang="en-US" sz="2600" b="1" dirty="0">
                <a:solidFill>
                  <a:srgbClr val="C9A227"/>
                </a:solidFill>
                <a:latin typeface="Georgia" pitchFamily="34" charset="0"/>
                <a:ea typeface="Georgia" pitchFamily="34" charset="-122"/>
                <a:cs typeface="Georgia" pitchFamily="34" charset="-120"/>
              </a:rPr>
              <a:t>M4</a:t>
            </a:r>
            <a:endParaRPr lang="en-US" sz="2600" dirty="0"/>
          </a:p>
        </p:txBody>
      </p:sp>
      <p:sp>
        <p:nvSpPr>
          <p:cNvPr id="21" name="Text 19"/>
          <p:cNvSpPr/>
          <p:nvPr/>
        </p:nvSpPr>
        <p:spPr>
          <a:xfrm>
            <a:off x="7123176" y="1938528"/>
            <a:ext cx="1600200" cy="256032"/>
          </a:xfrm>
          <a:prstGeom prst="rect">
            <a:avLst/>
          </a:prstGeom>
          <a:noFill/>
          <a:ln/>
        </p:spPr>
        <p:txBody>
          <a:bodyPr wrap="square" lIns="0" tIns="0" rIns="0" bIns="0" rtlCol="0" anchor="ctr"/>
          <a:lstStyle/>
          <a:p>
            <a:pPr marL="0" indent="0">
              <a:buNone/>
            </a:pPr>
            <a:r>
              <a:rPr lang="en-US" sz="1050" b="1" kern="0" spc="100" dirty="0">
                <a:solidFill>
                  <a:srgbClr val="5A6478"/>
                </a:solidFill>
                <a:latin typeface="Calibri" pitchFamily="34" charset="0"/>
                <a:ea typeface="Calibri" pitchFamily="34" charset="-122"/>
                <a:cs typeface="Calibri" pitchFamily="34" charset="-120"/>
              </a:rPr>
              <a:t>Q3 2026</a:t>
            </a:r>
            <a:endParaRPr lang="en-US" sz="1050" dirty="0"/>
          </a:p>
        </p:txBody>
      </p:sp>
      <p:sp>
        <p:nvSpPr>
          <p:cNvPr id="22" name="Text 20"/>
          <p:cNvSpPr/>
          <p:nvPr/>
        </p:nvSpPr>
        <p:spPr>
          <a:xfrm>
            <a:off x="7123176" y="2231136"/>
            <a:ext cx="1600200" cy="5029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Firm-wide</a:t>
            </a:r>
            <a:endParaRPr lang="en-US" sz="1300" dirty="0"/>
          </a:p>
        </p:txBody>
      </p:sp>
      <p:sp>
        <p:nvSpPr>
          <p:cNvPr id="23" name="Text 21"/>
          <p:cNvSpPr/>
          <p:nvPr/>
        </p:nvSpPr>
        <p:spPr>
          <a:xfrm>
            <a:off x="7123176" y="2743200"/>
            <a:ext cx="1600200" cy="1188720"/>
          </a:xfrm>
          <a:prstGeom prst="rect">
            <a:avLst/>
          </a:prstGeom>
          <a:noFill/>
          <a:ln/>
        </p:spPr>
        <p:txBody>
          <a:bodyPr wrap="square" lIns="0" tIns="0" rIns="0" bIns="0" rtlCol="0" anchor="ctr"/>
          <a:lstStyle/>
          <a:p>
            <a:pPr marL="0" indent="0">
              <a:buNone/>
            </a:pPr>
            <a:r>
              <a:rPr lang="en-US" sz="1000" dirty="0">
                <a:solidFill>
                  <a:srgbClr val="1A2238"/>
                </a:solidFill>
                <a:latin typeface="Calibri" pitchFamily="34" charset="0"/>
                <a:ea typeface="Calibri" pitchFamily="34" charset="-122"/>
                <a:cs typeface="Calibri" pitchFamily="34" charset="-120"/>
              </a:rPr>
              <a:t>Ops, compliance and IR monitoring; skill governance; all-staff training</a:t>
            </a:r>
            <a:endParaRPr lang="en-US" sz="1000" dirty="0"/>
          </a:p>
        </p:txBody>
      </p:sp>
      <p:sp>
        <p:nvSpPr>
          <p:cNvPr id="24" name="Text 22"/>
          <p:cNvSpPr/>
          <p:nvPr/>
        </p:nvSpPr>
        <p:spPr>
          <a:xfrm>
            <a:off x="548640" y="434340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Each milestone ships with its own one-page setup guide.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LANDSCAPE</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Claude vs Copilot, in more depth</a:t>
            </a:r>
            <a:endParaRPr lang="en-US" sz="2600" dirty="0"/>
          </a:p>
        </p:txBody>
      </p:sp>
      <p:sp>
        <p:nvSpPr>
          <p:cNvPr id="4" name="Shape 2"/>
          <p:cNvSpPr/>
          <p:nvPr/>
        </p:nvSpPr>
        <p:spPr>
          <a:xfrm>
            <a:off x="548640" y="1325880"/>
            <a:ext cx="3931920" cy="1783080"/>
          </a:xfrm>
          <a:prstGeom prst="roundRect">
            <a:avLst>
              <a:gd name="adj" fmla="val 3077"/>
            </a:avLst>
          </a:prstGeom>
          <a:solidFill>
            <a:srgbClr val="2B3674"/>
          </a:solidFill>
          <a:ln/>
        </p:spPr>
        <p:txBody>
          <a:bodyPr/>
          <a:lstStyle/>
          <a:p>
            <a:endParaRPr lang="en-GB"/>
          </a:p>
        </p:txBody>
      </p:sp>
      <p:sp>
        <p:nvSpPr>
          <p:cNvPr id="5" name="Text 3"/>
          <p:cNvSpPr/>
          <p:nvPr/>
        </p:nvSpPr>
        <p:spPr>
          <a:xfrm>
            <a:off x="7772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CADCFC"/>
                </a:solidFill>
                <a:latin typeface="Calibri" pitchFamily="34" charset="0"/>
                <a:ea typeface="Calibri" pitchFamily="34" charset="-122"/>
                <a:cs typeface="Calibri" pitchFamily="34" charset="-120"/>
              </a:rPr>
              <a:t>WHERE CLAUDE LEADS</a:t>
            </a:r>
            <a:endParaRPr lang="en-US" sz="1100" dirty="0"/>
          </a:p>
        </p:txBody>
      </p:sp>
      <p:sp>
        <p:nvSpPr>
          <p:cNvPr id="6" name="Text 4"/>
          <p:cNvSpPr/>
          <p:nvPr/>
        </p:nvSpPr>
        <p:spPr>
          <a:xfrm>
            <a:off x="777240" y="1828800"/>
            <a:ext cx="3474720" cy="114300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Skills are plain markdown: readable, diff-able, portable across machines and teams. Deep file and agent work with no M365 dependency — the easiest stack to inspect and trust.</a:t>
            </a:r>
            <a:endParaRPr lang="en-US" sz="1250" dirty="0"/>
          </a:p>
        </p:txBody>
      </p:sp>
      <p:sp>
        <p:nvSpPr>
          <p:cNvPr id="7" name="Shape 5"/>
          <p:cNvSpPr/>
          <p:nvPr/>
        </p:nvSpPr>
        <p:spPr>
          <a:xfrm>
            <a:off x="4663440" y="1325880"/>
            <a:ext cx="3931920" cy="1783080"/>
          </a:xfrm>
          <a:prstGeom prst="roundRect">
            <a:avLst>
              <a:gd name="adj" fmla="val 3077"/>
            </a:avLst>
          </a:prstGeom>
          <a:solidFill>
            <a:srgbClr val="CADCFC"/>
          </a:solidFill>
          <a:ln/>
        </p:spPr>
        <p:txBody>
          <a:bodyPr/>
          <a:lstStyle/>
          <a:p>
            <a:endParaRPr lang="en-GB"/>
          </a:p>
        </p:txBody>
      </p:sp>
      <p:sp>
        <p:nvSpPr>
          <p:cNvPr id="8" name="Text 6"/>
          <p:cNvSpPr/>
          <p:nvPr/>
        </p:nvSpPr>
        <p:spPr>
          <a:xfrm>
            <a:off x="4892040" y="1508760"/>
            <a:ext cx="1828800" cy="274320"/>
          </a:xfrm>
          <a:prstGeom prst="rect">
            <a:avLst/>
          </a:prstGeom>
          <a:noFill/>
          <a:ln/>
        </p:spPr>
        <p:txBody>
          <a:bodyPr wrap="square" lIns="0" tIns="0" rIns="0" bIns="0" rtlCol="0" anchor="ctr"/>
          <a:lstStyle/>
          <a:p>
            <a:pPr marL="0" indent="0">
              <a:buNone/>
            </a:pPr>
            <a:r>
              <a:rPr lang="en-US" sz="1100" b="1" kern="0" spc="200" dirty="0">
                <a:solidFill>
                  <a:srgbClr val="1E2761"/>
                </a:solidFill>
                <a:latin typeface="Calibri" pitchFamily="34" charset="0"/>
                <a:ea typeface="Calibri" pitchFamily="34" charset="-122"/>
                <a:cs typeface="Calibri" pitchFamily="34" charset="-120"/>
              </a:rPr>
              <a:t>WHERE COPILOT LEADS</a:t>
            </a:r>
            <a:endParaRPr lang="en-US" sz="1100" dirty="0"/>
          </a:p>
        </p:txBody>
      </p:sp>
      <p:sp>
        <p:nvSpPr>
          <p:cNvPr id="9" name="Text 7"/>
          <p:cNvSpPr/>
          <p:nvPr/>
        </p:nvSpPr>
        <p:spPr>
          <a:xfrm>
            <a:off x="4892040" y="1828800"/>
            <a:ext cx="3474720" cy="1143000"/>
          </a:xfrm>
          <a:prstGeom prst="rect">
            <a:avLst/>
          </a:prstGeom>
          <a:noFill/>
          <a:ln/>
        </p:spPr>
        <p:txBody>
          <a:bodyPr wrap="square" lIns="0" tIns="0" rIns="0" bIns="0" rtlCol="0" anchor="ctr"/>
          <a:lstStyle/>
          <a:p>
            <a:pPr marL="0" indent="0">
              <a:buNone/>
            </a:pPr>
            <a:r>
              <a:rPr lang="en-US" sz="1250" dirty="0">
                <a:solidFill>
                  <a:srgbClr val="1A2238"/>
                </a:solidFill>
                <a:latin typeface="Calibri" pitchFamily="34" charset="0"/>
                <a:ea typeface="Calibri" pitchFamily="34" charset="-122"/>
                <a:cs typeface="Calibri" pitchFamily="34" charset="-120"/>
              </a:rPr>
              <a:t>Already inside M365: native to Word, Excel, Teams and SharePoint, with admin governance you know and no new vendor. Strong if you live in Microsoft.</a:t>
            </a:r>
            <a:endParaRPr lang="en-US" sz="1250" dirty="0"/>
          </a:p>
        </p:txBody>
      </p:sp>
      <p:sp>
        <p:nvSpPr>
          <p:cNvPr id="10" name="Text 8"/>
          <p:cNvSpPr/>
          <p:nvPr/>
        </p:nvSpPr>
        <p:spPr>
          <a:xfrm>
            <a:off x="548640" y="3383280"/>
            <a:ext cx="1371600" cy="914400"/>
          </a:xfrm>
          <a:prstGeom prst="rect">
            <a:avLst/>
          </a:prstGeom>
          <a:noFill/>
          <a:ln/>
        </p:spPr>
        <p:txBody>
          <a:bodyPr wrap="square" lIns="0" tIns="0" rIns="0" bIns="0" rtlCol="0" anchor="ctr"/>
          <a:lstStyle/>
          <a:p>
            <a:pPr marL="0" indent="0">
              <a:buNone/>
            </a:pPr>
            <a:r>
              <a:rPr lang="en-US" sz="6000" b="1" dirty="0">
                <a:solidFill>
                  <a:srgbClr val="C9A227"/>
                </a:solidFill>
                <a:latin typeface="Georgia" pitchFamily="34" charset="0"/>
                <a:ea typeface="Georgia" pitchFamily="34" charset="-122"/>
                <a:cs typeface="Georgia" pitchFamily="34" charset="-120"/>
              </a:rPr>
              <a:t>3</a:t>
            </a:r>
            <a:endParaRPr lang="en-US" sz="6000" dirty="0"/>
          </a:p>
        </p:txBody>
      </p:sp>
      <p:sp>
        <p:nvSpPr>
          <p:cNvPr id="11" name="Text 9"/>
          <p:cNvSpPr/>
          <p:nvPr/>
        </p:nvSpPr>
        <p:spPr>
          <a:xfrm>
            <a:off x="2011680" y="3639312"/>
            <a:ext cx="6583680" cy="54864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models sit behind Copilot (OpenAI, Anthropic, Google) — so it may already be running Claude. Choose on fit and governance, not the model badge.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HOW IT THINKS</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Deterministic vs non-deterministic</a:t>
            </a:r>
            <a:endParaRPr lang="en-US" sz="2600" dirty="0"/>
          </a:p>
        </p:txBody>
      </p:sp>
      <p:sp>
        <p:nvSpPr>
          <p:cNvPr id="4" name="Shape 2"/>
          <p:cNvSpPr/>
          <p:nvPr/>
        </p:nvSpPr>
        <p:spPr>
          <a:xfrm>
            <a:off x="548640" y="1307592"/>
            <a:ext cx="384048" cy="384048"/>
          </a:xfrm>
          <a:prstGeom prst="ellipse">
            <a:avLst/>
          </a:prstGeom>
          <a:solidFill>
            <a:srgbClr val="1E2761"/>
          </a:solidFill>
          <a:ln/>
        </p:spPr>
        <p:txBody>
          <a:bodyPr/>
          <a:lstStyle/>
          <a:p>
            <a:endParaRPr lang="en-GB"/>
          </a:p>
        </p:txBody>
      </p:sp>
      <p:sp>
        <p:nvSpPr>
          <p:cNvPr id="5" name="Text 3"/>
          <p:cNvSpPr/>
          <p:nvPr/>
        </p:nvSpPr>
        <p:spPr>
          <a:xfrm>
            <a:off x="548640" y="13075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43000" y="1316736"/>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Non-deterministic by default</a:t>
            </a:r>
            <a:endParaRPr lang="en-US" sz="1400" dirty="0"/>
          </a:p>
        </p:txBody>
      </p:sp>
      <p:sp>
        <p:nvSpPr>
          <p:cNvPr id="7" name="Text 5"/>
          <p:cNvSpPr/>
          <p:nvPr/>
        </p:nvSpPr>
        <p:spPr>
          <a:xfrm>
            <a:off x="6583680" y="1335024"/>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same prompt → slightly different wording</a:t>
            </a:r>
            <a:endParaRPr lang="en-US" sz="1150" dirty="0"/>
          </a:p>
        </p:txBody>
      </p:sp>
      <p:sp>
        <p:nvSpPr>
          <p:cNvPr id="8" name="Shape 6"/>
          <p:cNvSpPr/>
          <p:nvPr/>
        </p:nvSpPr>
        <p:spPr>
          <a:xfrm>
            <a:off x="548640" y="1911096"/>
            <a:ext cx="384048" cy="384048"/>
          </a:xfrm>
          <a:prstGeom prst="ellipse">
            <a:avLst/>
          </a:prstGeom>
          <a:solidFill>
            <a:srgbClr val="1E2761"/>
          </a:solidFill>
          <a:ln/>
        </p:spPr>
        <p:txBody>
          <a:bodyPr/>
          <a:lstStyle/>
          <a:p>
            <a:endParaRPr lang="en-GB"/>
          </a:p>
        </p:txBody>
      </p:sp>
      <p:sp>
        <p:nvSpPr>
          <p:cNvPr id="9" name="Text 7"/>
          <p:cNvSpPr/>
          <p:nvPr/>
        </p:nvSpPr>
        <p:spPr>
          <a:xfrm>
            <a:off x="548640" y="19110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1920240"/>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Great for drafting, summarising, ideas</a:t>
            </a:r>
            <a:endParaRPr lang="en-US" sz="1400" dirty="0"/>
          </a:p>
        </p:txBody>
      </p:sp>
      <p:sp>
        <p:nvSpPr>
          <p:cNvPr id="11" name="Text 9"/>
          <p:cNvSpPr/>
          <p:nvPr/>
        </p:nvSpPr>
        <p:spPr>
          <a:xfrm>
            <a:off x="6583680" y="1938528"/>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variation is a feature</a:t>
            </a:r>
            <a:endParaRPr lang="en-US" sz="1150" dirty="0"/>
          </a:p>
        </p:txBody>
      </p:sp>
      <p:sp>
        <p:nvSpPr>
          <p:cNvPr id="12" name="Shape 10"/>
          <p:cNvSpPr/>
          <p:nvPr/>
        </p:nvSpPr>
        <p:spPr>
          <a:xfrm>
            <a:off x="548640" y="2514600"/>
            <a:ext cx="384048" cy="384048"/>
          </a:xfrm>
          <a:prstGeom prst="ellipse">
            <a:avLst/>
          </a:prstGeom>
          <a:solidFill>
            <a:srgbClr val="1E2761"/>
          </a:solidFill>
          <a:ln/>
        </p:spPr>
        <p:txBody>
          <a:bodyPr/>
          <a:lstStyle/>
          <a:p>
            <a:endParaRPr lang="en-GB"/>
          </a:p>
        </p:txBody>
      </p:sp>
      <p:sp>
        <p:nvSpPr>
          <p:cNvPr id="13" name="Text 11"/>
          <p:cNvSpPr/>
          <p:nvPr/>
        </p:nvSpPr>
        <p:spPr>
          <a:xfrm>
            <a:off x="548640" y="2514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43000" y="2523744"/>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Risky for exact, repeatable maths</a:t>
            </a:r>
            <a:endParaRPr lang="en-US" sz="1400" dirty="0"/>
          </a:p>
        </p:txBody>
      </p:sp>
      <p:sp>
        <p:nvSpPr>
          <p:cNvPr id="15" name="Text 13"/>
          <p:cNvSpPr/>
          <p:nvPr/>
        </p:nvSpPr>
        <p:spPr>
          <a:xfrm>
            <a:off x="6583680" y="2542032"/>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variation becomes a bug</a:t>
            </a:r>
            <a:endParaRPr lang="en-US" sz="1150" dirty="0"/>
          </a:p>
        </p:txBody>
      </p:sp>
      <p:sp>
        <p:nvSpPr>
          <p:cNvPr id="16" name="Shape 14"/>
          <p:cNvSpPr/>
          <p:nvPr/>
        </p:nvSpPr>
        <p:spPr>
          <a:xfrm>
            <a:off x="548640" y="3118104"/>
            <a:ext cx="384048" cy="384048"/>
          </a:xfrm>
          <a:prstGeom prst="ellipse">
            <a:avLst/>
          </a:prstGeom>
          <a:solidFill>
            <a:srgbClr val="1E2761"/>
          </a:solidFill>
          <a:ln/>
        </p:spPr>
        <p:txBody>
          <a:bodyPr/>
          <a:lstStyle/>
          <a:p>
            <a:endParaRPr lang="en-GB"/>
          </a:p>
        </p:txBody>
      </p:sp>
      <p:sp>
        <p:nvSpPr>
          <p:cNvPr id="17" name="Text 15"/>
          <p:cNvSpPr/>
          <p:nvPr/>
        </p:nvSpPr>
        <p:spPr>
          <a:xfrm>
            <a:off x="548640" y="311810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43000" y="3127248"/>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So we hand hard sums to code</a:t>
            </a:r>
            <a:endParaRPr lang="en-US" sz="1400" dirty="0"/>
          </a:p>
        </p:txBody>
      </p:sp>
      <p:sp>
        <p:nvSpPr>
          <p:cNvPr id="19" name="Text 17"/>
          <p:cNvSpPr/>
          <p:nvPr/>
        </p:nvSpPr>
        <p:spPr>
          <a:xfrm>
            <a:off x="6583680" y="3145536"/>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a script returns one answer, always</a:t>
            </a:r>
            <a:endParaRPr lang="en-US" sz="1150" dirty="0"/>
          </a:p>
        </p:txBody>
      </p:sp>
      <p:sp>
        <p:nvSpPr>
          <p:cNvPr id="20" name="Shape 18"/>
          <p:cNvSpPr/>
          <p:nvPr/>
        </p:nvSpPr>
        <p:spPr>
          <a:xfrm>
            <a:off x="548640" y="3721608"/>
            <a:ext cx="384048" cy="384048"/>
          </a:xfrm>
          <a:prstGeom prst="ellipse">
            <a:avLst/>
          </a:prstGeom>
          <a:solidFill>
            <a:srgbClr val="1E2761"/>
          </a:solidFill>
          <a:ln/>
        </p:spPr>
        <p:txBody>
          <a:bodyPr/>
          <a:lstStyle/>
          <a:p>
            <a:endParaRPr lang="en-GB"/>
          </a:p>
        </p:txBody>
      </p:sp>
      <p:sp>
        <p:nvSpPr>
          <p:cNvPr id="21" name="Text 19"/>
          <p:cNvSpPr/>
          <p:nvPr/>
        </p:nvSpPr>
        <p:spPr>
          <a:xfrm>
            <a:off x="548640" y="37216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43000" y="3730752"/>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Rule of thumb</a:t>
            </a:r>
            <a:endParaRPr lang="en-US" sz="1400" dirty="0"/>
          </a:p>
        </p:txBody>
      </p:sp>
      <p:sp>
        <p:nvSpPr>
          <p:cNvPr id="23" name="Text 21"/>
          <p:cNvSpPr/>
          <p:nvPr/>
        </p:nvSpPr>
        <p:spPr>
          <a:xfrm>
            <a:off x="6583680" y="3749040"/>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model for judgement, code for arithmetic</a:t>
            </a:r>
            <a:endParaRPr lang="en-US" sz="1150" dirty="0"/>
          </a:p>
        </p:txBody>
      </p:sp>
      <p:sp>
        <p:nvSpPr>
          <p:cNvPr id="24" name="Text 22"/>
          <p:cNvSpPr/>
          <p:nvPr/>
        </p:nvSpPr>
        <p:spPr>
          <a:xfrm>
            <a:off x="548640" y="438912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The workspace already does this: totals and ratios run in Python, not freehand by the model.</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CASE STUDY</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One sentence in, an analysis out</a:t>
            </a:r>
            <a:endParaRPr lang="en-US" sz="2600" dirty="0"/>
          </a:p>
        </p:txBody>
      </p:sp>
      <p:sp>
        <p:nvSpPr>
          <p:cNvPr id="4" name="Shape 2"/>
          <p:cNvSpPr/>
          <p:nvPr/>
        </p:nvSpPr>
        <p:spPr>
          <a:xfrm>
            <a:off x="548640" y="1252728"/>
            <a:ext cx="365760" cy="365760"/>
          </a:xfrm>
          <a:prstGeom prst="ellipse">
            <a:avLst/>
          </a:prstGeom>
          <a:solidFill>
            <a:srgbClr val="C9A227"/>
          </a:solidFill>
          <a:ln/>
        </p:spPr>
        <p:txBody>
          <a:bodyPr/>
          <a:lstStyle/>
          <a:p>
            <a:endParaRPr lang="en-GB"/>
          </a:p>
        </p:txBody>
      </p:sp>
      <p:sp>
        <p:nvSpPr>
          <p:cNvPr id="5" name="Text 3"/>
          <p:cNvSpPr/>
          <p:nvPr/>
        </p:nvSpPr>
        <p:spPr>
          <a:xfrm>
            <a:off x="548640" y="125272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97280" y="1234440"/>
            <a:ext cx="4297680" cy="566928"/>
          </a:xfrm>
          <a:prstGeom prst="rect">
            <a:avLst/>
          </a:prstGeom>
          <a:noFill/>
          <a:ln/>
        </p:spPr>
        <p:txBody>
          <a:bodyPr wrap="square" lIns="0" tIns="0" rIns="0" bIns="0" rtlCol="0" anchor="ctr"/>
          <a:lstStyle/>
          <a:p>
            <a:pPr marL="0" indent="0">
              <a:buNone/>
            </a:pPr>
            <a:r>
              <a:rPr lang="en-US" sz="1300" b="1" i="1" dirty="0">
                <a:solidFill>
                  <a:srgbClr val="1A2238"/>
                </a:solidFill>
                <a:latin typeface="Calibri" pitchFamily="34" charset="0"/>
                <a:ea typeface="Calibri" pitchFamily="34" charset="-122"/>
                <a:cs typeface="Calibri" pitchFamily="34" charset="-120"/>
              </a:rPr>
              <a:t>"Tell me about Capitec"</a:t>
            </a:r>
            <a:endParaRPr lang="en-US" sz="1300" dirty="0"/>
          </a:p>
        </p:txBody>
      </p:sp>
      <p:sp>
        <p:nvSpPr>
          <p:cNvPr id="7" name="Shape 5"/>
          <p:cNvSpPr/>
          <p:nvPr/>
        </p:nvSpPr>
        <p:spPr>
          <a:xfrm>
            <a:off x="548640" y="1911096"/>
            <a:ext cx="365760" cy="365760"/>
          </a:xfrm>
          <a:prstGeom prst="ellipse">
            <a:avLst/>
          </a:prstGeom>
          <a:solidFill>
            <a:srgbClr val="1E2761"/>
          </a:solidFill>
          <a:ln/>
        </p:spPr>
        <p:txBody>
          <a:bodyPr/>
          <a:lstStyle/>
          <a:p>
            <a:endParaRPr lang="en-GB"/>
          </a:p>
        </p:txBody>
      </p:sp>
      <p:sp>
        <p:nvSpPr>
          <p:cNvPr id="8" name="Text 6"/>
          <p:cNvSpPr/>
          <p:nvPr/>
        </p:nvSpPr>
        <p:spPr>
          <a:xfrm>
            <a:off x="548640" y="191109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p:nvPr/>
        </p:nvSpPr>
        <p:spPr>
          <a:xfrm>
            <a:off x="1097280" y="1892808"/>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Finds the IR site; downloads the latest results</a:t>
            </a:r>
            <a:endParaRPr lang="en-US" sz="1300" dirty="0"/>
          </a:p>
        </p:txBody>
      </p:sp>
      <p:sp>
        <p:nvSpPr>
          <p:cNvPr id="10" name="Shape 8"/>
          <p:cNvSpPr/>
          <p:nvPr/>
        </p:nvSpPr>
        <p:spPr>
          <a:xfrm>
            <a:off x="548640" y="2569464"/>
            <a:ext cx="365760" cy="365760"/>
          </a:xfrm>
          <a:prstGeom prst="ellipse">
            <a:avLst/>
          </a:prstGeom>
          <a:solidFill>
            <a:srgbClr val="1E2761"/>
          </a:solidFill>
          <a:ln/>
        </p:spPr>
        <p:txBody>
          <a:bodyPr/>
          <a:lstStyle/>
          <a:p>
            <a:endParaRPr lang="en-GB"/>
          </a:p>
        </p:txBody>
      </p:sp>
      <p:sp>
        <p:nvSpPr>
          <p:cNvPr id="11" name="Text 9"/>
          <p:cNvSpPr/>
          <p:nvPr/>
        </p:nvSpPr>
        <p:spPr>
          <a:xfrm>
            <a:off x="548640" y="2569464"/>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2" name="Text 10"/>
          <p:cNvSpPr/>
          <p:nvPr/>
        </p:nvSpPr>
        <p:spPr>
          <a:xfrm>
            <a:off x="1097280" y="2551176"/>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Catalogues them in the document index</a:t>
            </a:r>
            <a:endParaRPr lang="en-US" sz="1300" dirty="0"/>
          </a:p>
        </p:txBody>
      </p:sp>
      <p:sp>
        <p:nvSpPr>
          <p:cNvPr id="13" name="Shape 11"/>
          <p:cNvSpPr/>
          <p:nvPr/>
        </p:nvSpPr>
        <p:spPr>
          <a:xfrm>
            <a:off x="548640" y="3227832"/>
            <a:ext cx="365760" cy="365760"/>
          </a:xfrm>
          <a:prstGeom prst="ellipse">
            <a:avLst/>
          </a:prstGeom>
          <a:solidFill>
            <a:srgbClr val="1E2761"/>
          </a:solidFill>
          <a:ln/>
        </p:spPr>
        <p:txBody>
          <a:bodyPr/>
          <a:lstStyle/>
          <a:p>
            <a:endParaRPr lang="en-GB"/>
          </a:p>
        </p:txBody>
      </p:sp>
      <p:sp>
        <p:nvSpPr>
          <p:cNvPr id="14" name="Text 12"/>
          <p:cNvSpPr/>
          <p:nvPr/>
        </p:nvSpPr>
        <p:spPr>
          <a:xfrm>
            <a:off x="548640" y="322783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5" name="Text 13"/>
          <p:cNvSpPr/>
          <p:nvPr/>
        </p:nvSpPr>
        <p:spPr>
          <a:xfrm>
            <a:off x="1097280" y="3209544"/>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Reads and analyses — every figure cited to document and page</a:t>
            </a:r>
            <a:endParaRPr lang="en-US" sz="1300" dirty="0"/>
          </a:p>
        </p:txBody>
      </p:sp>
      <p:sp>
        <p:nvSpPr>
          <p:cNvPr id="16" name="Shape 14"/>
          <p:cNvSpPr/>
          <p:nvPr/>
        </p:nvSpPr>
        <p:spPr>
          <a:xfrm>
            <a:off x="548640" y="3886200"/>
            <a:ext cx="365760" cy="365760"/>
          </a:xfrm>
          <a:prstGeom prst="ellipse">
            <a:avLst/>
          </a:prstGeom>
          <a:solidFill>
            <a:srgbClr val="1E2761"/>
          </a:solidFill>
          <a:ln/>
        </p:spPr>
        <p:txBody>
          <a:bodyPr/>
          <a:lstStyle/>
          <a:p>
            <a:endParaRPr lang="en-GB"/>
          </a:p>
        </p:txBody>
      </p:sp>
      <p:sp>
        <p:nvSpPr>
          <p:cNvPr id="17" name="Text 15"/>
          <p:cNvSpPr/>
          <p:nvPr/>
        </p:nvSpPr>
        <p:spPr>
          <a:xfrm>
            <a:off x="548640" y="388620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8" name="Text 16"/>
          <p:cNvSpPr/>
          <p:nvPr/>
        </p:nvSpPr>
        <p:spPr>
          <a:xfrm>
            <a:off x="1097280" y="3867912"/>
            <a:ext cx="4297680" cy="566928"/>
          </a:xfrm>
          <a:prstGeom prst="rect">
            <a:avLst/>
          </a:prstGeom>
          <a:noFill/>
          <a:ln/>
        </p:spPr>
        <p:txBody>
          <a:bodyPr wrap="square" lIns="0" tIns="0" rIns="0" bIns="0" rtlCol="0" anchor="ctr"/>
          <a:lstStyle/>
          <a:p>
            <a:pPr marL="0" indent="0">
              <a:buNone/>
            </a:pPr>
            <a:r>
              <a:rPr lang="en-US" sz="1300" dirty="0">
                <a:solidFill>
                  <a:srgbClr val="1A2238"/>
                </a:solidFill>
                <a:latin typeface="Calibri" pitchFamily="34" charset="0"/>
                <a:ea typeface="Calibri" pitchFamily="34" charset="-122"/>
                <a:cs typeface="Calibri" pitchFamily="34" charset="-120"/>
              </a:rPr>
              <a:t>Saves the note where the whole team can see it</a:t>
            </a:r>
            <a:endParaRPr lang="en-US" sz="1300" dirty="0"/>
          </a:p>
        </p:txBody>
      </p:sp>
      <p:sp>
        <p:nvSpPr>
          <p:cNvPr id="19" name="Shape 17"/>
          <p:cNvSpPr/>
          <p:nvPr/>
        </p:nvSpPr>
        <p:spPr>
          <a:xfrm>
            <a:off x="5715000" y="1234440"/>
            <a:ext cx="2926080" cy="3246120"/>
          </a:xfrm>
          <a:prstGeom prst="roundRect">
            <a:avLst>
              <a:gd name="adj" fmla="val 1875"/>
            </a:avLst>
          </a:prstGeom>
          <a:solidFill>
            <a:srgbClr val="EEF3FC"/>
          </a:solidFill>
          <a:ln/>
        </p:spPr>
        <p:txBody>
          <a:bodyPr/>
          <a:lstStyle/>
          <a:p>
            <a:endParaRPr lang="en-GB"/>
          </a:p>
        </p:txBody>
      </p:sp>
      <p:sp>
        <p:nvSpPr>
          <p:cNvPr id="20" name="Text 18"/>
          <p:cNvSpPr/>
          <p:nvPr/>
        </p:nvSpPr>
        <p:spPr>
          <a:xfrm>
            <a:off x="5943600" y="1417320"/>
            <a:ext cx="2468880" cy="274320"/>
          </a:xfrm>
          <a:prstGeom prst="rect">
            <a:avLst/>
          </a:prstGeom>
          <a:noFill/>
          <a:ln/>
        </p:spPr>
        <p:txBody>
          <a:bodyPr wrap="square" lIns="0" tIns="0" rIns="0" bIns="0" rtlCol="0" anchor="ctr"/>
          <a:lstStyle/>
          <a:p>
            <a:pPr marL="0" indent="0">
              <a:buNone/>
            </a:pPr>
            <a:r>
              <a:rPr lang="en-US" sz="1050" b="1" kern="0" spc="200" dirty="0">
                <a:solidFill>
                  <a:srgbClr val="C9A227"/>
                </a:solidFill>
                <a:latin typeface="Calibri" pitchFamily="34" charset="0"/>
                <a:ea typeface="Calibri" pitchFamily="34" charset="-122"/>
                <a:cs typeface="Calibri" pitchFamily="34" charset="-120"/>
              </a:rPr>
              <a:t>TRACKED TODAY</a:t>
            </a:r>
            <a:endParaRPr lang="en-US" sz="1050" dirty="0"/>
          </a:p>
        </p:txBody>
      </p:sp>
      <p:sp>
        <p:nvSpPr>
          <p:cNvPr id="21" name="Text 19"/>
          <p:cNvSpPr/>
          <p:nvPr/>
        </p:nvSpPr>
        <p:spPr>
          <a:xfrm>
            <a:off x="5943600" y="1783080"/>
            <a:ext cx="1280160" cy="2377440"/>
          </a:xfrm>
          <a:prstGeom prst="rect">
            <a:avLst/>
          </a:prstGeom>
          <a:noFill/>
          <a:ln/>
        </p:spPr>
        <p:txBody>
          <a:bodyPr wrap="square" lIns="0" tIns="0" rIns="0" bIns="0" rtlCol="0" anchor="ctr"/>
          <a:lstStyle/>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Shoprite</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Clicks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Dis-Chem</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Woolworths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Mr Price</a:t>
            </a:r>
            <a:endParaRPr lang="en-US" sz="1250" dirty="0"/>
          </a:p>
        </p:txBody>
      </p:sp>
      <p:sp>
        <p:nvSpPr>
          <p:cNvPr id="22" name="Text 20"/>
          <p:cNvSpPr/>
          <p:nvPr/>
        </p:nvSpPr>
        <p:spPr>
          <a:xfrm>
            <a:off x="7360920" y="1783080"/>
            <a:ext cx="1188720" cy="2377440"/>
          </a:xfrm>
          <a:prstGeom prst="rect">
            <a:avLst/>
          </a:prstGeom>
          <a:noFill/>
          <a:ln/>
        </p:spPr>
        <p:txBody>
          <a:bodyPr wrap="square" lIns="0" tIns="0" rIns="0" bIns="0" rtlCol="0" anchor="ctr"/>
          <a:lstStyle/>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SPAR</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Naspers</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FirstRand</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Richemont</a:t>
            </a:r>
            <a:endParaRPr lang="en-US" sz="1250" dirty="0"/>
          </a:p>
          <a:p>
            <a:pPr marL="0" indent="0">
              <a:spcAft>
                <a:spcPts val="1000"/>
              </a:spcAft>
              <a:buNone/>
            </a:pPr>
            <a:r>
              <a:rPr lang="en-US" sz="1250" dirty="0">
                <a:solidFill>
                  <a:srgbClr val="1A2238"/>
                </a:solidFill>
                <a:latin typeface="Calibri" pitchFamily="34" charset="0"/>
                <a:ea typeface="Calibri" pitchFamily="34" charset="-122"/>
                <a:cs typeface="Calibri" pitchFamily="34" charset="-120"/>
              </a:rPr>
              <a:t>Reinet</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ADOPTION</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it actually takes: about half a day</a:t>
            </a:r>
            <a:endParaRPr lang="en-US" sz="2600" dirty="0"/>
          </a:p>
        </p:txBody>
      </p:sp>
      <p:sp>
        <p:nvSpPr>
          <p:cNvPr id="4" name="Shape 2"/>
          <p:cNvSpPr/>
          <p:nvPr/>
        </p:nvSpPr>
        <p:spPr>
          <a:xfrm>
            <a:off x="548640" y="1307592"/>
            <a:ext cx="384048" cy="384048"/>
          </a:xfrm>
          <a:prstGeom prst="ellipse">
            <a:avLst/>
          </a:prstGeom>
          <a:solidFill>
            <a:srgbClr val="1E2761"/>
          </a:solidFill>
          <a:ln/>
        </p:spPr>
        <p:txBody>
          <a:bodyPr/>
          <a:lstStyle/>
          <a:p>
            <a:endParaRPr lang="en-GB"/>
          </a:p>
        </p:txBody>
      </p:sp>
      <p:sp>
        <p:nvSpPr>
          <p:cNvPr id="5" name="Text 3"/>
          <p:cNvSpPr/>
          <p:nvPr/>
        </p:nvSpPr>
        <p:spPr>
          <a:xfrm>
            <a:off x="548640" y="13075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43000" y="1316736"/>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Licences and the desktop app</a:t>
            </a:r>
            <a:endParaRPr lang="en-US" sz="1400" dirty="0"/>
          </a:p>
        </p:txBody>
      </p:sp>
      <p:sp>
        <p:nvSpPr>
          <p:cNvPr id="7" name="Text 5"/>
          <p:cNvSpPr/>
          <p:nvPr/>
        </p:nvSpPr>
        <p:spPr>
          <a:xfrm>
            <a:off x="6583680" y="1335024"/>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IT · ~1 hour</a:t>
            </a:r>
            <a:endParaRPr lang="en-US" sz="1150" dirty="0"/>
          </a:p>
        </p:txBody>
      </p:sp>
      <p:sp>
        <p:nvSpPr>
          <p:cNvPr id="8" name="Shape 6"/>
          <p:cNvSpPr/>
          <p:nvPr/>
        </p:nvSpPr>
        <p:spPr>
          <a:xfrm>
            <a:off x="548640" y="1911096"/>
            <a:ext cx="384048" cy="384048"/>
          </a:xfrm>
          <a:prstGeom prst="ellipse">
            <a:avLst/>
          </a:prstGeom>
          <a:solidFill>
            <a:srgbClr val="1E2761"/>
          </a:solidFill>
          <a:ln/>
        </p:spPr>
        <p:txBody>
          <a:bodyPr/>
          <a:lstStyle/>
          <a:p>
            <a:endParaRPr lang="en-GB"/>
          </a:p>
        </p:txBody>
      </p:sp>
      <p:sp>
        <p:nvSpPr>
          <p:cNvPr id="9" name="Text 7"/>
          <p:cNvSpPr/>
          <p:nvPr/>
        </p:nvSpPr>
        <p:spPr>
          <a:xfrm>
            <a:off x="548640" y="19110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1920240"/>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Working folder and workspace configuration</a:t>
            </a:r>
            <a:endParaRPr lang="en-US" sz="1400" dirty="0"/>
          </a:p>
        </p:txBody>
      </p:sp>
      <p:sp>
        <p:nvSpPr>
          <p:cNvPr id="11" name="Text 9"/>
          <p:cNvSpPr/>
          <p:nvPr/>
        </p:nvSpPr>
        <p:spPr>
          <a:xfrm>
            <a:off x="6583680" y="1938528"/>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Pilot analyst · 30 min</a:t>
            </a:r>
            <a:endParaRPr lang="en-US" sz="1150" dirty="0"/>
          </a:p>
        </p:txBody>
      </p:sp>
      <p:sp>
        <p:nvSpPr>
          <p:cNvPr id="12" name="Shape 10"/>
          <p:cNvSpPr/>
          <p:nvPr/>
        </p:nvSpPr>
        <p:spPr>
          <a:xfrm>
            <a:off x="548640" y="2514600"/>
            <a:ext cx="384048" cy="384048"/>
          </a:xfrm>
          <a:prstGeom prst="ellipse">
            <a:avLst/>
          </a:prstGeom>
          <a:solidFill>
            <a:srgbClr val="1E2761"/>
          </a:solidFill>
          <a:ln/>
        </p:spPr>
        <p:txBody>
          <a:bodyPr/>
          <a:lstStyle/>
          <a:p>
            <a:endParaRPr lang="en-GB"/>
          </a:p>
        </p:txBody>
      </p:sp>
      <p:sp>
        <p:nvSpPr>
          <p:cNvPr id="13" name="Text 11"/>
          <p:cNvSpPr/>
          <p:nvPr/>
        </p:nvSpPr>
        <p:spPr>
          <a:xfrm>
            <a:off x="548640" y="2514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43000" y="2523744"/>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Permissions and the Chrome extension</a:t>
            </a:r>
            <a:endParaRPr lang="en-US" sz="1400" dirty="0"/>
          </a:p>
        </p:txBody>
      </p:sp>
      <p:sp>
        <p:nvSpPr>
          <p:cNvPr id="15" name="Text 13"/>
          <p:cNvSpPr/>
          <p:nvPr/>
        </p:nvSpPr>
        <p:spPr>
          <a:xfrm>
            <a:off x="6583680" y="2542032"/>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Pilot analyst · 20 min</a:t>
            </a:r>
            <a:endParaRPr lang="en-US" sz="1150" dirty="0"/>
          </a:p>
        </p:txBody>
      </p:sp>
      <p:sp>
        <p:nvSpPr>
          <p:cNvPr id="16" name="Shape 14"/>
          <p:cNvSpPr/>
          <p:nvPr/>
        </p:nvSpPr>
        <p:spPr>
          <a:xfrm>
            <a:off x="548640" y="3118104"/>
            <a:ext cx="384048" cy="384048"/>
          </a:xfrm>
          <a:prstGeom prst="ellipse">
            <a:avLst/>
          </a:prstGeom>
          <a:solidFill>
            <a:srgbClr val="1E2761"/>
          </a:solidFill>
          <a:ln/>
        </p:spPr>
        <p:txBody>
          <a:bodyPr/>
          <a:lstStyle/>
          <a:p>
            <a:endParaRPr lang="en-GB"/>
          </a:p>
        </p:txBody>
      </p:sp>
      <p:sp>
        <p:nvSpPr>
          <p:cNvPr id="17" name="Text 15"/>
          <p:cNvSpPr/>
          <p:nvPr/>
        </p:nvSpPr>
        <p:spPr>
          <a:xfrm>
            <a:off x="548640" y="311810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43000" y="3127248"/>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SharePoint library and connector consent</a:t>
            </a:r>
            <a:endParaRPr lang="en-US" sz="1400" dirty="0"/>
          </a:p>
        </p:txBody>
      </p:sp>
      <p:sp>
        <p:nvSpPr>
          <p:cNvPr id="19" name="Text 17"/>
          <p:cNvSpPr/>
          <p:nvPr/>
        </p:nvSpPr>
        <p:spPr>
          <a:xfrm>
            <a:off x="6583680" y="3145536"/>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IT + admin · 1–2 hours</a:t>
            </a:r>
            <a:endParaRPr lang="en-US" sz="1150" dirty="0"/>
          </a:p>
        </p:txBody>
      </p:sp>
      <p:sp>
        <p:nvSpPr>
          <p:cNvPr id="20" name="Shape 18"/>
          <p:cNvSpPr/>
          <p:nvPr/>
        </p:nvSpPr>
        <p:spPr>
          <a:xfrm>
            <a:off x="548640" y="3721608"/>
            <a:ext cx="384048" cy="384048"/>
          </a:xfrm>
          <a:prstGeom prst="ellipse">
            <a:avLst/>
          </a:prstGeom>
          <a:solidFill>
            <a:srgbClr val="1E2761"/>
          </a:solidFill>
          <a:ln/>
        </p:spPr>
        <p:txBody>
          <a:bodyPr/>
          <a:lstStyle/>
          <a:p>
            <a:endParaRPr lang="en-GB"/>
          </a:p>
        </p:txBody>
      </p:sp>
      <p:sp>
        <p:nvSpPr>
          <p:cNvPr id="21" name="Text 19"/>
          <p:cNvSpPr/>
          <p:nvPr/>
        </p:nvSpPr>
        <p:spPr>
          <a:xfrm>
            <a:off x="548640" y="37216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43000" y="3730752"/>
            <a:ext cx="5394960" cy="365760"/>
          </a:xfrm>
          <a:prstGeom prst="rect">
            <a:avLst/>
          </a:prstGeom>
          <a:noFill/>
          <a:ln/>
        </p:spPr>
        <p:txBody>
          <a:bodyPr wrap="square" lIns="0" tIns="0" rIns="0" bIns="0" rtlCol="0" anchor="ctr"/>
          <a:lstStyle/>
          <a:p>
            <a:pPr marL="0" indent="0">
              <a:buNone/>
            </a:pPr>
            <a:r>
              <a:rPr lang="en-US" sz="1400" dirty="0">
                <a:solidFill>
                  <a:srgbClr val="1A2238"/>
                </a:solidFill>
                <a:latin typeface="Calibri" pitchFamily="34" charset="0"/>
                <a:ea typeface="Calibri" pitchFamily="34" charset="-122"/>
                <a:cs typeface="Calibri" pitchFamily="34" charset="-120"/>
              </a:rPr>
              <a:t>Smoke tests against a tracked company</a:t>
            </a:r>
            <a:endParaRPr lang="en-US" sz="1400" dirty="0"/>
          </a:p>
        </p:txBody>
      </p:sp>
      <p:sp>
        <p:nvSpPr>
          <p:cNvPr id="23" name="Text 21"/>
          <p:cNvSpPr/>
          <p:nvPr/>
        </p:nvSpPr>
        <p:spPr>
          <a:xfrm>
            <a:off x="6583680" y="3749040"/>
            <a:ext cx="2011680" cy="329184"/>
          </a:xfrm>
          <a:prstGeom prst="rect">
            <a:avLst/>
          </a:prstGeom>
          <a:noFill/>
          <a:ln/>
        </p:spPr>
        <p:txBody>
          <a:bodyPr wrap="square" lIns="0" tIns="0" rIns="0" bIns="0" rtlCol="0" anchor="ctr"/>
          <a:lstStyle/>
          <a:p>
            <a:pPr marL="0" indent="0" algn="r">
              <a:buNone/>
            </a:pPr>
            <a:r>
              <a:rPr lang="en-US" sz="1150" b="1" dirty="0">
                <a:solidFill>
                  <a:srgbClr val="C9A227"/>
                </a:solidFill>
                <a:latin typeface="Calibri" pitchFamily="34" charset="0"/>
                <a:ea typeface="Calibri" pitchFamily="34" charset="-122"/>
                <a:cs typeface="Calibri" pitchFamily="34" charset="-120"/>
              </a:rPr>
              <a:t>Pilot analyst · 15 min</a:t>
            </a:r>
            <a:endParaRPr lang="en-US" sz="1150" dirty="0"/>
          </a:p>
        </p:txBody>
      </p:sp>
      <p:sp>
        <p:nvSpPr>
          <p:cNvPr id="24" name="Text 22"/>
          <p:cNvSpPr/>
          <p:nvPr/>
        </p:nvSpPr>
        <p:spPr>
          <a:xfrm>
            <a:off x="548640" y="4389120"/>
            <a:ext cx="8046720" cy="292608"/>
          </a:xfrm>
          <a:prstGeom prst="rect">
            <a:avLst/>
          </a:prstGeom>
          <a:noFill/>
          <a:ln/>
        </p:spPr>
        <p:txBody>
          <a:bodyPr wrap="square" lIns="0" tIns="0" rIns="0" bIns="0" rtlCol="0" anchor="ctr"/>
          <a:lstStyle/>
          <a:p>
            <a:pPr marL="0" indent="0">
              <a:buNone/>
            </a:pPr>
            <a:r>
              <a:rPr lang="en-US" sz="1300" i="1" dirty="0">
                <a:solidFill>
                  <a:srgbClr val="1E2761"/>
                </a:solidFill>
                <a:latin typeface="Calibri" pitchFamily="34" charset="0"/>
                <a:ea typeface="Calibri" pitchFamily="34" charset="-122"/>
                <a:cs typeface="Calibri" pitchFamily="34" charset="-120"/>
              </a:rPr>
              <a:t>A step-by-step guide — including the gotchas we hit so you don't — accompanies this deck.</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COST</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it costs</a:t>
            </a:r>
            <a:endParaRPr lang="en-US" sz="2600" dirty="0"/>
          </a:p>
        </p:txBody>
      </p:sp>
      <p:sp>
        <p:nvSpPr>
          <p:cNvPr id="4" name="Text 2"/>
          <p:cNvSpPr/>
          <p:nvPr/>
        </p:nvSpPr>
        <p:spPr>
          <a:xfrm>
            <a:off x="7726680" y="292608"/>
            <a:ext cx="914400" cy="274320"/>
          </a:xfrm>
          <a:prstGeom prst="rect">
            <a:avLst/>
          </a:prstGeom>
          <a:noFill/>
          <a:ln/>
        </p:spPr>
        <p:txBody>
          <a:bodyPr wrap="square" lIns="0" tIns="0" rIns="0" bIns="0" rtlCol="0" anchor="ctr"/>
          <a:lstStyle/>
          <a:p>
            <a:pPr marL="0" indent="0" algn="r">
              <a:buNone/>
            </a:pPr>
            <a:r>
              <a:rPr lang="en-US" sz="1050" b="1" kern="0" spc="200" dirty="0">
                <a:solidFill>
                  <a:srgbClr val="5A6478"/>
                </a:solidFill>
                <a:latin typeface="Calibri" pitchFamily="34" charset="0"/>
                <a:ea typeface="Calibri" pitchFamily="34" charset="-122"/>
                <a:cs typeface="Calibri" pitchFamily="34" charset="-120"/>
              </a:rPr>
              <a:t>BACKUP</a:t>
            </a:r>
            <a:endParaRPr lang="en-US" sz="1050" dirty="0"/>
          </a:p>
        </p:txBody>
      </p:sp>
      <p:sp>
        <p:nvSpPr>
          <p:cNvPr id="5" name="Shape 3"/>
          <p:cNvSpPr/>
          <p:nvPr/>
        </p:nvSpPr>
        <p:spPr>
          <a:xfrm>
            <a:off x="548640" y="1280160"/>
            <a:ext cx="8046720" cy="658368"/>
          </a:xfrm>
          <a:prstGeom prst="roundRect">
            <a:avLst>
              <a:gd name="adj" fmla="val 8333"/>
            </a:avLst>
          </a:prstGeom>
          <a:solidFill>
            <a:srgbClr val="EEF3FC"/>
          </a:solidFill>
          <a:ln/>
        </p:spPr>
        <p:txBody>
          <a:bodyPr/>
          <a:lstStyle/>
          <a:p>
            <a:endParaRPr lang="en-GB"/>
          </a:p>
        </p:txBody>
      </p:sp>
      <p:sp>
        <p:nvSpPr>
          <p:cNvPr id="6" name="Text 4"/>
          <p:cNvSpPr/>
          <p:nvPr/>
        </p:nvSpPr>
        <p:spPr>
          <a:xfrm>
            <a:off x="777240" y="1389888"/>
            <a:ext cx="17373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Licences</a:t>
            </a:r>
            <a:endParaRPr lang="en-US" sz="1300" dirty="0"/>
          </a:p>
        </p:txBody>
      </p:sp>
      <p:sp>
        <p:nvSpPr>
          <p:cNvPr id="7" name="Text 5"/>
          <p:cNvSpPr/>
          <p:nvPr/>
        </p:nvSpPr>
        <p:spPr>
          <a:xfrm>
            <a:off x="2651760" y="1389888"/>
            <a:ext cx="5760720" cy="457200"/>
          </a:xfrm>
          <a:prstGeom prst="rect">
            <a:avLst/>
          </a:prstGeom>
          <a:noFill/>
          <a:ln/>
        </p:spPr>
        <p:txBody>
          <a:bodyPr wrap="square" lIns="0" tIns="0" rIns="0" bIns="0" rtlCol="0" anchor="ctr"/>
          <a:lstStyle/>
          <a:p>
            <a:pPr marL="0" indent="0">
              <a:buNone/>
            </a:pPr>
            <a:r>
              <a:rPr lang="en-US" sz="1200" dirty="0">
                <a:solidFill>
                  <a:srgbClr val="1A2238"/>
                </a:solidFill>
                <a:latin typeface="Calibri" pitchFamily="34" charset="0"/>
                <a:ea typeface="Calibri" pitchFamily="34" charset="-122"/>
                <a:cs typeface="Calibri" pitchFamily="34" charset="-120"/>
              </a:rPr>
              <a:t>Claude Team or Enterprise, per seat. The pilot needs two seats.</a:t>
            </a:r>
            <a:endParaRPr lang="en-US" sz="1200" dirty="0"/>
          </a:p>
        </p:txBody>
      </p:sp>
      <p:sp>
        <p:nvSpPr>
          <p:cNvPr id="8" name="Shape 6"/>
          <p:cNvSpPr/>
          <p:nvPr/>
        </p:nvSpPr>
        <p:spPr>
          <a:xfrm>
            <a:off x="548640" y="2057400"/>
            <a:ext cx="8046720" cy="658368"/>
          </a:xfrm>
          <a:prstGeom prst="roundRect">
            <a:avLst>
              <a:gd name="adj" fmla="val 8333"/>
            </a:avLst>
          </a:prstGeom>
          <a:solidFill>
            <a:srgbClr val="EEF3FC"/>
          </a:solidFill>
          <a:ln/>
        </p:spPr>
        <p:txBody>
          <a:bodyPr/>
          <a:lstStyle/>
          <a:p>
            <a:endParaRPr lang="en-GB"/>
          </a:p>
        </p:txBody>
      </p:sp>
      <p:sp>
        <p:nvSpPr>
          <p:cNvPr id="9" name="Text 7"/>
          <p:cNvSpPr/>
          <p:nvPr/>
        </p:nvSpPr>
        <p:spPr>
          <a:xfrm>
            <a:off x="777240" y="2167128"/>
            <a:ext cx="17373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Setup</a:t>
            </a:r>
            <a:endParaRPr lang="en-US" sz="1300" dirty="0"/>
          </a:p>
        </p:txBody>
      </p:sp>
      <p:sp>
        <p:nvSpPr>
          <p:cNvPr id="10" name="Text 8"/>
          <p:cNvSpPr/>
          <p:nvPr/>
        </p:nvSpPr>
        <p:spPr>
          <a:xfrm>
            <a:off x="2651760" y="2167128"/>
            <a:ext cx="5760720" cy="457200"/>
          </a:xfrm>
          <a:prstGeom prst="rect">
            <a:avLst/>
          </a:prstGeom>
          <a:noFill/>
          <a:ln/>
        </p:spPr>
        <p:txBody>
          <a:bodyPr wrap="square" lIns="0" tIns="0" rIns="0" bIns="0" rtlCol="0" anchor="ctr"/>
          <a:lstStyle/>
          <a:p>
            <a:pPr marL="0" indent="0">
              <a:buNone/>
            </a:pPr>
            <a:r>
              <a:rPr lang="en-US" sz="1200" dirty="0">
                <a:solidFill>
                  <a:srgbClr val="1A2238"/>
                </a:solidFill>
                <a:latin typeface="Calibri" pitchFamily="34" charset="0"/>
                <a:ea typeface="Calibri" pitchFamily="34" charset="-122"/>
                <a:cs typeface="Calibri" pitchFamily="34" charset="-120"/>
              </a:rPr>
              <a:t>About half a day of IT time. No servers, no infrastructure, no consultants.</a:t>
            </a:r>
            <a:endParaRPr lang="en-US" sz="1200" dirty="0"/>
          </a:p>
        </p:txBody>
      </p:sp>
      <p:sp>
        <p:nvSpPr>
          <p:cNvPr id="11" name="Shape 9"/>
          <p:cNvSpPr/>
          <p:nvPr/>
        </p:nvSpPr>
        <p:spPr>
          <a:xfrm>
            <a:off x="548640" y="2834640"/>
            <a:ext cx="8046720" cy="658368"/>
          </a:xfrm>
          <a:prstGeom prst="roundRect">
            <a:avLst>
              <a:gd name="adj" fmla="val 8333"/>
            </a:avLst>
          </a:prstGeom>
          <a:solidFill>
            <a:srgbClr val="EEF3FC"/>
          </a:solidFill>
          <a:ln/>
        </p:spPr>
        <p:txBody>
          <a:bodyPr/>
          <a:lstStyle/>
          <a:p>
            <a:endParaRPr lang="en-GB"/>
          </a:p>
        </p:txBody>
      </p:sp>
      <p:sp>
        <p:nvSpPr>
          <p:cNvPr id="12" name="Text 10"/>
          <p:cNvSpPr/>
          <p:nvPr/>
        </p:nvSpPr>
        <p:spPr>
          <a:xfrm>
            <a:off x="777240" y="2944368"/>
            <a:ext cx="17373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Scale-up (M4)</a:t>
            </a:r>
            <a:endParaRPr lang="en-US" sz="1300" dirty="0"/>
          </a:p>
        </p:txBody>
      </p:sp>
      <p:sp>
        <p:nvSpPr>
          <p:cNvPr id="13" name="Text 11"/>
          <p:cNvSpPr/>
          <p:nvPr/>
        </p:nvSpPr>
        <p:spPr>
          <a:xfrm>
            <a:off x="2651760" y="2944368"/>
            <a:ext cx="5760720" cy="457200"/>
          </a:xfrm>
          <a:prstGeom prst="rect">
            <a:avLst/>
          </a:prstGeom>
          <a:noFill/>
          <a:ln/>
        </p:spPr>
        <p:txBody>
          <a:bodyPr wrap="square" lIns="0" tIns="0" rIns="0" bIns="0" rtlCol="0" anchor="ctr"/>
          <a:lstStyle/>
          <a:p>
            <a:pPr marL="0" indent="0">
              <a:buNone/>
            </a:pPr>
            <a:r>
              <a:rPr lang="en-US" sz="1200" dirty="0">
                <a:solidFill>
                  <a:srgbClr val="1A2238"/>
                </a:solidFill>
                <a:latin typeface="Calibri" pitchFamily="34" charset="0"/>
                <a:ea typeface="Calibri" pitchFamily="34" charset="-122"/>
                <a:cs typeface="Calibri" pitchFamily="34" charset="-120"/>
              </a:rPr>
              <a:t>Additional seats per user. The workspace, skills and guides cost nothing to replicate.</a:t>
            </a:r>
            <a:endParaRPr lang="en-US" sz="1200" dirty="0"/>
          </a:p>
        </p:txBody>
      </p:sp>
      <p:sp>
        <p:nvSpPr>
          <p:cNvPr id="14" name="Shape 12"/>
          <p:cNvSpPr/>
          <p:nvPr/>
        </p:nvSpPr>
        <p:spPr>
          <a:xfrm>
            <a:off x="548640" y="3611880"/>
            <a:ext cx="8046720" cy="658368"/>
          </a:xfrm>
          <a:prstGeom prst="roundRect">
            <a:avLst>
              <a:gd name="adj" fmla="val 8333"/>
            </a:avLst>
          </a:prstGeom>
          <a:solidFill>
            <a:srgbClr val="EEF3FC"/>
          </a:solidFill>
          <a:ln/>
        </p:spPr>
        <p:txBody>
          <a:bodyPr/>
          <a:lstStyle/>
          <a:p>
            <a:endParaRPr lang="en-GB"/>
          </a:p>
        </p:txBody>
      </p:sp>
      <p:sp>
        <p:nvSpPr>
          <p:cNvPr id="15" name="Text 13"/>
          <p:cNvSpPr/>
          <p:nvPr/>
        </p:nvSpPr>
        <p:spPr>
          <a:xfrm>
            <a:off x="777240" y="3721608"/>
            <a:ext cx="17373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Ongoing</a:t>
            </a:r>
            <a:endParaRPr lang="en-US" sz="1300" dirty="0"/>
          </a:p>
        </p:txBody>
      </p:sp>
      <p:sp>
        <p:nvSpPr>
          <p:cNvPr id="16" name="Text 14"/>
          <p:cNvSpPr/>
          <p:nvPr/>
        </p:nvSpPr>
        <p:spPr>
          <a:xfrm>
            <a:off x="2651760" y="3721608"/>
            <a:ext cx="5760720" cy="457200"/>
          </a:xfrm>
          <a:prstGeom prst="rect">
            <a:avLst/>
          </a:prstGeom>
          <a:noFill/>
          <a:ln/>
        </p:spPr>
        <p:txBody>
          <a:bodyPr wrap="square" lIns="0" tIns="0" rIns="0" bIns="0" rtlCol="0" anchor="ctr"/>
          <a:lstStyle/>
          <a:p>
            <a:pPr marL="0" indent="0">
              <a:buNone/>
            </a:pPr>
            <a:r>
              <a:rPr lang="en-US" sz="1200" dirty="0">
                <a:solidFill>
                  <a:srgbClr val="1A2238"/>
                </a:solidFill>
                <a:latin typeface="Calibri" pitchFamily="34" charset="0"/>
                <a:ea typeface="Calibri" pitchFamily="34" charset="-122"/>
                <a:cs typeface="Calibri" pitchFamily="34" charset="-120"/>
              </a:rPr>
              <a:t>Skills are maintained by the people who use them — editing a text file, not a vendor contract.</a:t>
            </a:r>
            <a:endParaRPr lang="en-US" sz="1200" dirty="0"/>
          </a:p>
        </p:txBody>
      </p:sp>
      <p:sp>
        <p:nvSpPr>
          <p:cNvPr id="17" name="Text 15"/>
          <p:cNvSpPr/>
          <p:nvPr/>
        </p:nvSpPr>
        <p:spPr>
          <a:xfrm>
            <a:off x="548640" y="4480560"/>
            <a:ext cx="8046720" cy="274320"/>
          </a:xfrm>
          <a:prstGeom prst="rect">
            <a:avLst/>
          </a:prstGeom>
          <a:noFill/>
          <a:ln/>
        </p:spPr>
        <p:txBody>
          <a:bodyPr wrap="square" lIns="0" tIns="0" rIns="0" bIns="0" rtlCol="0" anchor="ctr"/>
          <a:lstStyle/>
          <a:p>
            <a:pPr marL="0" indent="0">
              <a:buNone/>
            </a:pPr>
            <a:r>
              <a:rPr lang="en-US" sz="1150" i="1" dirty="0">
                <a:solidFill>
                  <a:srgbClr val="5A6478"/>
                </a:solidFill>
                <a:latin typeface="Calibri" pitchFamily="34" charset="0"/>
                <a:ea typeface="Calibri" pitchFamily="34" charset="-122"/>
                <a:cs typeface="Calibri" pitchFamily="34" charset="-120"/>
              </a:rPr>
              <a:t>Current per-seat pricing: anthropic.com/pricing — quote at time of decision.</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BACKUP — COMPLIANCE</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Accuracy and compliance</a:t>
            </a:r>
            <a:endParaRPr lang="en-US" sz="2600" dirty="0"/>
          </a:p>
        </p:txBody>
      </p:sp>
      <p:sp>
        <p:nvSpPr>
          <p:cNvPr id="4" name="Text 2"/>
          <p:cNvSpPr/>
          <p:nvPr/>
        </p:nvSpPr>
        <p:spPr>
          <a:xfrm>
            <a:off x="7726680" y="292608"/>
            <a:ext cx="914400" cy="274320"/>
          </a:xfrm>
          <a:prstGeom prst="rect">
            <a:avLst/>
          </a:prstGeom>
          <a:noFill/>
          <a:ln/>
        </p:spPr>
        <p:txBody>
          <a:bodyPr wrap="square" lIns="0" tIns="0" rIns="0" bIns="0" rtlCol="0" anchor="ctr"/>
          <a:lstStyle/>
          <a:p>
            <a:pPr marL="0" indent="0" algn="r">
              <a:buNone/>
            </a:pPr>
            <a:r>
              <a:rPr lang="en-US" sz="1050" b="1" kern="0" spc="200" dirty="0">
                <a:solidFill>
                  <a:srgbClr val="5A6478"/>
                </a:solidFill>
                <a:latin typeface="Calibri" pitchFamily="34" charset="0"/>
                <a:ea typeface="Calibri" pitchFamily="34" charset="-122"/>
                <a:cs typeface="Calibri" pitchFamily="34" charset="-120"/>
              </a:rPr>
              <a:t>BACKUP</a:t>
            </a:r>
            <a:endParaRPr lang="en-US" sz="1050" dirty="0"/>
          </a:p>
        </p:txBody>
      </p:sp>
      <p:sp>
        <p:nvSpPr>
          <p:cNvPr id="5" name="Shape 3"/>
          <p:cNvSpPr/>
          <p:nvPr/>
        </p:nvSpPr>
        <p:spPr>
          <a:xfrm>
            <a:off x="566928" y="1280160"/>
            <a:ext cx="128016" cy="128016"/>
          </a:xfrm>
          <a:prstGeom prst="ellipse">
            <a:avLst/>
          </a:prstGeom>
          <a:solidFill>
            <a:srgbClr val="C9A227"/>
          </a:solidFill>
          <a:ln/>
        </p:spPr>
        <p:txBody>
          <a:bodyPr/>
          <a:lstStyle/>
          <a:p>
            <a:endParaRPr lang="en-GB"/>
          </a:p>
        </p:txBody>
      </p:sp>
      <p:sp>
        <p:nvSpPr>
          <p:cNvPr id="6" name="Text 4"/>
          <p:cNvSpPr/>
          <p:nvPr/>
        </p:nvSpPr>
        <p:spPr>
          <a:xfrm>
            <a:off x="914400" y="1234440"/>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Informational only</a:t>
            </a:r>
            <a:endParaRPr lang="en-US" sz="1250" dirty="0"/>
          </a:p>
        </p:txBody>
      </p:sp>
      <p:sp>
        <p:nvSpPr>
          <p:cNvPr id="7" name="Text 5"/>
          <p:cNvSpPr/>
          <p:nvPr/>
        </p:nvSpPr>
        <p:spPr>
          <a:xfrm>
            <a:off x="4114800" y="1234440"/>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Outputs are research support, never investment advice — stated on every analysis</a:t>
            </a:r>
            <a:endParaRPr lang="en-US" sz="1150" dirty="0"/>
          </a:p>
        </p:txBody>
      </p:sp>
      <p:sp>
        <p:nvSpPr>
          <p:cNvPr id="8" name="Shape 6"/>
          <p:cNvSpPr/>
          <p:nvPr/>
        </p:nvSpPr>
        <p:spPr>
          <a:xfrm>
            <a:off x="566928" y="1938528"/>
            <a:ext cx="128016" cy="128016"/>
          </a:xfrm>
          <a:prstGeom prst="ellipse">
            <a:avLst/>
          </a:prstGeom>
          <a:solidFill>
            <a:srgbClr val="C9A227"/>
          </a:solidFill>
          <a:ln/>
        </p:spPr>
        <p:txBody>
          <a:bodyPr/>
          <a:lstStyle/>
          <a:p>
            <a:endParaRPr lang="en-GB"/>
          </a:p>
        </p:txBody>
      </p:sp>
      <p:sp>
        <p:nvSpPr>
          <p:cNvPr id="9" name="Text 7"/>
          <p:cNvSpPr/>
          <p:nvPr/>
        </p:nvSpPr>
        <p:spPr>
          <a:xfrm>
            <a:off x="914400" y="1892808"/>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Citations enable spot-checks</a:t>
            </a:r>
            <a:endParaRPr lang="en-US" sz="1250" dirty="0"/>
          </a:p>
        </p:txBody>
      </p:sp>
      <p:sp>
        <p:nvSpPr>
          <p:cNvPr id="10" name="Text 8"/>
          <p:cNvSpPr/>
          <p:nvPr/>
        </p:nvSpPr>
        <p:spPr>
          <a:xfrm>
            <a:off x="4114800" y="1892808"/>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Any figure traces to document and page in seconds</a:t>
            </a:r>
            <a:endParaRPr lang="en-US" sz="1150" dirty="0"/>
          </a:p>
        </p:txBody>
      </p:sp>
      <p:sp>
        <p:nvSpPr>
          <p:cNvPr id="11" name="Shape 9"/>
          <p:cNvSpPr/>
          <p:nvPr/>
        </p:nvSpPr>
        <p:spPr>
          <a:xfrm>
            <a:off x="566928" y="2596896"/>
            <a:ext cx="128016" cy="128016"/>
          </a:xfrm>
          <a:prstGeom prst="ellipse">
            <a:avLst/>
          </a:prstGeom>
          <a:solidFill>
            <a:srgbClr val="C9A227"/>
          </a:solidFill>
          <a:ln/>
        </p:spPr>
        <p:txBody>
          <a:bodyPr/>
          <a:lstStyle/>
          <a:p>
            <a:endParaRPr lang="en-GB"/>
          </a:p>
        </p:txBody>
      </p:sp>
      <p:sp>
        <p:nvSpPr>
          <p:cNvPr id="12" name="Text 10"/>
          <p:cNvSpPr/>
          <p:nvPr/>
        </p:nvSpPr>
        <p:spPr>
          <a:xfrm>
            <a:off x="914400" y="2551176"/>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Human review</a:t>
            </a:r>
            <a:endParaRPr lang="en-US" sz="1250" dirty="0"/>
          </a:p>
        </p:txBody>
      </p:sp>
      <p:sp>
        <p:nvSpPr>
          <p:cNvPr id="13" name="Text 11"/>
          <p:cNvSpPr/>
          <p:nvPr/>
        </p:nvSpPr>
        <p:spPr>
          <a:xfrm>
            <a:off x="4114800" y="2551176"/>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Nothing leaves the building without an analyst's sign-off</a:t>
            </a:r>
            <a:endParaRPr lang="en-US" sz="1150" dirty="0"/>
          </a:p>
        </p:txBody>
      </p:sp>
      <p:sp>
        <p:nvSpPr>
          <p:cNvPr id="14" name="Shape 12"/>
          <p:cNvSpPr/>
          <p:nvPr/>
        </p:nvSpPr>
        <p:spPr>
          <a:xfrm>
            <a:off x="566928" y="3255264"/>
            <a:ext cx="128016" cy="128016"/>
          </a:xfrm>
          <a:prstGeom prst="ellipse">
            <a:avLst/>
          </a:prstGeom>
          <a:solidFill>
            <a:srgbClr val="C9A227"/>
          </a:solidFill>
          <a:ln/>
        </p:spPr>
        <p:txBody>
          <a:bodyPr/>
          <a:lstStyle/>
          <a:p>
            <a:endParaRPr lang="en-GB"/>
          </a:p>
        </p:txBody>
      </p:sp>
      <p:sp>
        <p:nvSpPr>
          <p:cNvPr id="15" name="Text 13"/>
          <p:cNvSpPr/>
          <p:nvPr/>
        </p:nvSpPr>
        <p:spPr>
          <a:xfrm>
            <a:off x="914400" y="3209544"/>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Closed periods flagged</a:t>
            </a:r>
            <a:endParaRPr lang="en-US" sz="1250" dirty="0"/>
          </a:p>
        </p:txBody>
      </p:sp>
      <p:sp>
        <p:nvSpPr>
          <p:cNvPr id="16" name="Text 14"/>
          <p:cNvSpPr/>
          <p:nvPr/>
        </p:nvSpPr>
        <p:spPr>
          <a:xfrm>
            <a:off x="4114800" y="3209544"/>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Dealing restrictions surface automatically in meeting notes and analyses</a:t>
            </a:r>
            <a:endParaRPr lang="en-US" sz="1150" dirty="0"/>
          </a:p>
        </p:txBody>
      </p:sp>
      <p:sp>
        <p:nvSpPr>
          <p:cNvPr id="17" name="Shape 15"/>
          <p:cNvSpPr/>
          <p:nvPr/>
        </p:nvSpPr>
        <p:spPr>
          <a:xfrm>
            <a:off x="566928" y="3913632"/>
            <a:ext cx="128016" cy="128016"/>
          </a:xfrm>
          <a:prstGeom prst="ellipse">
            <a:avLst/>
          </a:prstGeom>
          <a:solidFill>
            <a:srgbClr val="C9A227"/>
          </a:solidFill>
          <a:ln/>
        </p:spPr>
        <p:txBody>
          <a:bodyPr/>
          <a:lstStyle/>
          <a:p>
            <a:endParaRPr lang="en-GB"/>
          </a:p>
        </p:txBody>
      </p:sp>
      <p:sp>
        <p:nvSpPr>
          <p:cNvPr id="18" name="Text 16"/>
          <p:cNvSpPr/>
          <p:nvPr/>
        </p:nvSpPr>
        <p:spPr>
          <a:xfrm>
            <a:off x="914400" y="3867912"/>
            <a:ext cx="310896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Suspect data flagged</a:t>
            </a:r>
            <a:endParaRPr lang="en-US" sz="1250" dirty="0"/>
          </a:p>
        </p:txBody>
      </p:sp>
      <p:sp>
        <p:nvSpPr>
          <p:cNvPr id="19" name="Text 17"/>
          <p:cNvSpPr/>
          <p:nvPr/>
        </p:nvSpPr>
        <p:spPr>
          <a:xfrm>
            <a:off x="4114800" y="3867912"/>
            <a:ext cx="4572000" cy="548640"/>
          </a:xfrm>
          <a:prstGeom prst="rect">
            <a:avLst/>
          </a:prstGeom>
          <a:noFill/>
          <a:ln/>
        </p:spPr>
        <p:txBody>
          <a:bodyPr wrap="square" lIns="0" tIns="0" rIns="0" bIns="0" rtlCol="0" anchor="t"/>
          <a:lstStyle/>
          <a:p>
            <a:pPr marL="0" indent="0">
              <a:buNone/>
            </a:pPr>
            <a:r>
              <a:rPr lang="en-US" sz="1150" dirty="0">
                <a:solidFill>
                  <a:srgbClr val="1A2238"/>
                </a:solidFill>
                <a:latin typeface="Calibri" pitchFamily="34" charset="0"/>
                <a:ea typeface="Calibri" pitchFamily="34" charset="-122"/>
                <a:cs typeface="Calibri" pitchFamily="34" charset="-120"/>
              </a:rPr>
              <a:t>Garbled PDF extractions are reported for verification, not presented as fact</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CLAUDE 101</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What is Claude?</a:t>
            </a:r>
            <a:endParaRPr lang="en-US" sz="2600" dirty="0"/>
          </a:p>
        </p:txBody>
      </p:sp>
      <p:sp>
        <p:nvSpPr>
          <p:cNvPr id="4" name="Text 2"/>
          <p:cNvSpPr/>
          <p:nvPr/>
        </p:nvSpPr>
        <p:spPr>
          <a:xfrm>
            <a:off x="548640" y="1078992"/>
            <a:ext cx="8046720" cy="320040"/>
          </a:xfrm>
          <a:prstGeom prst="rect">
            <a:avLst/>
          </a:prstGeom>
          <a:noFill/>
          <a:ln/>
        </p:spPr>
        <p:txBody>
          <a:bodyPr wrap="square" lIns="0" tIns="0" rIns="0" bIns="0" rtlCol="0" anchor="ctr"/>
          <a:lstStyle/>
          <a:p>
            <a:pPr marL="0" indent="0">
              <a:buNone/>
            </a:pPr>
            <a:r>
              <a:rPr lang="en-US" sz="1400" dirty="0">
                <a:solidFill>
                  <a:srgbClr val="5A6478"/>
                </a:solidFill>
                <a:latin typeface="Calibri" pitchFamily="34" charset="0"/>
                <a:ea typeface="Calibri" pitchFamily="34" charset="-122"/>
                <a:cs typeface="Calibri" pitchFamily="34" charset="-120"/>
              </a:rPr>
              <a:t>A frontier AI model. In chat it answers questions; used as an agent, it completes tasks.</a:t>
            </a:r>
            <a:endParaRPr lang="en-US" sz="1400" dirty="0"/>
          </a:p>
        </p:txBody>
      </p:sp>
      <p:sp>
        <p:nvSpPr>
          <p:cNvPr id="5" name="Shape 3"/>
          <p:cNvSpPr/>
          <p:nvPr/>
        </p:nvSpPr>
        <p:spPr>
          <a:xfrm>
            <a:off x="548640" y="1572768"/>
            <a:ext cx="3931920" cy="1152144"/>
          </a:xfrm>
          <a:prstGeom prst="roundRect">
            <a:avLst>
              <a:gd name="adj" fmla="val 4762"/>
            </a:avLst>
          </a:prstGeom>
          <a:solidFill>
            <a:srgbClr val="EEF3FC"/>
          </a:solidFill>
          <a:ln/>
        </p:spPr>
        <p:txBody>
          <a:bodyPr/>
          <a:lstStyle/>
          <a:p>
            <a:endParaRPr lang="en-GB"/>
          </a:p>
        </p:txBody>
      </p:sp>
      <p:sp>
        <p:nvSpPr>
          <p:cNvPr id="6" name="Shape 4"/>
          <p:cNvSpPr/>
          <p:nvPr/>
        </p:nvSpPr>
        <p:spPr>
          <a:xfrm>
            <a:off x="749808" y="1938528"/>
            <a:ext cx="420624" cy="420624"/>
          </a:xfrm>
          <a:prstGeom prst="ellipse">
            <a:avLst/>
          </a:prstGeom>
          <a:solidFill>
            <a:srgbClr val="1E2761"/>
          </a:solidFill>
          <a:ln/>
        </p:spPr>
        <p:txBody>
          <a:bodyPr/>
          <a:lstStyle/>
          <a:p>
            <a:endParaRPr lang="en-GB"/>
          </a:p>
        </p:txBody>
      </p:sp>
      <p:pic>
        <p:nvPicPr>
          <p:cNvPr id="7" name="Image 0" descr="preencoded.png"/>
          <p:cNvPicPr>
            <a:picLocks noChangeAspect="1"/>
          </p:cNvPicPr>
          <p:nvPr/>
        </p:nvPicPr>
        <p:blipFill>
          <a:blip r:embed="rId3"/>
          <a:stretch>
            <a:fillRect/>
          </a:stretch>
        </p:blipFill>
        <p:spPr>
          <a:xfrm>
            <a:off x="850758" y="2039478"/>
            <a:ext cx="218724" cy="218724"/>
          </a:xfrm>
          <a:prstGeom prst="rect">
            <a:avLst/>
          </a:prstGeom>
        </p:spPr>
      </p:pic>
      <p:sp>
        <p:nvSpPr>
          <p:cNvPr id="8" name="Text 5"/>
          <p:cNvSpPr/>
          <p:nvPr/>
        </p:nvSpPr>
        <p:spPr>
          <a:xfrm>
            <a:off x="1325880" y="171907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Reads</a:t>
            </a:r>
            <a:endParaRPr lang="en-US" sz="1450" dirty="0"/>
          </a:p>
        </p:txBody>
      </p:sp>
      <p:sp>
        <p:nvSpPr>
          <p:cNvPr id="9" name="Text 6"/>
          <p:cNvSpPr/>
          <p:nvPr/>
        </p:nvSpPr>
        <p:spPr>
          <a:xfrm>
            <a:off x="1325880" y="2011680"/>
            <a:ext cx="3017520" cy="658368"/>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Annual reports, interims, SENS announcements, spreadsheets — hundreds of pages at a time</a:t>
            </a:r>
            <a:endParaRPr lang="en-US" sz="1100" dirty="0"/>
          </a:p>
        </p:txBody>
      </p:sp>
      <p:sp>
        <p:nvSpPr>
          <p:cNvPr id="10" name="Shape 7"/>
          <p:cNvSpPr/>
          <p:nvPr/>
        </p:nvSpPr>
        <p:spPr>
          <a:xfrm>
            <a:off x="4754880" y="1572768"/>
            <a:ext cx="3931920" cy="1152144"/>
          </a:xfrm>
          <a:prstGeom prst="roundRect">
            <a:avLst>
              <a:gd name="adj" fmla="val 4762"/>
            </a:avLst>
          </a:prstGeom>
          <a:solidFill>
            <a:srgbClr val="EEF3FC"/>
          </a:solidFill>
          <a:ln/>
        </p:spPr>
        <p:txBody>
          <a:bodyPr/>
          <a:lstStyle/>
          <a:p>
            <a:endParaRPr lang="en-GB"/>
          </a:p>
        </p:txBody>
      </p:sp>
      <p:sp>
        <p:nvSpPr>
          <p:cNvPr id="11" name="Shape 8"/>
          <p:cNvSpPr/>
          <p:nvPr/>
        </p:nvSpPr>
        <p:spPr>
          <a:xfrm>
            <a:off x="4956048" y="1938528"/>
            <a:ext cx="420624" cy="420624"/>
          </a:xfrm>
          <a:prstGeom prst="ellipse">
            <a:avLst/>
          </a:prstGeom>
          <a:solidFill>
            <a:srgbClr val="1E2761"/>
          </a:solidFill>
          <a:ln/>
        </p:spPr>
        <p:txBody>
          <a:bodyPr/>
          <a:lstStyle/>
          <a:p>
            <a:endParaRPr lang="en-GB"/>
          </a:p>
        </p:txBody>
      </p:sp>
      <p:pic>
        <p:nvPicPr>
          <p:cNvPr id="12" name="Image 1" descr="preencoded.png"/>
          <p:cNvPicPr>
            <a:picLocks noChangeAspect="1"/>
          </p:cNvPicPr>
          <p:nvPr/>
        </p:nvPicPr>
        <p:blipFill>
          <a:blip r:embed="rId4"/>
          <a:stretch>
            <a:fillRect/>
          </a:stretch>
        </p:blipFill>
        <p:spPr>
          <a:xfrm>
            <a:off x="5056998" y="2039478"/>
            <a:ext cx="218724" cy="218724"/>
          </a:xfrm>
          <a:prstGeom prst="rect">
            <a:avLst/>
          </a:prstGeom>
        </p:spPr>
      </p:pic>
      <p:sp>
        <p:nvSpPr>
          <p:cNvPr id="13" name="Text 9"/>
          <p:cNvSpPr/>
          <p:nvPr/>
        </p:nvSpPr>
        <p:spPr>
          <a:xfrm>
            <a:off x="5532120" y="1719072"/>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Writes</a:t>
            </a:r>
            <a:endParaRPr lang="en-US" sz="1450" dirty="0"/>
          </a:p>
        </p:txBody>
      </p:sp>
      <p:sp>
        <p:nvSpPr>
          <p:cNvPr id="14" name="Text 10"/>
          <p:cNvSpPr/>
          <p:nvPr/>
        </p:nvSpPr>
        <p:spPr>
          <a:xfrm>
            <a:off x="5532120" y="2011680"/>
            <a:ext cx="3017520" cy="658368"/>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Analysis notes, decks, models — in the house format, every time</a:t>
            </a:r>
            <a:endParaRPr lang="en-US" sz="1100" dirty="0"/>
          </a:p>
        </p:txBody>
      </p:sp>
      <p:sp>
        <p:nvSpPr>
          <p:cNvPr id="15" name="Shape 11"/>
          <p:cNvSpPr/>
          <p:nvPr/>
        </p:nvSpPr>
        <p:spPr>
          <a:xfrm>
            <a:off x="548640" y="2871216"/>
            <a:ext cx="3931920" cy="1152144"/>
          </a:xfrm>
          <a:prstGeom prst="roundRect">
            <a:avLst>
              <a:gd name="adj" fmla="val 4762"/>
            </a:avLst>
          </a:prstGeom>
          <a:solidFill>
            <a:srgbClr val="EEF3FC"/>
          </a:solidFill>
          <a:ln/>
        </p:spPr>
        <p:txBody>
          <a:bodyPr/>
          <a:lstStyle/>
          <a:p>
            <a:endParaRPr lang="en-GB"/>
          </a:p>
        </p:txBody>
      </p:sp>
      <p:sp>
        <p:nvSpPr>
          <p:cNvPr id="16" name="Shape 12"/>
          <p:cNvSpPr/>
          <p:nvPr/>
        </p:nvSpPr>
        <p:spPr>
          <a:xfrm>
            <a:off x="749808" y="3236976"/>
            <a:ext cx="420624" cy="420624"/>
          </a:xfrm>
          <a:prstGeom prst="ellipse">
            <a:avLst/>
          </a:prstGeom>
          <a:solidFill>
            <a:srgbClr val="1E2761"/>
          </a:solidFill>
          <a:ln/>
        </p:spPr>
        <p:txBody>
          <a:bodyPr/>
          <a:lstStyle/>
          <a:p>
            <a:endParaRPr lang="en-GB"/>
          </a:p>
        </p:txBody>
      </p:sp>
      <p:pic>
        <p:nvPicPr>
          <p:cNvPr id="17" name="Image 2" descr="preencoded.png"/>
          <p:cNvPicPr>
            <a:picLocks noChangeAspect="1"/>
          </p:cNvPicPr>
          <p:nvPr/>
        </p:nvPicPr>
        <p:blipFill>
          <a:blip r:embed="rId5"/>
          <a:stretch>
            <a:fillRect/>
          </a:stretch>
        </p:blipFill>
        <p:spPr>
          <a:xfrm>
            <a:off x="850758" y="3337926"/>
            <a:ext cx="218724" cy="218724"/>
          </a:xfrm>
          <a:prstGeom prst="rect">
            <a:avLst/>
          </a:prstGeom>
        </p:spPr>
      </p:pic>
      <p:sp>
        <p:nvSpPr>
          <p:cNvPr id="18" name="Text 13"/>
          <p:cNvSpPr/>
          <p:nvPr/>
        </p:nvSpPr>
        <p:spPr>
          <a:xfrm>
            <a:off x="1325880" y="3017520"/>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Browses</a:t>
            </a:r>
            <a:endParaRPr lang="en-US" sz="1450" dirty="0"/>
          </a:p>
        </p:txBody>
      </p:sp>
      <p:sp>
        <p:nvSpPr>
          <p:cNvPr id="19" name="Text 14"/>
          <p:cNvSpPr/>
          <p:nvPr/>
        </p:nvSpPr>
        <p:spPr>
          <a:xfrm>
            <a:off x="1325880" y="3310128"/>
            <a:ext cx="3017520" cy="658368"/>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Finds IR pages, downloads filings, monitors announcements</a:t>
            </a:r>
            <a:endParaRPr lang="en-US" sz="1100" dirty="0"/>
          </a:p>
        </p:txBody>
      </p:sp>
      <p:sp>
        <p:nvSpPr>
          <p:cNvPr id="20" name="Shape 15"/>
          <p:cNvSpPr/>
          <p:nvPr/>
        </p:nvSpPr>
        <p:spPr>
          <a:xfrm>
            <a:off x="4754880" y="2871216"/>
            <a:ext cx="3931920" cy="1152144"/>
          </a:xfrm>
          <a:prstGeom prst="roundRect">
            <a:avLst>
              <a:gd name="adj" fmla="val 4762"/>
            </a:avLst>
          </a:prstGeom>
          <a:solidFill>
            <a:srgbClr val="EEF3FC"/>
          </a:solidFill>
          <a:ln/>
        </p:spPr>
        <p:txBody>
          <a:bodyPr/>
          <a:lstStyle/>
          <a:p>
            <a:endParaRPr lang="en-GB"/>
          </a:p>
        </p:txBody>
      </p:sp>
      <p:sp>
        <p:nvSpPr>
          <p:cNvPr id="21" name="Shape 16"/>
          <p:cNvSpPr/>
          <p:nvPr/>
        </p:nvSpPr>
        <p:spPr>
          <a:xfrm>
            <a:off x="4956048" y="3236976"/>
            <a:ext cx="420624" cy="420624"/>
          </a:xfrm>
          <a:prstGeom prst="ellipse">
            <a:avLst/>
          </a:prstGeom>
          <a:solidFill>
            <a:srgbClr val="1E2761"/>
          </a:solidFill>
          <a:ln/>
        </p:spPr>
        <p:txBody>
          <a:bodyPr/>
          <a:lstStyle/>
          <a:p>
            <a:endParaRPr lang="en-GB"/>
          </a:p>
        </p:txBody>
      </p:sp>
      <p:pic>
        <p:nvPicPr>
          <p:cNvPr id="22" name="Image 3" descr="preencoded.png"/>
          <p:cNvPicPr>
            <a:picLocks noChangeAspect="1"/>
          </p:cNvPicPr>
          <p:nvPr/>
        </p:nvPicPr>
        <p:blipFill>
          <a:blip r:embed="rId6"/>
          <a:stretch>
            <a:fillRect/>
          </a:stretch>
        </p:blipFill>
        <p:spPr>
          <a:xfrm>
            <a:off x="5056998" y="3337926"/>
            <a:ext cx="218724" cy="218724"/>
          </a:xfrm>
          <a:prstGeom prst="rect">
            <a:avLst/>
          </a:prstGeom>
        </p:spPr>
      </p:pic>
      <p:sp>
        <p:nvSpPr>
          <p:cNvPr id="23" name="Text 17"/>
          <p:cNvSpPr/>
          <p:nvPr/>
        </p:nvSpPr>
        <p:spPr>
          <a:xfrm>
            <a:off x="5532120" y="3017520"/>
            <a:ext cx="3017520" cy="292608"/>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Runs code</a:t>
            </a:r>
            <a:endParaRPr lang="en-US" sz="1450" dirty="0"/>
          </a:p>
        </p:txBody>
      </p:sp>
      <p:sp>
        <p:nvSpPr>
          <p:cNvPr id="24" name="Text 18"/>
          <p:cNvSpPr/>
          <p:nvPr/>
        </p:nvSpPr>
        <p:spPr>
          <a:xfrm>
            <a:off x="5532120" y="3310128"/>
            <a:ext cx="3017520" cy="658368"/>
          </a:xfrm>
          <a:prstGeom prst="rect">
            <a:avLst/>
          </a:prstGeom>
          <a:noFill/>
          <a:ln/>
        </p:spPr>
        <p:txBody>
          <a:bodyPr wrap="square" lIns="0" tIns="0" rIns="0" bIns="0" rtlCol="0" anchor="ctr"/>
          <a:lstStyle/>
          <a:p>
            <a:pPr marL="0" indent="0">
              <a:buNone/>
            </a:pPr>
            <a:r>
              <a:rPr lang="en-US" sz="1100" dirty="0">
                <a:solidFill>
                  <a:srgbClr val="1A2238"/>
                </a:solidFill>
                <a:latin typeface="Calibri" pitchFamily="34" charset="0"/>
                <a:ea typeface="Calibri" pitchFamily="34" charset="-122"/>
                <a:cs typeface="Calibri" pitchFamily="34" charset="-120"/>
              </a:rPr>
              <a:t>Calculations, file management, document tooling — checked, not guessed</a:t>
            </a:r>
            <a:endParaRPr lang="en-US" sz="1100" dirty="0"/>
          </a:p>
        </p:txBody>
      </p:sp>
      <p:sp>
        <p:nvSpPr>
          <p:cNvPr id="25" name="Text 19"/>
          <p:cNvSpPr/>
          <p:nvPr/>
        </p:nvSpPr>
        <p:spPr>
          <a:xfrm>
            <a:off x="548640" y="4315968"/>
            <a:ext cx="8046720" cy="320040"/>
          </a:xfrm>
          <a:prstGeom prst="rect">
            <a:avLst/>
          </a:prstGeom>
          <a:noFill/>
          <a:ln/>
        </p:spPr>
        <p:txBody>
          <a:bodyPr wrap="square" lIns="0" tIns="0" rIns="0" bIns="0"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The difference that matters today: chat answers. An agent does.</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046720" cy="274320"/>
          </a:xfrm>
          <a:prstGeom prst="rect">
            <a:avLst/>
          </a:prstGeom>
          <a:noFill/>
          <a:ln/>
        </p:spPr>
        <p:txBody>
          <a:bodyPr wrap="square" lIns="0" tIns="0" rIns="0" bIns="0" rtlCol="0" anchor="ctr"/>
          <a:lstStyle/>
          <a:p>
            <a:pPr marL="0" indent="0">
              <a:buNone/>
            </a:pPr>
            <a:r>
              <a:rPr lang="en-US" sz="1050" b="1" kern="0" spc="300" dirty="0">
                <a:solidFill>
                  <a:srgbClr val="C9A227"/>
                </a:solidFill>
                <a:latin typeface="Calibri" pitchFamily="34" charset="0"/>
                <a:ea typeface="Calibri" pitchFamily="34" charset="-122"/>
                <a:cs typeface="Calibri" pitchFamily="34" charset="-120"/>
              </a:rPr>
              <a:t>CLAUDE 101</a:t>
            </a:r>
            <a:endParaRPr lang="en-US" sz="1050" dirty="0"/>
          </a:p>
        </p:txBody>
      </p:sp>
      <p:sp>
        <p:nvSpPr>
          <p:cNvPr id="3" name="Text 1"/>
          <p:cNvSpPr/>
          <p:nvPr/>
        </p:nvSpPr>
        <p:spPr>
          <a:xfrm>
            <a:off x="548640" y="548640"/>
            <a:ext cx="8046720" cy="502920"/>
          </a:xfrm>
          <a:prstGeom prst="rect">
            <a:avLst/>
          </a:prstGeom>
          <a:noFill/>
          <a:ln/>
        </p:spPr>
        <p:txBody>
          <a:bodyPr wrap="square" lIns="0" tIns="0" rIns="0" bIns="0" rtlCol="0" anchor="ctr"/>
          <a:lstStyle/>
          <a:p>
            <a:pPr marL="0" indent="0">
              <a:buNone/>
            </a:pPr>
            <a:r>
              <a:rPr lang="en-US" sz="2600" b="1" dirty="0">
                <a:solidFill>
                  <a:srgbClr val="1E2761"/>
                </a:solidFill>
                <a:latin typeface="Georgia" pitchFamily="34" charset="0"/>
                <a:ea typeface="Georgia" pitchFamily="34" charset="-122"/>
                <a:cs typeface="Georgia" pitchFamily="34" charset="-120"/>
              </a:rPr>
              <a:t>Cowork: Claude with hands</a:t>
            </a:r>
            <a:endParaRPr lang="en-US" sz="2600" dirty="0"/>
          </a:p>
        </p:txBody>
      </p:sp>
      <p:sp>
        <p:nvSpPr>
          <p:cNvPr id="4" name="Shape 2"/>
          <p:cNvSpPr/>
          <p:nvPr/>
        </p:nvSpPr>
        <p:spPr>
          <a:xfrm>
            <a:off x="548640" y="1280160"/>
            <a:ext cx="2624328" cy="2331720"/>
          </a:xfrm>
          <a:prstGeom prst="roundRect">
            <a:avLst>
              <a:gd name="adj" fmla="val 2353"/>
            </a:avLst>
          </a:prstGeom>
          <a:solidFill>
            <a:srgbClr val="EEF3FC"/>
          </a:solidFill>
          <a:ln/>
        </p:spPr>
        <p:txBody>
          <a:bodyPr/>
          <a:lstStyle/>
          <a:p>
            <a:endParaRPr lang="en-GB"/>
          </a:p>
        </p:txBody>
      </p:sp>
      <p:sp>
        <p:nvSpPr>
          <p:cNvPr id="5" name="Shape 3"/>
          <p:cNvSpPr/>
          <p:nvPr/>
        </p:nvSpPr>
        <p:spPr>
          <a:xfrm>
            <a:off x="777240" y="1536192"/>
            <a:ext cx="475488" cy="475488"/>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891357" y="1650309"/>
            <a:ext cx="247254" cy="247254"/>
          </a:xfrm>
          <a:prstGeom prst="rect">
            <a:avLst/>
          </a:prstGeom>
        </p:spPr>
      </p:pic>
      <p:sp>
        <p:nvSpPr>
          <p:cNvPr id="7" name="Text 4"/>
          <p:cNvSpPr/>
          <p:nvPr/>
        </p:nvSpPr>
        <p:spPr>
          <a:xfrm>
            <a:off x="777240" y="2176272"/>
            <a:ext cx="2194560" cy="320040"/>
          </a:xfrm>
          <a:prstGeom prst="rect">
            <a:avLst/>
          </a:prstGeom>
          <a:noFill/>
          <a:ln/>
        </p:spPr>
        <p:txBody>
          <a:bodyPr wrap="square" lIns="0" tIns="0" rIns="0" bIns="0" rtlCol="0" anchor="ctr"/>
          <a:lstStyle/>
          <a:p>
            <a:pPr marL="0" indent="0">
              <a:buNone/>
            </a:pPr>
            <a:r>
              <a:rPr lang="en-US" sz="1550" b="1" dirty="0">
                <a:solidFill>
                  <a:srgbClr val="1E2761"/>
                </a:solidFill>
                <a:latin typeface="Calibri" pitchFamily="34" charset="0"/>
                <a:ea typeface="Calibri" pitchFamily="34" charset="-122"/>
                <a:cs typeface="Calibri" pitchFamily="34" charset="-120"/>
              </a:rPr>
              <a:t>A folder</a:t>
            </a:r>
            <a:endParaRPr lang="en-US" sz="1550" dirty="0"/>
          </a:p>
        </p:txBody>
      </p:sp>
      <p:sp>
        <p:nvSpPr>
          <p:cNvPr id="8" name="Text 5"/>
          <p:cNvSpPr/>
          <p:nvPr/>
        </p:nvSpPr>
        <p:spPr>
          <a:xfrm>
            <a:off x="777240" y="2505456"/>
            <a:ext cx="2194560" cy="100584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A working folder on your machine it can read and write — and nothing outside it.</a:t>
            </a:r>
            <a:endParaRPr lang="en-US" sz="1150" dirty="0"/>
          </a:p>
        </p:txBody>
      </p:sp>
      <p:sp>
        <p:nvSpPr>
          <p:cNvPr id="9" name="Shape 6"/>
          <p:cNvSpPr/>
          <p:nvPr/>
        </p:nvSpPr>
        <p:spPr>
          <a:xfrm>
            <a:off x="3355848" y="1280160"/>
            <a:ext cx="2624328" cy="2331720"/>
          </a:xfrm>
          <a:prstGeom prst="roundRect">
            <a:avLst>
              <a:gd name="adj" fmla="val 2353"/>
            </a:avLst>
          </a:prstGeom>
          <a:solidFill>
            <a:srgbClr val="EEF3FC"/>
          </a:solidFill>
          <a:ln/>
        </p:spPr>
        <p:txBody>
          <a:bodyPr/>
          <a:lstStyle/>
          <a:p>
            <a:endParaRPr lang="en-GB"/>
          </a:p>
        </p:txBody>
      </p:sp>
      <p:sp>
        <p:nvSpPr>
          <p:cNvPr id="10" name="Shape 7"/>
          <p:cNvSpPr/>
          <p:nvPr/>
        </p:nvSpPr>
        <p:spPr>
          <a:xfrm>
            <a:off x="3584448" y="1536192"/>
            <a:ext cx="475488" cy="475488"/>
          </a:xfrm>
          <a:prstGeom prst="ellipse">
            <a:avLst/>
          </a:prstGeom>
          <a:solidFill>
            <a:srgbClr val="1E2761"/>
          </a:solidFill>
          <a:ln/>
        </p:spPr>
        <p:txBody>
          <a:bodyPr/>
          <a:lstStyle/>
          <a:p>
            <a:endParaRPr lang="en-GB"/>
          </a:p>
        </p:txBody>
      </p:sp>
      <p:pic>
        <p:nvPicPr>
          <p:cNvPr id="11" name="Image 1" descr="preencoded.png"/>
          <p:cNvPicPr>
            <a:picLocks noChangeAspect="1"/>
          </p:cNvPicPr>
          <p:nvPr/>
        </p:nvPicPr>
        <p:blipFill>
          <a:blip r:embed="rId4"/>
          <a:stretch>
            <a:fillRect/>
          </a:stretch>
        </p:blipFill>
        <p:spPr>
          <a:xfrm>
            <a:off x="3698565" y="1650309"/>
            <a:ext cx="247254" cy="247254"/>
          </a:xfrm>
          <a:prstGeom prst="rect">
            <a:avLst/>
          </a:prstGeom>
        </p:spPr>
      </p:pic>
      <p:sp>
        <p:nvSpPr>
          <p:cNvPr id="12" name="Text 8"/>
          <p:cNvSpPr/>
          <p:nvPr/>
        </p:nvSpPr>
        <p:spPr>
          <a:xfrm>
            <a:off x="3584448" y="2176272"/>
            <a:ext cx="2194560" cy="320040"/>
          </a:xfrm>
          <a:prstGeom prst="rect">
            <a:avLst/>
          </a:prstGeom>
          <a:noFill/>
          <a:ln/>
        </p:spPr>
        <p:txBody>
          <a:bodyPr wrap="square" lIns="0" tIns="0" rIns="0" bIns="0" rtlCol="0" anchor="ctr"/>
          <a:lstStyle/>
          <a:p>
            <a:pPr marL="0" indent="0">
              <a:buNone/>
            </a:pPr>
            <a:r>
              <a:rPr lang="en-US" sz="1550" b="1" dirty="0">
                <a:solidFill>
                  <a:srgbClr val="1E2761"/>
                </a:solidFill>
                <a:latin typeface="Calibri" pitchFamily="34" charset="0"/>
                <a:ea typeface="Calibri" pitchFamily="34" charset="-122"/>
                <a:cs typeface="Calibri" pitchFamily="34" charset="-120"/>
              </a:rPr>
              <a:t>A browser</a:t>
            </a:r>
            <a:endParaRPr lang="en-US" sz="1550" dirty="0"/>
          </a:p>
        </p:txBody>
      </p:sp>
      <p:sp>
        <p:nvSpPr>
          <p:cNvPr id="13" name="Text 9"/>
          <p:cNvSpPr/>
          <p:nvPr/>
        </p:nvSpPr>
        <p:spPr>
          <a:xfrm>
            <a:off x="3584448" y="2505456"/>
            <a:ext cx="2194560" cy="100584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Drives a real, visible Chrome tab for the IR sites that block simple downloads.</a:t>
            </a:r>
            <a:endParaRPr lang="en-US" sz="1150" dirty="0"/>
          </a:p>
        </p:txBody>
      </p:sp>
      <p:sp>
        <p:nvSpPr>
          <p:cNvPr id="14" name="Shape 10"/>
          <p:cNvSpPr/>
          <p:nvPr/>
        </p:nvSpPr>
        <p:spPr>
          <a:xfrm>
            <a:off x="6163056" y="1280160"/>
            <a:ext cx="2624328" cy="2331720"/>
          </a:xfrm>
          <a:prstGeom prst="roundRect">
            <a:avLst>
              <a:gd name="adj" fmla="val 2353"/>
            </a:avLst>
          </a:prstGeom>
          <a:solidFill>
            <a:srgbClr val="EEF3FC"/>
          </a:solidFill>
          <a:ln/>
        </p:spPr>
        <p:txBody>
          <a:bodyPr/>
          <a:lstStyle/>
          <a:p>
            <a:endParaRPr lang="en-GB"/>
          </a:p>
        </p:txBody>
      </p:sp>
      <p:sp>
        <p:nvSpPr>
          <p:cNvPr id="15" name="Shape 11"/>
          <p:cNvSpPr/>
          <p:nvPr/>
        </p:nvSpPr>
        <p:spPr>
          <a:xfrm>
            <a:off x="6391656" y="1536192"/>
            <a:ext cx="475488" cy="475488"/>
          </a:xfrm>
          <a:prstGeom prst="ellipse">
            <a:avLst/>
          </a:prstGeom>
          <a:solidFill>
            <a:srgbClr val="1E2761"/>
          </a:solidFill>
          <a:ln/>
        </p:spPr>
        <p:txBody>
          <a:bodyPr/>
          <a:lstStyle/>
          <a:p>
            <a:endParaRPr lang="en-GB"/>
          </a:p>
        </p:txBody>
      </p:sp>
      <p:pic>
        <p:nvPicPr>
          <p:cNvPr id="16" name="Image 2" descr="preencoded.png"/>
          <p:cNvPicPr>
            <a:picLocks noChangeAspect="1"/>
          </p:cNvPicPr>
          <p:nvPr/>
        </p:nvPicPr>
        <p:blipFill>
          <a:blip r:embed="rId5"/>
          <a:stretch>
            <a:fillRect/>
          </a:stretch>
        </p:blipFill>
        <p:spPr>
          <a:xfrm>
            <a:off x="6505773" y="1650309"/>
            <a:ext cx="247254" cy="247254"/>
          </a:xfrm>
          <a:prstGeom prst="rect">
            <a:avLst/>
          </a:prstGeom>
        </p:spPr>
      </p:pic>
      <p:sp>
        <p:nvSpPr>
          <p:cNvPr id="17" name="Text 12"/>
          <p:cNvSpPr/>
          <p:nvPr/>
        </p:nvSpPr>
        <p:spPr>
          <a:xfrm>
            <a:off x="6391656" y="2176272"/>
            <a:ext cx="2194560" cy="320040"/>
          </a:xfrm>
          <a:prstGeom prst="rect">
            <a:avLst/>
          </a:prstGeom>
          <a:noFill/>
          <a:ln/>
        </p:spPr>
        <p:txBody>
          <a:bodyPr wrap="square" lIns="0" tIns="0" rIns="0" bIns="0" rtlCol="0" anchor="ctr"/>
          <a:lstStyle/>
          <a:p>
            <a:pPr marL="0" indent="0">
              <a:buNone/>
            </a:pPr>
            <a:r>
              <a:rPr lang="en-US" sz="1550" b="1" dirty="0">
                <a:solidFill>
                  <a:srgbClr val="1E2761"/>
                </a:solidFill>
                <a:latin typeface="Calibri" pitchFamily="34" charset="0"/>
                <a:ea typeface="Calibri" pitchFamily="34" charset="-122"/>
                <a:cs typeface="Calibri" pitchFamily="34" charset="-120"/>
              </a:rPr>
              <a:t>Your systems</a:t>
            </a:r>
            <a:endParaRPr lang="en-US" sz="1550" dirty="0"/>
          </a:p>
        </p:txBody>
      </p:sp>
      <p:sp>
        <p:nvSpPr>
          <p:cNvPr id="18" name="Text 13"/>
          <p:cNvSpPr/>
          <p:nvPr/>
        </p:nvSpPr>
        <p:spPr>
          <a:xfrm>
            <a:off x="6391656" y="2505456"/>
            <a:ext cx="2194560" cy="1005840"/>
          </a:xfrm>
          <a:prstGeom prst="rect">
            <a:avLst/>
          </a:prstGeom>
          <a:noFill/>
          <a:ln/>
        </p:spPr>
        <p:txBody>
          <a:bodyPr wrap="square" lIns="0" tIns="0" rIns="0" bIns="0" rtlCol="0" anchor="ctr"/>
          <a:lstStyle/>
          <a:p>
            <a:pPr marL="0" indent="0">
              <a:buNone/>
            </a:pPr>
            <a:r>
              <a:rPr lang="en-US" sz="1150" dirty="0">
                <a:solidFill>
                  <a:srgbClr val="1A2238"/>
                </a:solidFill>
                <a:latin typeface="Calibri" pitchFamily="34" charset="0"/>
                <a:ea typeface="Calibri" pitchFamily="34" charset="-122"/>
                <a:cs typeface="Calibri" pitchFamily="34" charset="-120"/>
              </a:rPr>
              <a:t>Connectors to SharePoint, Outlook, Teams — your data, with admin consent.</a:t>
            </a:r>
            <a:endParaRPr lang="en-US" sz="1150" dirty="0"/>
          </a:p>
        </p:txBody>
      </p:sp>
      <p:sp>
        <p:nvSpPr>
          <p:cNvPr id="19" name="Text 14"/>
          <p:cNvSpPr/>
          <p:nvPr/>
        </p:nvSpPr>
        <p:spPr>
          <a:xfrm>
            <a:off x="548640" y="3977640"/>
            <a:ext cx="8046720" cy="320040"/>
          </a:xfrm>
          <a:prstGeom prst="rect">
            <a:avLst/>
          </a:prstGeom>
          <a:noFill/>
          <a:ln/>
        </p:spPr>
        <p:txBody>
          <a:bodyPr wrap="square" lIns="0" tIns="0" rIns="0" bIns="0"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Every action sits behind an explicit permission prompt. Nothing happens silently.</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560</TotalTime>
  <Words>6485</Words>
  <Application>Microsoft Office PowerPoint</Application>
  <PresentationFormat>On-screen Show (16:9)</PresentationFormat>
  <Paragraphs>683</Paragraphs>
  <Slides>42</Slides>
  <Notes>40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42</vt:i4>
      </vt:variant>
    </vt:vector>
  </HeadingPairs>
  <TitlesOfParts>
    <vt:vector size="49" baseType="lpstr">
      <vt:lpstr>Arial</vt:lpstr>
      <vt:lpstr>Calibri</vt:lpstr>
      <vt:lpstr>Courier New</vt:lpstr>
      <vt:lpstr>Georgia</vt:lpstr>
      <vt:lpstr>Trebuchet MS</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All-Weather Analyst</dc:title>
  <dc:subject>PptxGenJS Presentation</dc:subject>
  <dc:creator>Simon Watkins</dc:creator>
  <cp:lastModifiedBy>Simon Watkins</cp:lastModifiedBy>
  <cp:revision>3</cp:revision>
  <dcterms:created xsi:type="dcterms:W3CDTF">2026-06-11T15:22:58Z</dcterms:created>
  <dcterms:modified xsi:type="dcterms:W3CDTF">2026-06-17T19:54:57Z</dcterms:modified>
</cp:coreProperties>
</file>