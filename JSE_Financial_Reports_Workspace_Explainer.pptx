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JSE Financial Reports workspace works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86384"/>
            <a:ext cx="11274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automated research desk that finds, files and analyses reports for JSE-listed companies — so the team never hunts for a document.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473452" y="3108960"/>
            <a:ext cx="118872" cy="45720"/>
          </a:xfrm>
          <a:prstGeom prst="rect">
            <a:avLst/>
          </a:prstGeom>
          <a:solidFill>
            <a:srgbClr val="0E9B8E"/>
          </a:solidFill>
          <a:ln/>
        </p:spPr>
      </p:sp>
      <p:sp>
        <p:nvSpPr>
          <p:cNvPr id="5" name="Shape 3"/>
          <p:cNvSpPr/>
          <p:nvPr/>
        </p:nvSpPr>
        <p:spPr>
          <a:xfrm rot="5400000">
            <a:off x="2574036" y="3022092"/>
            <a:ext cx="146304" cy="219456"/>
          </a:xfrm>
          <a:prstGeom prst="triangle">
            <a:avLst/>
          </a:prstGeom>
          <a:solidFill>
            <a:srgbClr val="0E9B8E"/>
          </a:solidFill>
          <a:ln/>
        </p:spPr>
      </p:sp>
      <p:sp>
        <p:nvSpPr>
          <p:cNvPr id="6" name="Shape 4"/>
          <p:cNvSpPr/>
          <p:nvPr/>
        </p:nvSpPr>
        <p:spPr>
          <a:xfrm>
            <a:off x="6725412" y="3108960"/>
            <a:ext cx="118872" cy="45720"/>
          </a:xfrm>
          <a:prstGeom prst="rect">
            <a:avLst/>
          </a:prstGeom>
          <a:solidFill>
            <a:srgbClr val="0E9B8E"/>
          </a:solidFill>
          <a:ln/>
        </p:spPr>
      </p:sp>
      <p:sp>
        <p:nvSpPr>
          <p:cNvPr id="7" name="Shape 5"/>
          <p:cNvSpPr/>
          <p:nvPr/>
        </p:nvSpPr>
        <p:spPr>
          <a:xfrm rot="5400000">
            <a:off x="6825996" y="3022092"/>
            <a:ext cx="146304" cy="219456"/>
          </a:xfrm>
          <a:prstGeom prst="triangle">
            <a:avLst/>
          </a:prstGeom>
          <a:solidFill>
            <a:srgbClr val="0E9B8E"/>
          </a:solidFill>
          <a:ln/>
        </p:spPr>
      </p:sp>
      <p:sp>
        <p:nvSpPr>
          <p:cNvPr id="8" name="Shape 6"/>
          <p:cNvSpPr/>
          <p:nvPr/>
        </p:nvSpPr>
        <p:spPr>
          <a:xfrm>
            <a:off x="9697212" y="3108960"/>
            <a:ext cx="118872" cy="45720"/>
          </a:xfrm>
          <a:prstGeom prst="rect">
            <a:avLst/>
          </a:prstGeom>
          <a:solidFill>
            <a:srgbClr val="0E9B8E"/>
          </a:solidFill>
          <a:ln/>
        </p:spPr>
      </p:sp>
      <p:sp>
        <p:nvSpPr>
          <p:cNvPr id="9" name="Shape 7"/>
          <p:cNvSpPr/>
          <p:nvPr/>
        </p:nvSpPr>
        <p:spPr>
          <a:xfrm rot="5400000">
            <a:off x="9797796" y="3022092"/>
            <a:ext cx="146304" cy="219456"/>
          </a:xfrm>
          <a:prstGeom prst="triangle">
            <a:avLst/>
          </a:prstGeom>
          <a:solidFill>
            <a:srgbClr val="0E9B8E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371600"/>
            <a:ext cx="1965960" cy="352044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sx="100000" sy="100000" kx="0" ky="0" algn="bl" rotWithShape="0" blurRad="114300" dist="38100" dir="5400000">
              <a:srgbClr val="1B2A3A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1792" y="1554480"/>
            <a:ext cx="457200" cy="457200"/>
          </a:xfrm>
          <a:prstGeom prst="ellipse">
            <a:avLst/>
          </a:prstGeom>
          <a:solidFill>
            <a:srgbClr val="0E9B8E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1673352"/>
            <a:ext cx="219456" cy="21945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170432" y="161848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E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21792" y="2121408"/>
            <a:ext cx="16367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analyst asks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21792" y="2670048"/>
            <a:ext cx="1636776" cy="365760"/>
          </a:xfrm>
          <a:prstGeom prst="roundRect">
            <a:avLst>
              <a:gd name="adj" fmla="val 12500"/>
            </a:avLst>
          </a:prstGeom>
          <a:solidFill>
            <a:srgbClr val="DCEFEC"/>
          </a:solidFill>
          <a:ln/>
        </p:spPr>
      </p:sp>
      <p:sp>
        <p:nvSpPr>
          <p:cNvPr id="16" name="Text 13"/>
          <p:cNvSpPr/>
          <p:nvPr/>
        </p:nvSpPr>
        <p:spPr>
          <a:xfrm>
            <a:off x="694944" y="2670048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3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“Tell me about Capitec”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21792" y="3127248"/>
            <a:ext cx="1636776" cy="365760"/>
          </a:xfrm>
          <a:prstGeom prst="roundRect">
            <a:avLst>
              <a:gd name="adj" fmla="val 12500"/>
            </a:avLst>
          </a:prstGeom>
          <a:solidFill>
            <a:srgbClr val="DCEFEC"/>
          </a:solidFill>
          <a:ln/>
        </p:spPr>
      </p:sp>
      <p:sp>
        <p:nvSpPr>
          <p:cNvPr id="18" name="Text 15"/>
          <p:cNvSpPr/>
          <p:nvPr/>
        </p:nvSpPr>
        <p:spPr>
          <a:xfrm>
            <a:off x="694944" y="3127248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3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“What’s new today?”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21792" y="3584448"/>
            <a:ext cx="1636776" cy="365760"/>
          </a:xfrm>
          <a:prstGeom prst="roundRect">
            <a:avLst>
              <a:gd name="adj" fmla="val 12500"/>
            </a:avLst>
          </a:prstGeom>
          <a:solidFill>
            <a:srgbClr val="DCEFEC"/>
          </a:solidFill>
          <a:ln/>
        </p:spPr>
      </p:sp>
      <p:sp>
        <p:nvSpPr>
          <p:cNvPr id="20" name="Text 17"/>
          <p:cNvSpPr/>
          <p:nvPr/>
        </p:nvSpPr>
        <p:spPr>
          <a:xfrm>
            <a:off x="694944" y="3584448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3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“Build the IC pack”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21792" y="4160520"/>
            <a:ext cx="16367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plain-English request — that’s all the desk needs.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2743200" y="1371600"/>
            <a:ext cx="3977640" cy="3520440"/>
          </a:xfrm>
          <a:prstGeom prst="roundRect">
            <a:avLst>
              <a:gd name="adj" fmla="val 2338"/>
            </a:avLst>
          </a:prstGeom>
          <a:solidFill>
            <a:srgbClr val="13243B"/>
          </a:solidFill>
          <a:ln w="12700">
            <a:solidFill>
              <a:srgbClr val="DCE3EB"/>
            </a:solidFill>
            <a:prstDash val="solid"/>
          </a:ln>
          <a:effectLst>
            <a:outerShdw sx="100000" sy="100000" kx="0" ky="0" algn="bl" rotWithShape="0" blurRad="114300" dist="38100" dir="5400000">
              <a:srgbClr val="1B2A3A">
                <a:alpha val="14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2926080" y="1572768"/>
            <a:ext cx="457200" cy="457200"/>
          </a:xfrm>
          <a:prstGeom prst="ellipse">
            <a:avLst/>
          </a:prstGeom>
          <a:solidFill>
            <a:srgbClr val="0E9B8E"/>
          </a:solidFill>
          <a:ln/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4952" y="1691640"/>
            <a:ext cx="219456" cy="219456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3474720" y="16276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E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2926080" y="208483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Skills do the work</a:t>
            </a:r>
            <a:endParaRPr lang="en-US" sz="1500" dirty="0"/>
          </a:p>
        </p:txBody>
      </p:sp>
      <p:sp>
        <p:nvSpPr>
          <p:cNvPr id="27" name="Text 23"/>
          <p:cNvSpPr/>
          <p:nvPr/>
        </p:nvSpPr>
        <p:spPr>
          <a:xfrm>
            <a:off x="2926080" y="2395728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5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 assistants, switched on automatically</a:t>
            </a:r>
            <a:endParaRPr lang="en-US" sz="950" dirty="0"/>
          </a:p>
        </p:txBody>
      </p:sp>
      <p:sp>
        <p:nvSpPr>
          <p:cNvPr id="28" name="Shape 24"/>
          <p:cNvSpPr/>
          <p:nvPr/>
        </p:nvSpPr>
        <p:spPr>
          <a:xfrm>
            <a:off x="2944368" y="2688336"/>
            <a:ext cx="246888" cy="246888"/>
          </a:xfrm>
          <a:prstGeom prst="ellipse">
            <a:avLst/>
          </a:prstGeom>
          <a:solidFill>
            <a:srgbClr val="0E9B8E"/>
          </a:solidFill>
          <a:ln/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8559" y="2752527"/>
            <a:ext cx="118506" cy="118506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3291840" y="263347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 </a:t>
            </a:r>
            <a:pPr indent="0" marL="0">
              <a:buNone/>
            </a:pPr>
            <a:r>
              <a:rPr lang="en-US" sz="800" i="1" dirty="0">
                <a:solidFill>
                  <a:srgbClr val="C5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jse-company-discovery</a:t>
            </a:r>
            <a:endParaRPr lang="en-US" sz="1050" dirty="0"/>
          </a:p>
        </p:txBody>
      </p:sp>
      <p:sp>
        <p:nvSpPr>
          <p:cNvPr id="31" name="Text 26"/>
          <p:cNvSpPr/>
          <p:nvPr/>
        </p:nvSpPr>
        <p:spPr>
          <a:xfrm>
            <a:off x="3291840" y="2825496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5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its investor site &amp; where reports live</a:t>
            </a:r>
            <a:endParaRPr lang="en-US" sz="850" dirty="0"/>
          </a:p>
        </p:txBody>
      </p:sp>
      <p:sp>
        <p:nvSpPr>
          <p:cNvPr id="32" name="Shape 27"/>
          <p:cNvSpPr/>
          <p:nvPr/>
        </p:nvSpPr>
        <p:spPr>
          <a:xfrm>
            <a:off x="2944368" y="3072384"/>
            <a:ext cx="246888" cy="246888"/>
          </a:xfrm>
          <a:prstGeom prst="ellipse">
            <a:avLst/>
          </a:prstGeom>
          <a:solidFill>
            <a:srgbClr val="0E9B8E"/>
          </a:solidFill>
          <a:ln/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8559" y="3136575"/>
            <a:ext cx="118506" cy="118506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3291840" y="301752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 </a:t>
            </a:r>
            <a:pPr indent="0" marL="0">
              <a:buNone/>
            </a:pPr>
            <a:r>
              <a:rPr lang="en-US" sz="800" i="1" dirty="0">
                <a:solidFill>
                  <a:srgbClr val="C5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jse-report-downloader</a:t>
            </a:r>
            <a:endParaRPr lang="en-US" sz="1050" dirty="0"/>
          </a:p>
        </p:txBody>
      </p:sp>
      <p:sp>
        <p:nvSpPr>
          <p:cNvPr id="35" name="Text 29"/>
          <p:cNvSpPr/>
          <p:nvPr/>
        </p:nvSpPr>
        <p:spPr>
          <a:xfrm>
            <a:off x="3291840" y="3209544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5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&amp; interim results, updates, SENS</a:t>
            </a:r>
            <a:endParaRPr lang="en-US" sz="850" dirty="0"/>
          </a:p>
        </p:txBody>
      </p:sp>
      <p:sp>
        <p:nvSpPr>
          <p:cNvPr id="36" name="Shape 30"/>
          <p:cNvSpPr/>
          <p:nvPr/>
        </p:nvSpPr>
        <p:spPr>
          <a:xfrm>
            <a:off x="2944368" y="3456432"/>
            <a:ext cx="246888" cy="246888"/>
          </a:xfrm>
          <a:prstGeom prst="ellipse">
            <a:avLst/>
          </a:prstGeom>
          <a:solidFill>
            <a:srgbClr val="0E9B8E"/>
          </a:solidFill>
          <a:ln/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08559" y="3520623"/>
            <a:ext cx="118506" cy="118506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3291840" y="340156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  </a:t>
            </a:r>
            <a:pPr indent="0" marL="0">
              <a:buNone/>
            </a:pPr>
            <a:r>
              <a:rPr lang="en-US" sz="800" i="1" dirty="0">
                <a:solidFill>
                  <a:srgbClr val="C5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jse-manifest-manager</a:t>
            </a:r>
            <a:endParaRPr lang="en-US" sz="1050" dirty="0"/>
          </a:p>
        </p:txBody>
      </p:sp>
      <p:sp>
        <p:nvSpPr>
          <p:cNvPr id="39" name="Text 32"/>
          <p:cNvSpPr/>
          <p:nvPr/>
        </p:nvSpPr>
        <p:spPr>
          <a:xfrm>
            <a:off x="3291840" y="3593592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5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master index current</a:t>
            </a:r>
            <a:endParaRPr lang="en-US" sz="850" dirty="0"/>
          </a:p>
        </p:txBody>
      </p:sp>
      <p:sp>
        <p:nvSpPr>
          <p:cNvPr id="40" name="Shape 33"/>
          <p:cNvSpPr/>
          <p:nvPr/>
        </p:nvSpPr>
        <p:spPr>
          <a:xfrm>
            <a:off x="2944368" y="3840480"/>
            <a:ext cx="246888" cy="246888"/>
          </a:xfrm>
          <a:prstGeom prst="ellipse">
            <a:avLst/>
          </a:prstGeom>
          <a:solidFill>
            <a:srgbClr val="0E9B8E"/>
          </a:solidFill>
          <a:ln/>
        </p:spPr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08559" y="3904671"/>
            <a:ext cx="118506" cy="118506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3291840" y="378561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 </a:t>
            </a:r>
            <a:pPr indent="0" marL="0">
              <a:buNone/>
            </a:pPr>
            <a:r>
              <a:rPr lang="en-US" sz="800" i="1" dirty="0">
                <a:solidFill>
                  <a:srgbClr val="C5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jse-skill-builder</a:t>
            </a:r>
            <a:endParaRPr lang="en-US" sz="1050" dirty="0"/>
          </a:p>
        </p:txBody>
      </p:sp>
      <p:sp>
        <p:nvSpPr>
          <p:cNvPr id="43" name="Text 35"/>
          <p:cNvSpPr/>
          <p:nvPr/>
        </p:nvSpPr>
        <p:spPr>
          <a:xfrm>
            <a:off x="3291840" y="397764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5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 per-company shortcut for next time</a:t>
            </a:r>
            <a:endParaRPr lang="en-US" sz="850" dirty="0"/>
          </a:p>
        </p:txBody>
      </p:sp>
      <p:sp>
        <p:nvSpPr>
          <p:cNvPr id="44" name="Shape 36"/>
          <p:cNvSpPr/>
          <p:nvPr/>
        </p:nvSpPr>
        <p:spPr>
          <a:xfrm>
            <a:off x="2944368" y="4224528"/>
            <a:ext cx="246888" cy="246888"/>
          </a:xfrm>
          <a:prstGeom prst="ellipse">
            <a:avLst/>
          </a:prstGeom>
          <a:solidFill>
            <a:srgbClr val="0E9B8E"/>
          </a:solidFill>
          <a:ln/>
        </p:spPr>
      </p:sp>
      <p:pic>
        <p:nvPicPr>
          <p:cNvPr id="4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08559" y="4288719"/>
            <a:ext cx="118506" cy="118506"/>
          </a:xfrm>
          <a:prstGeom prst="rect">
            <a:avLst/>
          </a:prstGeom>
        </p:spPr>
      </p:pic>
      <p:sp>
        <p:nvSpPr>
          <p:cNvPr id="46" name="Text 37"/>
          <p:cNvSpPr/>
          <p:nvPr/>
        </p:nvSpPr>
        <p:spPr>
          <a:xfrm>
            <a:off x="3291840" y="416966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 </a:t>
            </a:r>
            <a:pPr indent="0" marL="0">
              <a:buNone/>
            </a:pPr>
            <a:r>
              <a:rPr lang="en-US" sz="800" i="1" dirty="0">
                <a:solidFill>
                  <a:srgbClr val="C5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jse-analyst</a:t>
            </a:r>
            <a:endParaRPr lang="en-US" sz="1050" dirty="0"/>
          </a:p>
        </p:txBody>
      </p:sp>
      <p:sp>
        <p:nvSpPr>
          <p:cNvPr id="47" name="Text 38"/>
          <p:cNvSpPr/>
          <p:nvPr/>
        </p:nvSpPr>
        <p:spPr>
          <a:xfrm>
            <a:off x="3291840" y="436168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5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the numbers &amp; compare periods</a:t>
            </a:r>
            <a:endParaRPr lang="en-US" sz="850" dirty="0"/>
          </a:p>
        </p:txBody>
      </p:sp>
      <p:pic>
        <p:nvPicPr>
          <p:cNvPr id="4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44368" y="4626864"/>
            <a:ext cx="164592" cy="164592"/>
          </a:xfrm>
          <a:prstGeom prst="rect">
            <a:avLst/>
          </a:prstGeom>
        </p:spPr>
      </p:pic>
      <p:sp>
        <p:nvSpPr>
          <p:cNvPr id="49" name="Text 39"/>
          <p:cNvSpPr/>
          <p:nvPr/>
        </p:nvSpPr>
        <p:spPr>
          <a:xfrm>
            <a:off x="3182112" y="4590288"/>
            <a:ext cx="3374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C5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&amp; Analyse run as background workers, keeping the desk fast.</a:t>
            </a:r>
            <a:endParaRPr lang="en-US" sz="800" dirty="0"/>
          </a:p>
        </p:txBody>
      </p:sp>
      <p:sp>
        <p:nvSpPr>
          <p:cNvPr id="50" name="Shape 40"/>
          <p:cNvSpPr/>
          <p:nvPr/>
        </p:nvSpPr>
        <p:spPr>
          <a:xfrm>
            <a:off x="6949440" y="1371600"/>
            <a:ext cx="2743200" cy="35204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sx="100000" sy="100000" kx="0" ky="0" algn="bl" rotWithShape="0" blurRad="114300" dist="38100" dir="5400000">
              <a:srgbClr val="1B2A3A">
                <a:alpha val="14000"/>
              </a:srgbClr>
            </a:outerShdw>
          </a:effectLst>
        </p:spPr>
      </p:sp>
      <p:sp>
        <p:nvSpPr>
          <p:cNvPr id="51" name="Shape 41"/>
          <p:cNvSpPr/>
          <p:nvPr/>
        </p:nvSpPr>
        <p:spPr>
          <a:xfrm>
            <a:off x="7114032" y="1554480"/>
            <a:ext cx="457200" cy="457200"/>
          </a:xfrm>
          <a:prstGeom prst="ellipse">
            <a:avLst/>
          </a:prstGeom>
          <a:solidFill>
            <a:srgbClr val="3C5C7E"/>
          </a:solidFill>
          <a:ln/>
        </p:spPr>
      </p:sp>
      <p:pic>
        <p:nvPicPr>
          <p:cNvPr id="5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32904" y="1673352"/>
            <a:ext cx="219456" cy="219456"/>
          </a:xfrm>
          <a:prstGeom prst="rect">
            <a:avLst/>
          </a:prstGeom>
        </p:spPr>
      </p:pic>
      <p:sp>
        <p:nvSpPr>
          <p:cNvPr id="53" name="Text 42"/>
          <p:cNvSpPr/>
          <p:nvPr/>
        </p:nvSpPr>
        <p:spPr>
          <a:xfrm>
            <a:off x="7662672" y="161848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E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900" dirty="0"/>
          </a:p>
        </p:txBody>
      </p:sp>
      <p:sp>
        <p:nvSpPr>
          <p:cNvPr id="54" name="Text 43"/>
          <p:cNvSpPr/>
          <p:nvPr/>
        </p:nvSpPr>
        <p:spPr>
          <a:xfrm>
            <a:off x="7114032" y="2121408"/>
            <a:ext cx="2414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Filed &amp; indexed</a:t>
            </a:r>
            <a:endParaRPr lang="en-US" sz="1350" dirty="0"/>
          </a:p>
        </p:txBody>
      </p:sp>
      <p:sp>
        <p:nvSpPr>
          <p:cNvPr id="55" name="Shape 44"/>
          <p:cNvSpPr/>
          <p:nvPr/>
        </p:nvSpPr>
        <p:spPr>
          <a:xfrm>
            <a:off x="7114032" y="2651760"/>
            <a:ext cx="2414016" cy="1005840"/>
          </a:xfrm>
          <a:prstGeom prst="roundRect">
            <a:avLst>
              <a:gd name="adj" fmla="val 4545"/>
            </a:avLst>
          </a:prstGeom>
          <a:solidFill>
            <a:srgbClr val="F3F6F9"/>
          </a:solidFill>
          <a:ln w="12700">
            <a:solidFill>
              <a:srgbClr val="DCE3EB"/>
            </a:solidFill>
            <a:prstDash val="solid"/>
          </a:ln>
        </p:spPr>
      </p:sp>
      <p:sp>
        <p:nvSpPr>
          <p:cNvPr id="56" name="Text 45"/>
          <p:cNvSpPr/>
          <p:nvPr/>
        </p:nvSpPr>
        <p:spPr>
          <a:xfrm>
            <a:off x="7223760" y="272491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3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library</a:t>
            </a:r>
            <a:endParaRPr lang="en-US" sz="1050" dirty="0"/>
          </a:p>
        </p:txBody>
      </p:sp>
      <p:sp>
        <p:nvSpPr>
          <p:cNvPr id="57" name="Text 46"/>
          <p:cNvSpPr/>
          <p:nvPr/>
        </p:nvSpPr>
        <p:spPr>
          <a:xfrm>
            <a:off x="7223760" y="2944368"/>
            <a:ext cx="2212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folder per company (10 today). Each sorted into annual &amp; interim reports, trading statements, SENS, presentations, press releases and analyst notes.</a:t>
            </a:r>
            <a:endParaRPr lang="en-US" sz="830" dirty="0"/>
          </a:p>
        </p:txBody>
      </p:sp>
      <p:sp>
        <p:nvSpPr>
          <p:cNvPr id="58" name="Shape 47"/>
          <p:cNvSpPr/>
          <p:nvPr/>
        </p:nvSpPr>
        <p:spPr>
          <a:xfrm>
            <a:off x="7114032" y="3749040"/>
            <a:ext cx="2414016" cy="1005840"/>
          </a:xfrm>
          <a:prstGeom prst="roundRect">
            <a:avLst>
              <a:gd name="adj" fmla="val 4545"/>
            </a:avLst>
          </a:prstGeom>
          <a:solidFill>
            <a:srgbClr val="F3F6F9"/>
          </a:solidFill>
          <a:ln w="12700">
            <a:solidFill>
              <a:srgbClr val="DCE3EB"/>
            </a:solidFill>
            <a:prstDash val="solid"/>
          </a:ln>
        </p:spPr>
      </p:sp>
      <p:sp>
        <p:nvSpPr>
          <p:cNvPr id="59" name="Text 48"/>
          <p:cNvSpPr/>
          <p:nvPr/>
        </p:nvSpPr>
        <p:spPr>
          <a:xfrm>
            <a:off x="7223760" y="382219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3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index (manifest)</a:t>
            </a:r>
            <a:endParaRPr lang="en-US" sz="1050" dirty="0"/>
          </a:p>
        </p:txBody>
      </p:sp>
      <p:sp>
        <p:nvSpPr>
          <p:cNvPr id="60" name="Text 49"/>
          <p:cNvSpPr/>
          <p:nvPr/>
        </p:nvSpPr>
        <p:spPr>
          <a:xfrm>
            <a:off x="7223760" y="4041648"/>
            <a:ext cx="2212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catalogue of what we hold, what’s missing and what’s due to refresh — built automatically, never edited by hand.</a:t>
            </a:r>
            <a:endParaRPr lang="en-US" sz="830" dirty="0"/>
          </a:p>
        </p:txBody>
      </p:sp>
      <p:sp>
        <p:nvSpPr>
          <p:cNvPr id="61" name="Shape 50"/>
          <p:cNvSpPr/>
          <p:nvPr/>
        </p:nvSpPr>
        <p:spPr>
          <a:xfrm>
            <a:off x="9921240" y="1371600"/>
            <a:ext cx="1810512" cy="35204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sx="100000" sy="100000" kx="0" ky="0" algn="bl" rotWithShape="0" blurRad="114300" dist="38100" dir="5400000">
              <a:srgbClr val="1B2A3A">
                <a:alpha val="14000"/>
              </a:srgbClr>
            </a:outerShdw>
          </a:effectLst>
        </p:spPr>
      </p:sp>
      <p:sp>
        <p:nvSpPr>
          <p:cNvPr id="62" name="Shape 51"/>
          <p:cNvSpPr/>
          <p:nvPr/>
        </p:nvSpPr>
        <p:spPr>
          <a:xfrm>
            <a:off x="10085832" y="1554480"/>
            <a:ext cx="457200" cy="457200"/>
          </a:xfrm>
          <a:prstGeom prst="ellipse">
            <a:avLst/>
          </a:prstGeom>
          <a:solidFill>
            <a:srgbClr val="BF8F3A"/>
          </a:solidFill>
          <a:ln/>
        </p:spPr>
      </p:sp>
      <p:pic>
        <p:nvPicPr>
          <p:cNvPr id="6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04704" y="1673352"/>
            <a:ext cx="219456" cy="219456"/>
          </a:xfrm>
          <a:prstGeom prst="rect">
            <a:avLst/>
          </a:prstGeom>
        </p:spPr>
      </p:pic>
      <p:sp>
        <p:nvSpPr>
          <p:cNvPr id="64" name="Text 52"/>
          <p:cNvSpPr/>
          <p:nvPr/>
        </p:nvSpPr>
        <p:spPr>
          <a:xfrm>
            <a:off x="10634472" y="161848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E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900" dirty="0"/>
          </a:p>
        </p:txBody>
      </p:sp>
      <p:sp>
        <p:nvSpPr>
          <p:cNvPr id="65" name="Text 53"/>
          <p:cNvSpPr/>
          <p:nvPr/>
        </p:nvSpPr>
        <p:spPr>
          <a:xfrm>
            <a:off x="10085832" y="2121408"/>
            <a:ext cx="1536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get analysis</a:t>
            </a:r>
            <a:endParaRPr lang="en-US" sz="1250" dirty="0"/>
          </a:p>
        </p:txBody>
      </p:sp>
      <p:pic>
        <p:nvPicPr>
          <p:cNvPr id="6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104120" y="2743200"/>
            <a:ext cx="274320" cy="274320"/>
          </a:xfrm>
          <a:prstGeom prst="rect">
            <a:avLst/>
          </a:prstGeom>
        </p:spPr>
      </p:pic>
      <p:sp>
        <p:nvSpPr>
          <p:cNvPr id="67" name="Text 54"/>
          <p:cNvSpPr/>
          <p:nvPr/>
        </p:nvSpPr>
        <p:spPr>
          <a:xfrm>
            <a:off x="10469880" y="2715768"/>
            <a:ext cx="1170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3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memos</a:t>
            </a:r>
            <a:endParaRPr lang="en-US" sz="1050" dirty="0"/>
          </a:p>
        </p:txBody>
      </p:sp>
      <p:pic>
        <p:nvPicPr>
          <p:cNvPr id="6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104120" y="3218688"/>
            <a:ext cx="274320" cy="274320"/>
          </a:xfrm>
          <a:prstGeom prst="rect">
            <a:avLst/>
          </a:prstGeom>
        </p:spPr>
      </p:pic>
      <p:sp>
        <p:nvSpPr>
          <p:cNvPr id="69" name="Text 55"/>
          <p:cNvSpPr/>
          <p:nvPr/>
        </p:nvSpPr>
        <p:spPr>
          <a:xfrm>
            <a:off x="10469880" y="3191256"/>
            <a:ext cx="1170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3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models</a:t>
            </a:r>
            <a:endParaRPr lang="en-US" sz="1050" dirty="0"/>
          </a:p>
        </p:txBody>
      </p:sp>
      <p:pic>
        <p:nvPicPr>
          <p:cNvPr id="70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104120" y="3694176"/>
            <a:ext cx="274320" cy="274320"/>
          </a:xfrm>
          <a:prstGeom prst="rect">
            <a:avLst/>
          </a:prstGeom>
        </p:spPr>
      </p:pic>
      <p:sp>
        <p:nvSpPr>
          <p:cNvPr id="71" name="Text 56"/>
          <p:cNvSpPr/>
          <p:nvPr/>
        </p:nvSpPr>
        <p:spPr>
          <a:xfrm>
            <a:off x="10469880" y="3666744"/>
            <a:ext cx="1170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3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</a:t>
            </a:r>
            <a:endParaRPr lang="en-US" sz="1050" dirty="0"/>
          </a:p>
        </p:txBody>
      </p:sp>
      <p:sp>
        <p:nvSpPr>
          <p:cNvPr id="72" name="Text 57"/>
          <p:cNvSpPr/>
          <p:nvPr/>
        </p:nvSpPr>
        <p:spPr>
          <a:xfrm>
            <a:off x="10085832" y="4297680"/>
            <a:ext cx="1536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Sourced, comparable, decision-ready.</a:t>
            </a:r>
            <a:endParaRPr lang="en-US" sz="900" dirty="0"/>
          </a:p>
        </p:txBody>
      </p:sp>
      <p:sp>
        <p:nvSpPr>
          <p:cNvPr id="73" name="Shape 58"/>
          <p:cNvSpPr/>
          <p:nvPr/>
        </p:nvSpPr>
        <p:spPr>
          <a:xfrm>
            <a:off x="457200" y="5138928"/>
            <a:ext cx="7360920" cy="1060704"/>
          </a:xfrm>
          <a:prstGeom prst="roundRect">
            <a:avLst>
              <a:gd name="adj" fmla="val 6034"/>
            </a:avLst>
          </a:prstGeom>
          <a:solidFill>
            <a:srgbClr val="F3F6F9"/>
          </a:solidFill>
          <a:ln w="12700">
            <a:solidFill>
              <a:srgbClr val="DCE3EB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A">
                <a:alpha val="10000"/>
              </a:srgbClr>
            </a:outerShdw>
          </a:effectLst>
        </p:spPr>
      </p:sp>
      <p:sp>
        <p:nvSpPr>
          <p:cNvPr id="74" name="Shape 59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3C5C7E"/>
          </a:solidFill>
          <a:ln/>
        </p:spPr>
      </p:sp>
      <p:pic>
        <p:nvPicPr>
          <p:cNvPr id="7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76" name="Text 60"/>
          <p:cNvSpPr/>
          <p:nvPr/>
        </p:nvSpPr>
        <p:spPr>
          <a:xfrm>
            <a:off x="1261872" y="5285232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the documents come from</a:t>
            </a:r>
            <a:endParaRPr lang="en-US" sz="1200" dirty="0"/>
          </a:p>
        </p:txBody>
      </p:sp>
      <p:sp>
        <p:nvSpPr>
          <p:cNvPr id="77" name="Text 61"/>
          <p:cNvSpPr/>
          <p:nvPr/>
        </p:nvSpPr>
        <p:spPr>
          <a:xfrm>
            <a:off x="1261872" y="5596128"/>
            <a:ext cx="6355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investor websites and SENS announcements — fetched automatically. Optionally the fund’s email, SharePoint and Bloomberg, when connected.</a:t>
            </a:r>
            <a:endParaRPr lang="en-US" sz="980" dirty="0"/>
          </a:p>
        </p:txBody>
      </p:sp>
      <p:sp>
        <p:nvSpPr>
          <p:cNvPr id="78" name="Shape 62"/>
          <p:cNvSpPr/>
          <p:nvPr/>
        </p:nvSpPr>
        <p:spPr>
          <a:xfrm>
            <a:off x="8028432" y="5138928"/>
            <a:ext cx="3703320" cy="1060704"/>
          </a:xfrm>
          <a:prstGeom prst="roundRect">
            <a:avLst>
              <a:gd name="adj" fmla="val 6034"/>
            </a:avLst>
          </a:prstGeom>
          <a:solidFill>
            <a:srgbClr val="F6ECD3"/>
          </a:solidFill>
          <a:ln w="15875">
            <a:solidFill>
              <a:srgbClr val="BF8F3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A">
                <a:alpha val="10000"/>
              </a:srgbClr>
            </a:outerShdw>
          </a:effectLst>
        </p:spPr>
      </p:sp>
      <p:sp>
        <p:nvSpPr>
          <p:cNvPr id="79" name="Shape 63"/>
          <p:cNvSpPr/>
          <p:nvPr/>
        </p:nvSpPr>
        <p:spPr>
          <a:xfrm>
            <a:off x="8229600" y="5440680"/>
            <a:ext cx="457200" cy="457200"/>
          </a:xfrm>
          <a:prstGeom prst="ellipse">
            <a:avLst/>
          </a:prstGeom>
          <a:solidFill>
            <a:srgbClr val="BF8F3A"/>
          </a:solidFill>
          <a:ln/>
        </p:spPr>
      </p:sp>
      <p:pic>
        <p:nvPicPr>
          <p:cNvPr id="80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48472" y="5559552"/>
            <a:ext cx="219456" cy="219456"/>
          </a:xfrm>
          <a:prstGeom prst="rect">
            <a:avLst/>
          </a:prstGeom>
        </p:spPr>
      </p:pic>
      <p:sp>
        <p:nvSpPr>
          <p:cNvPr id="81" name="Text 64"/>
          <p:cNvSpPr/>
          <p:nvPr/>
        </p:nvSpPr>
        <p:spPr>
          <a:xfrm>
            <a:off x="8833104" y="52852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House rule</a:t>
            </a:r>
            <a:endParaRPr lang="en-US" sz="1200" dirty="0"/>
          </a:p>
        </p:txBody>
      </p:sp>
      <p:sp>
        <p:nvSpPr>
          <p:cNvPr id="82" name="Text 65"/>
          <p:cNvSpPr/>
          <p:nvPr/>
        </p:nvSpPr>
        <p:spPr>
          <a:xfrm>
            <a:off x="8833104" y="559612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B5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is traced to its source. Nothing is rounded or guessed.</a:t>
            </a:r>
            <a:endParaRPr lang="en-US" sz="980" dirty="0"/>
          </a:p>
        </p:txBody>
      </p:sp>
      <p:sp>
        <p:nvSpPr>
          <p:cNvPr id="83" name="Text 66"/>
          <p:cNvSpPr/>
          <p:nvPr/>
        </p:nvSpPr>
        <p:spPr>
          <a:xfrm>
            <a:off x="457200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JSE Equity Research · Cowork workspace</a:t>
            </a:r>
            <a:endParaRPr lang="en-US" sz="800" dirty="0"/>
          </a:p>
        </p:txBody>
      </p:sp>
      <p:sp>
        <p:nvSpPr>
          <p:cNvPr id="84" name="Text 67"/>
          <p:cNvSpPr/>
          <p:nvPr/>
        </p:nvSpPr>
        <p:spPr>
          <a:xfrm>
            <a:off x="5486400" y="6437376"/>
            <a:ext cx="6245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information only — not investment advice.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Inside the workspace — what’s where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86384"/>
            <a:ext cx="11274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map of the folders and files that make the research desk run.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3520440" cy="1883664"/>
          </a:xfrm>
          <a:prstGeom prst="roundRect">
            <a:avLst>
              <a:gd name="adj" fmla="val 4369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sx="100000" sy="100000" kx="0" ky="0" algn="bl" rotWithShape="0" blurRad="114300" dist="38100" dir="5400000">
              <a:srgbClr val="1B2A3A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499616"/>
            <a:ext cx="475488" cy="475488"/>
          </a:xfrm>
          <a:prstGeom prst="ellipse">
            <a:avLst/>
          </a:prstGeom>
          <a:solidFill>
            <a:srgbClr val="13243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995" y="1623243"/>
            <a:ext cx="228234" cy="22823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43584" y="149961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rulebook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243584" y="1801368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676656" y="2176272"/>
            <a:ext cx="30998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the standard for every task — numbers are sacred, source everything, always compare to the prior period. Loaded automatically each session.</a:t>
            </a:r>
            <a:endParaRPr lang="en-US" sz="980" dirty="0"/>
          </a:p>
        </p:txBody>
      </p:sp>
      <p:sp>
        <p:nvSpPr>
          <p:cNvPr id="10" name="Shape 7"/>
          <p:cNvSpPr/>
          <p:nvPr/>
        </p:nvSpPr>
        <p:spPr>
          <a:xfrm>
            <a:off x="4334256" y="1298448"/>
            <a:ext cx="3520440" cy="1883664"/>
          </a:xfrm>
          <a:prstGeom prst="roundRect">
            <a:avLst>
              <a:gd name="adj" fmla="val 4369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sx="100000" sy="100000" kx="0" ky="0" algn="bl" rotWithShape="0" blurRad="114300" dist="38100" dir="5400000">
              <a:srgbClr val="1B2A3A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35424" y="1499616"/>
            <a:ext cx="475488" cy="475488"/>
          </a:xfrm>
          <a:prstGeom prst="ellipse">
            <a:avLst/>
          </a:prstGeom>
          <a:solidFill>
            <a:srgbClr val="0E9B8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9051" y="1623243"/>
            <a:ext cx="228234" cy="22823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20640" y="149961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skills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5120640" y="1801368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.claude/skills/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4553712" y="2176272"/>
            <a:ext cx="30998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 assistants that trigger by context: discover, download, catalogue, remember, analyse — plus an auto-built shortcut for each company and sector lenses.</a:t>
            </a:r>
            <a:endParaRPr lang="en-US" sz="980" dirty="0"/>
          </a:p>
        </p:txBody>
      </p:sp>
      <p:sp>
        <p:nvSpPr>
          <p:cNvPr id="16" name="Shape 12"/>
          <p:cNvSpPr/>
          <p:nvPr/>
        </p:nvSpPr>
        <p:spPr>
          <a:xfrm>
            <a:off x="8211312" y="1298448"/>
            <a:ext cx="3520440" cy="1883664"/>
          </a:xfrm>
          <a:prstGeom prst="roundRect">
            <a:avLst>
              <a:gd name="adj" fmla="val 4369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sx="100000" sy="100000" kx="0" ky="0" algn="bl" rotWithShape="0" blurRad="114300" dist="38100" dir="5400000">
              <a:srgbClr val="1B2A3A">
                <a:alpha val="14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412480" y="1499616"/>
            <a:ext cx="475488" cy="475488"/>
          </a:xfrm>
          <a:prstGeom prst="ellipse">
            <a:avLst/>
          </a:prstGeom>
          <a:solidFill>
            <a:srgbClr val="3C5C7E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6107" y="1623243"/>
            <a:ext cx="228234" cy="22823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997696" y="149961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back-office workers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8997696" y="1801368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.claude/agents/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8430768" y="2176272"/>
            <a:ext cx="30998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heaviest jobs — downloading and analysing — run here in isolation, so the main desk stays fast and clutter-free.</a:t>
            </a:r>
            <a:endParaRPr lang="en-US" sz="980" dirty="0"/>
          </a:p>
        </p:txBody>
      </p:sp>
      <p:sp>
        <p:nvSpPr>
          <p:cNvPr id="22" name="Shape 17"/>
          <p:cNvSpPr/>
          <p:nvPr/>
        </p:nvSpPr>
        <p:spPr>
          <a:xfrm>
            <a:off x="457200" y="3364992"/>
            <a:ext cx="3520440" cy="1883664"/>
          </a:xfrm>
          <a:prstGeom prst="roundRect">
            <a:avLst>
              <a:gd name="adj" fmla="val 4369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sx="100000" sy="100000" kx="0" ky="0" algn="bl" rotWithShape="0" blurRad="114300" dist="38100" dir="5400000">
              <a:srgbClr val="1B2A3A">
                <a:alpha val="14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58368" y="3566160"/>
            <a:ext cx="475488" cy="475488"/>
          </a:xfrm>
          <a:prstGeom prst="ellipse">
            <a:avLst/>
          </a:prstGeom>
          <a:solidFill>
            <a:srgbClr val="13243B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995" y="3689787"/>
            <a:ext cx="228234" cy="22823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243584" y="35661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companies library</a:t>
            </a:r>
            <a:endParaRPr lang="en-US" sz="1350" dirty="0"/>
          </a:p>
        </p:txBody>
      </p:sp>
      <p:sp>
        <p:nvSpPr>
          <p:cNvPr id="26" name="Text 20"/>
          <p:cNvSpPr/>
          <p:nvPr/>
        </p:nvSpPr>
        <p:spPr>
          <a:xfrm>
            <a:off x="1243584" y="3867912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companies/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676656" y="4242816"/>
            <a:ext cx="30998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folder per company (10 today). Each holds annual &amp; interim reports, trading statements, SENS, presentations, press releases and analyst notes — plus a company.json fact sheet.</a:t>
            </a:r>
            <a:endParaRPr lang="en-US" sz="980" dirty="0"/>
          </a:p>
        </p:txBody>
      </p:sp>
      <p:sp>
        <p:nvSpPr>
          <p:cNvPr id="28" name="Shape 22"/>
          <p:cNvSpPr/>
          <p:nvPr/>
        </p:nvSpPr>
        <p:spPr>
          <a:xfrm>
            <a:off x="4334256" y="3364992"/>
            <a:ext cx="3520440" cy="1883664"/>
          </a:xfrm>
          <a:prstGeom prst="roundRect">
            <a:avLst>
              <a:gd name="adj" fmla="val 4369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sx="100000" sy="100000" kx="0" ky="0" algn="bl" rotWithShape="0" blurRad="114300" dist="38100" dir="5400000">
              <a:srgbClr val="1B2A3A">
                <a:alpha val="14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535424" y="3566160"/>
            <a:ext cx="475488" cy="475488"/>
          </a:xfrm>
          <a:prstGeom prst="ellipse">
            <a:avLst/>
          </a:prstGeom>
          <a:solidFill>
            <a:srgbClr val="0E9B8E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9051" y="3689787"/>
            <a:ext cx="228234" cy="228234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120640" y="35661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master index</a:t>
            </a:r>
            <a:endParaRPr lang="en-US" sz="1350" dirty="0"/>
          </a:p>
        </p:txBody>
      </p:sp>
      <p:sp>
        <p:nvSpPr>
          <p:cNvPr id="32" name="Text 25"/>
          <p:cNvSpPr/>
          <p:nvPr/>
        </p:nvSpPr>
        <p:spPr>
          <a:xfrm>
            <a:off x="5120640" y="3867912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manifest.json · tools/</a:t>
            </a:r>
            <a:endParaRPr lang="en-US" sz="950" dirty="0"/>
          </a:p>
        </p:txBody>
      </p:sp>
      <p:sp>
        <p:nvSpPr>
          <p:cNvPr id="33" name="Text 26"/>
          <p:cNvSpPr/>
          <p:nvPr/>
        </p:nvSpPr>
        <p:spPr>
          <a:xfrm>
            <a:off x="4553712" y="4242816"/>
            <a:ext cx="30998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catalogue of everything held, missing or due to refresh — generated automatically from each company’s records, never edited by hand.</a:t>
            </a:r>
            <a:endParaRPr lang="en-US" sz="980" dirty="0"/>
          </a:p>
        </p:txBody>
      </p:sp>
      <p:sp>
        <p:nvSpPr>
          <p:cNvPr id="34" name="Shape 27"/>
          <p:cNvSpPr/>
          <p:nvPr/>
        </p:nvSpPr>
        <p:spPr>
          <a:xfrm>
            <a:off x="8211312" y="3364992"/>
            <a:ext cx="3520440" cy="1883664"/>
          </a:xfrm>
          <a:prstGeom prst="roundRect">
            <a:avLst>
              <a:gd name="adj" fmla="val 4369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sx="100000" sy="100000" kx="0" ky="0" algn="bl" rotWithShape="0" blurRad="114300" dist="38100" dir="5400000">
              <a:srgbClr val="1B2A3A">
                <a:alpha val="14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8412480" y="3566160"/>
            <a:ext cx="475488" cy="475488"/>
          </a:xfrm>
          <a:prstGeom prst="ellipse">
            <a:avLst/>
          </a:prstGeom>
          <a:solidFill>
            <a:srgbClr val="BF8F3A"/>
          </a:solidFill>
          <a:ln/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6107" y="3689787"/>
            <a:ext cx="228234" cy="228234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8997696" y="35661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outputs</a:t>
            </a:r>
            <a:endParaRPr lang="en-US" sz="1350" dirty="0"/>
          </a:p>
        </p:txBody>
      </p:sp>
      <p:sp>
        <p:nvSpPr>
          <p:cNvPr id="38" name="Text 30"/>
          <p:cNvSpPr/>
          <p:nvPr/>
        </p:nvSpPr>
        <p:spPr>
          <a:xfrm>
            <a:off x="8997696" y="3867912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· Excel · PowerPoint</a:t>
            </a:r>
            <a:endParaRPr lang="en-US" sz="950" dirty="0"/>
          </a:p>
        </p:txBody>
      </p:sp>
      <p:sp>
        <p:nvSpPr>
          <p:cNvPr id="39" name="Text 31"/>
          <p:cNvSpPr/>
          <p:nvPr/>
        </p:nvSpPr>
        <p:spPr>
          <a:xfrm>
            <a:off x="8430768" y="4242816"/>
            <a:ext cx="30998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Finished analysis lands in the workspace root — sourced, comparable and ready for investment decisions.</a:t>
            </a:r>
            <a:endParaRPr lang="en-US" sz="980" dirty="0"/>
          </a:p>
        </p:txBody>
      </p:sp>
      <p:sp>
        <p:nvSpPr>
          <p:cNvPr id="40" name="Shape 32"/>
          <p:cNvSpPr/>
          <p:nvPr/>
        </p:nvSpPr>
        <p:spPr>
          <a:xfrm>
            <a:off x="457200" y="5358384"/>
            <a:ext cx="11274552" cy="749808"/>
          </a:xfrm>
          <a:prstGeom prst="roundRect">
            <a:avLst>
              <a:gd name="adj" fmla="val 8537"/>
            </a:avLst>
          </a:prstGeom>
          <a:solidFill>
            <a:srgbClr val="13243B"/>
          </a:solidFill>
          <a:ln/>
          <a:effectLst>
            <a:outerShdw sx="100000" sy="100000" kx="0" ky="0" algn="bl" rotWithShape="0" blurRad="76200" dist="25400" dir="5400000">
              <a:srgbClr val="1B2A3A">
                <a:alpha val="10000"/>
              </a:srgbClr>
            </a:outerShdw>
          </a:effectLst>
        </p:spPr>
      </p:sp>
      <p:sp>
        <p:nvSpPr>
          <p:cNvPr id="41" name="Shape 33"/>
          <p:cNvSpPr/>
          <p:nvPr/>
        </p:nvSpPr>
        <p:spPr>
          <a:xfrm>
            <a:off x="676656" y="5541264"/>
            <a:ext cx="384048" cy="384048"/>
          </a:xfrm>
          <a:prstGeom prst="ellipse">
            <a:avLst/>
          </a:prstGeom>
          <a:solidFill>
            <a:srgbClr val="0E9B8E"/>
          </a:solidFill>
          <a:ln/>
        </p:spPr>
      </p:sp>
      <p:pic>
        <p:nvPicPr>
          <p:cNvPr id="4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6508" y="5641116"/>
            <a:ext cx="184343" cy="184343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1207008" y="5358384"/>
            <a:ext cx="10424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Watchlist — 8 companies monitored for new results:  </a:t>
            </a:r>
            <a:pPr indent="0" marL="0">
              <a:buNone/>
            </a:pPr>
            <a:r>
              <a:rPr lang="en-US" sz="1100" dirty="0">
                <a:solidFill>
                  <a:srgbClr val="C5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Shoprite · Naspers · Woolworths · Clicks · Dis-Chem · Reinet · Richemont · Spar</a:t>
            </a:r>
            <a:endParaRPr lang="en-US" sz="1100" dirty="0"/>
          </a:p>
        </p:txBody>
      </p:sp>
      <p:sp>
        <p:nvSpPr>
          <p:cNvPr id="44" name="Text 35"/>
          <p:cNvSpPr/>
          <p:nvPr/>
        </p:nvSpPr>
        <p:spPr>
          <a:xfrm>
            <a:off x="457200" y="64373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JSE Equity Research · Cowork workspace</a:t>
            </a:r>
            <a:endParaRPr lang="en-US" sz="800" dirty="0"/>
          </a:p>
        </p:txBody>
      </p:sp>
      <p:sp>
        <p:nvSpPr>
          <p:cNvPr id="45" name="Text 36"/>
          <p:cNvSpPr/>
          <p:nvPr/>
        </p:nvSpPr>
        <p:spPr>
          <a:xfrm>
            <a:off x="5486400" y="6437376"/>
            <a:ext cx="6245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information only — not investment advice.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JSE Financial Reports — Workspace Explainer</dc:title>
  <dc:subject>PptxGenJS Presentation</dc:subject>
  <dc:creator>JSE Equity Research</dc:creator>
  <cp:lastModifiedBy>JSE Equity Research</cp:lastModifiedBy>
  <cp:revision>1</cp:revision>
  <dcterms:created xsi:type="dcterms:W3CDTF">2026-06-17T11:34:21Z</dcterms:created>
  <dcterms:modified xsi:type="dcterms:W3CDTF">2026-06-17T11:34:21Z</dcterms:modified>
</cp:coreProperties>
</file>