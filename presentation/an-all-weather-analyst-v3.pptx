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45"/>
  </p:notesMasterIdLst>
  <p:sldIdLst>
    <p:sldId id="256" r:id="rId3"/>
    <p:sldId id="278" r:id="rId4"/>
    <p:sldId id="257" r:id="rId5"/>
    <p:sldId id="291" r:id="rId6"/>
    <p:sldId id="280" r:id="rId7"/>
    <p:sldId id="279" r:id="rId8"/>
    <p:sldId id="283" r:id="rId9"/>
    <p:sldId id="262" r:id="rId10"/>
    <p:sldId id="296" r:id="rId11"/>
    <p:sldId id="295" r:id="rId12"/>
    <p:sldId id="263" r:id="rId13"/>
    <p:sldId id="281" r:id="rId14"/>
    <p:sldId id="265" r:id="rId15"/>
    <p:sldId id="282" r:id="rId16"/>
    <p:sldId id="260" r:id="rId17"/>
    <p:sldId id="266" r:id="rId18"/>
    <p:sldId id="285" r:id="rId19"/>
    <p:sldId id="298" r:id="rId20"/>
    <p:sldId id="286" r:id="rId21"/>
    <p:sldId id="269" r:id="rId22"/>
    <p:sldId id="261" r:id="rId23"/>
    <p:sldId id="267" r:id="rId24"/>
    <p:sldId id="268" r:id="rId25"/>
    <p:sldId id="284" r:id="rId26"/>
    <p:sldId id="287" r:id="rId27"/>
    <p:sldId id="270" r:id="rId28"/>
    <p:sldId id="272" r:id="rId29"/>
    <p:sldId id="288" r:id="rId30"/>
    <p:sldId id="292" r:id="rId31"/>
    <p:sldId id="273" r:id="rId32"/>
    <p:sldId id="299" r:id="rId33"/>
    <p:sldId id="300" r:id="rId34"/>
    <p:sldId id="289" r:id="rId35"/>
    <p:sldId id="290" r:id="rId36"/>
    <p:sldId id="264" r:id="rId37"/>
    <p:sldId id="271" r:id="rId38"/>
    <p:sldId id="274" r:id="rId39"/>
    <p:sldId id="275" r:id="rId40"/>
    <p:sldId id="276" r:id="rId41"/>
    <p:sldId id="277" r:id="rId42"/>
    <p:sldId id="258" r:id="rId43"/>
    <p:sldId id="259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299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warm, ~30s. "Thank you for your time — and your trust." Then the promise in one breath: by the end you'll have watched Claude research two JSE names end-to-end, seen where it can trip up, and watched a brand-new skill built live — from a sentence to a spreadsheet. Don't sell yet. [0:00–0:30]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Who I am: senior developer at Trayport, lead on the Automated Trading platform. The 85% = scale and credibility — CONFIRM against Trayport's current public wording before the day. Land the humility line: I build the tech, my finance is self-taught, please correct me. It disarms the experts and buys goodwill. Add your UK retail-energy detail here if you have it. [0:30–1:30]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CRITICAL STAGING: start Demo A now. Switch to Cowork, paste the Clicks-vs-Dis-Chem prompt (see prompts pack), hit enter, LEAVE IT RUNNING. One line: "I've just asked it to compare two retailers — we'll come back to it." Then walk the agenda fast. It runs ~20 min in the background; you harvest at slide 19. [1:30–3:00]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Your opening FRAME — state the three plainly, slowly. This is the promise you bookend at the close. Objective 2 carries the big idea: codify your expertise ONCE, reuse it across every future problem — expertise that compounds. End with 'hold me to these three.' ~45s. [~2:00]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model has read across human writing — calculus to cookbooks, annual reports to Sufi poetry. The point isn't trivia: the hard part is no longer operating the tool, it's knowing what to ask. That makes things EASIER, not harder. This reframes AI from threat to leverage. ~45s, then move. [5:30–6:15]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big idea, plain English. System 1 = fast, intuitive, one-shot (the early chatbots). Agents = it learns to plan, use tools, check itself (slow thinking — nod to Kahneman if the room likes it). Skills = it picks up your know-how only when needed. Today = combine all three = a colleague. Keep it to ~90s, no jargon. [3:00–5:30]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Glance at Demo A: 'it's read the interims, now comparing.' Explain the loop: Plan → Act (load the right skill only when needed) → Check &amp; repeat. The punchline sets up limitations: attention is finite, load everything at once and quality drops. ~90s. [15:30–17:00]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Now: what I actually built. The before/after: hours of finding, downloading, re-keying per name — vs 'tell me about Capitec'. 10 JSE names tracked today, onboarded by asking, not building. ~60s. [12:00–13:00]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architecture in one line each: discovery → downloader → manifest → skill-builder → analyst. Everything in one shared folder. The self-healing line is a good hook: if a website changes and a download breaks, it re-discovers and repairs its own skill. ~75s. [13:00–14:15]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Answers the question everyone's thinking: does this replace us? No. It carries the routine 80% — finding, re-keying, first-draft. You keep judgement, conviction, relationships, accountability, the call. Why now: the tools just crossed from chat to colleague. Deliver the right-hand list with conviction. ~90s. [9:00–10:30]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LEADERSHIP SLIDE. Numbers are sacred; source everything; flag uncertainty; always prior-period context. These rules live in the workspace config — enforced every time, not left to memory. Slow down here. ~75s. [14:15–15:30]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even-handed — leadership is leaning Copilot. They ARE analogous: Copilot Cowork (Frontier, Mar 2026) is the same idea, also uses 'skills', and runs Claude among its models. Claude's edge: transparent, portable, plain-text skills, no lock-in. Copilot's edge: native to M365. The way of working ports either way — so this is low-risk whichever they pick. Full table is backup slide 28. ~90s. [10:30–12:00]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a REAL SKILL.md on screen — it's just a document. Read 3-4 lines aloud so they hear how plain it is. This is the 'demystify' payoff before they watch one get built. ~60s. [18:00–19:00]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skill has three parts, all plain English: description (when to act), instructions (what to do), rules (what never to do). 'If you can brief a junior analyst, you can write one.' ~60s. [17:00–18:00]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honesty slice — protects your credibility. Four failure modes: the dumb zone (finite attention), hallucination (confident errors), misalignment (goal drift), non-determinism (not a calculator). Say plainly: these are real. Then promise the fixes on the next slide. ~120s. [19:00–21:00]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mitigations, one per limit: cite everything; keep scope tight; send exact maths to code (deterministic); brief it explicitly; human sign-off. Bottom line is the keeper: deterministic where it must reconcile, non-deterministic where judgement helps. ~90s. [21:00–22:30]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HARVEST DEMO A: switch back to Cowork, show the finished Clicks-vs-Dis-Chem note. Walk 2-3 cited figures; point out it raised the 6-vs-12-month caveat ITSELF. If it didn't finish, use the fallback in presentation/fallback/. This is the 'it actually works' moment — let it land. Invite a question or two. ~3 min. [22:30–25:30 — flex]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Sets up MCP and the data story later. It plugs into SharePoint/Outlook/Teams/Bloomberg — connected once by an admin. For AllWeather, SharePoint becomes the system of record. Brief — full data story comes after the demo. ~45s. [8:15–9:00]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B starts. Build a skill from scratch — write the prompt WITH the room (ask: what does a mining analyst look at first?). Paste the mining prompt from the pack. Narrate: we're just writing down how an analyst reads a result. Fallback skill is pre-built in case generation misfires. ~3 min. [25:30–28:30] REFRAIN: stress we're codifying expertise that will be reused — not a one-off.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beats: it writes the SKILL.md (read a line back) → point it at a miner ('apply to the latest results') → then ask for Excel. Keep momentum; don't read every output line. ~2 min. [28:30–30:30] REFRAIN: land the bottom line hard — written once, it reads every miner forever. That IS objective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Excel ask: same skill, new output — a formatted workbook, one row per company, ratios tab. THIS SLIDE IS AN ILLUSTRATIVE TEMPLATE (placeholders) — say so. If the live build lands, show the real .xlsx; otherwise this shows the structure. Name-drop real miners (Anglo, BHP, Sasol). ~90s. [30:30–32:00]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the data comes from: public web/IR/SENS → the download skill (+ Chrome for sites that block fetches) → your workspace; internal models via the SharePoint connector. The trust line: every fetch/write/connector is behind a permission prompt. ~90s. [32:00–33:30]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milestones: M1 workspace live (2 pilots) → M2 connect the estate → M3 automate the rhythm (morning updates, IC packs, analyst-authored skills) → M4 firm-wide. Each ships a one-page guide. Compress — point, don't read. ~90s. [33:30–35:00]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AllWeather-specific architecture: research root in a SharePoint library, OneDrive-synced locally so Cowork works on fast local files while the team sees the same docs (versioning/retention free). Honesty: one writer to start to avoid sync conflicts. ~75s. [35:00–36:15]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take-aways: an Everyday guide (PMs/analysts), a Builder's guide (hands-on), the live workspace itself. The message: this is a collaboration, a starting point, and the guides grow with us. ~60s. [36:15–37:15]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BOOKEND / payoff — mirror the opening slide. Walk the same three, fast, showing each was delivered; the mining line lands the codify-once-reuse refrain. ~45s, then straight into the ask. [~37:00]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three asks: nominate 2 pilot analysts; approve the SharePoint library + connector consent; 30 min in week 2 to review output. Then open Q&amp;A. Backups ready: Copilot deep-dive (28), determinism (29), security (32), cost (33), compliance (34), setup (31/35). [37:15–45:00]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BACKUP. Use if pressed on Copilot. Where Claude leads: portable plain-text skills, no M365 dependency, easiest to inspect/trust. Where Copilot leads: native M365, familiar governance, no new vendor. The '3 models' point: Copilot may already be running Claude — choose on fit, not the badge.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BACKUP. If asked 'can I trust the numbers?': the model is non-deterministic (great for drafting, risky for exact maths), so exact sums run in code — one answer, always. The workspace already does this (manifest tooling in Python). Model for judgement, code for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The end-to-end flow for a single name ('tell me about Capitec' → find → download → catalogue → analyse cited → save) plus the 10 tracked names. Use if someone wants the single-company walk-through.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What setup actually takes (~half a day): licences, workspace config, permissions+Chrome, SharePoint+consent, smoke tests. Full written guide accompanies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Folder-scoped access; explicit permission prompts; admin controls; data handling (CONFIRM current Anthropic commercial terms at docs.claude.com before the session). The data-handling line is the one leadership will push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Team/Enterprise per seat; two seats for the pilot; setup ~half a day of IT; skills cost nothing to replicate. Quote current per-seat pricing at decision time (anthropic.com/pricing).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Informational only (never advice); citations enable spot-checks; human review before anything leaves; closed periods flagged; suspect PDF extractions flagged not presented.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The condensed end-to-end checklist if IT asks 'what do we actually do?'. Mirrors the written setup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Quick grounding. Chat answers; an agent does. It reads (hundreds of pages), writes (your format), browses (IR sites), runs code (checked, not guessed). Don't dwell — the evolution slide did the conceptual lifting. ~60s. [6:15–7:15]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Cowork = Claude with hands: a folder it can read/write, a real visible browser, connectors to your systems. The reassurance line matters to leadership: every action sits behind a permission prompt, nothing happens silently. ~60s. [7:15–8:15]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265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24067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image" Target="../media/image6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4.png"/><Relationship Id="rId5" Type="http://schemas.openxmlformats.org/officeDocument/2006/relationships/image" Target="../media/image9.png"/><Relationship Id="rId15" Type="http://schemas.openxmlformats.org/officeDocument/2006/relationships/image" Target="../media/image17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4023360" cy="4023360"/>
          </a:xfrm>
          <a:prstGeom prst="ellipse">
            <a:avLst/>
          </a:prstGeom>
          <a:solidFill>
            <a:srgbClr val="2B3674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955280" y="3566160"/>
            <a:ext cx="2651760" cy="2651760"/>
          </a:xfrm>
          <a:prstGeom prst="ellipse">
            <a:avLst/>
          </a:prstGeom>
          <a:solidFill>
            <a:srgbClr val="2B3674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ALLWEATHER CAPITAL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x Agents: Expertise at Scale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Large Language Models into the investment process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852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the JSE research workspace, live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Watkins  ·  June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I'm coming from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2204552"/>
          </a:xfrm>
          <a:prstGeom prst="roundRect">
            <a:avLst>
              <a:gd name="adj" fmla="val 3077"/>
            </a:avLst>
          </a:prstGeom>
          <a:solidFill>
            <a:srgbClr val="2B367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JOB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799"/>
            <a:ext cx="3474720" cy="1531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developer at Trayport, London.</a:t>
            </a:r>
          </a:p>
          <a:p>
            <a:endParaRPr lang="en-US" sz="12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GB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Trayport is the primary network and data platform for European wholesale energy markets.</a:t>
            </a:r>
          </a:p>
          <a:p>
            <a:endParaRPr lang="en-US" sz="12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lead engineer on our Automated Trading platform: the algorithmic layer that executes directly into European energy markets.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ANGLE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the technology, not the trading strategy — my own finance is self-taught. Where I get it wrong, I ask your patience and your corrections.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474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2011680" y="3730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European utilities' derivatives trading flows across our platform — a business that has embraced AI at every level. Let me show you what that looks like.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45 minutes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00–03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08760" y="12070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 — and a live demo, started immediately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03–13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7190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here, and what Claude really 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23113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13–22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223113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 I built — working as we watch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22–30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limits, staying honest — and the result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32552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325526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skill live: mining to Excel (no code)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37673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38–45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37673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897880" y="1207008"/>
            <a:ext cx="2743200" cy="2926080"/>
          </a:xfrm>
          <a:prstGeom prst="roundRect">
            <a:avLst>
              <a:gd name="adj" fmla="val 2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12648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178308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you'll have watched Claude research two JSE companies end-to-end, seen exactly where it can trip up — and watched a brand-new skill built live, from a sentence to a spreadsheet.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involved.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THREE OBJECTIVES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I hope you'll leave believing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next forty-five minutes, I want you to agree that: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6642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now delivers practical, measurable value on an investment desk — not a gimmick, and not just for enthusiasts.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25328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for you — and it compounds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17320" y="28163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be a technologist. Skills let you codify your own expertise once, in plain English — then reuse it across every future problem of that shape.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772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34015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amplifies, it doesn't replace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17320" y="36850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won't replace analysts — it shortens the path from information to decision, making good analysts faster and sharper. An intelligence amplifier. </a:t>
            </a:r>
            <a:r>
              <a:rPr lang="en-GB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analysts to cover more ground more quickly.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me to these three — I'll come back to them at the end.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Trained on (almost) everything we've written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has read across the breadth of human writing: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1737360"/>
          </a:xfrm>
          <a:prstGeom prst="roundRect">
            <a:avLst>
              <a:gd name="adj" fmla="val 3158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Calculus textbooks and cookbooks. Annual reports and Sufi poetry. Case law, clinical trials, code, and centuries of argument — compressed into one system you brief in plain English.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real shift: the hard part is no longer operating the tool. It's knowing what to ask — which makes things easier, not harder.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got here, in three big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in, answer out. Brilliant, instant, intuitive — but one shot, no plan, no memory. The fast, reflexive kind of thinking.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9192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862072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62072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62072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62072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to pause and plan: break a job into steps, use tools, check its own work, keep going. Slow, deliberate thinking arrives.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9744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992624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92624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92624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92624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know-how it picks up only when a task needs it — your house style, your rules, on tap.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0296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123176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23176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23176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colleague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them and you get something that doesn't just answer — it does the work, your way. That's what we'll watch.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made the tool do more of the work — and made it easier to use, not harder.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IT RUNS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"agentic" means — happening right now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me, Claude is working a loop — the same one any analyst uses: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6642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request, check what's already on disk, decide the next step. No grand script — it reasons as it goes.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25328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— and load a skill only when it's needed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17320" y="28163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in one skill at a time, use a tool, fetch a file. Skills it isn't using stay out of the way.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772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34015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Check, then repeat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17320" y="36850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result to the goal, correct, continue — until the task is genuinely done, not just attempted.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"only when needed" matters: attention is finite. Load everything at once and quality drops — more on that next.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JSE coverage, before and after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2B367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IR page → download the PDF → re-key the numbers → only then, analysis. Hours per name, every results season.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about Capitec." Discovery, downloads, cataloguing and a cited first-pass analysis happen on their own.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2011680" y="36393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 companies tracked in the pilot workspace today — onboarded by asking, not by building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342900" y="219456"/>
            <a:ext cx="845591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3243B"/>
              </a:buClr>
              <a:buSzPts val="2800"/>
            </a:pPr>
            <a:r>
              <a:rPr lang="en-US" sz="2100" b="1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Inside the workspace — what’s where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42900" y="589788"/>
            <a:ext cx="8455914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E7183"/>
              </a:buClr>
              <a:buSzPts val="1300"/>
            </a:pPr>
            <a:r>
              <a:rPr lang="en-US" sz="975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A map of the folders and files that make the research desk run.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42900" y="973836"/>
            <a:ext cx="2640330" cy="1412748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 cap="flat" cmpd="sng">
            <a:solidFill>
              <a:srgbClr val="DCE3E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B2A3A">
                <a:alpha val="14117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/>
          </a:p>
        </p:txBody>
      </p:sp>
      <p:sp>
        <p:nvSpPr>
          <p:cNvPr id="107" name="Google Shape;107;p4"/>
          <p:cNvSpPr/>
          <p:nvPr/>
        </p:nvSpPr>
        <p:spPr>
          <a:xfrm>
            <a:off x="493776" y="1124712"/>
            <a:ext cx="356616" cy="356616"/>
          </a:xfrm>
          <a:prstGeom prst="ellipse">
            <a:avLst/>
          </a:prstGeom>
          <a:solidFill>
            <a:srgbClr val="13243B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/>
          </a:p>
        </p:txBody>
      </p:sp>
      <p:pic>
        <p:nvPicPr>
          <p:cNvPr id="108" name="Google Shape;108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496" y="1217432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932688" y="1124712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3243B"/>
              </a:buClr>
              <a:buSzPts val="1350"/>
            </a:pPr>
            <a:r>
              <a:rPr lang="en-US" sz="1013" b="1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The rulebook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932688" y="1351026"/>
            <a:ext cx="195453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E9B8E"/>
              </a:buClr>
              <a:buSzPts val="950"/>
            </a:pPr>
            <a:r>
              <a:rPr lang="en-US" sz="713" b="1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CLAUDE.md</a:t>
            </a:r>
            <a:endParaRPr sz="7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07492" y="1632204"/>
            <a:ext cx="232486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2000"/>
              </a:lnSpc>
              <a:buClr>
                <a:srgbClr val="5E7183"/>
              </a:buClr>
              <a:buSzPts val="980"/>
            </a:pPr>
            <a:r>
              <a:rPr lang="en-US" sz="735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Sets the standard for every task — numbers are sacred, source everything, always compare to the prior period. Loaded automatically each session.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250692" y="973836"/>
            <a:ext cx="2640330" cy="1412748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 cap="flat" cmpd="sng">
            <a:solidFill>
              <a:srgbClr val="DCE3E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B2A3A">
                <a:alpha val="14117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/>
          </a:p>
        </p:txBody>
      </p:sp>
      <p:sp>
        <p:nvSpPr>
          <p:cNvPr id="113" name="Google Shape;113;p4"/>
          <p:cNvSpPr/>
          <p:nvPr/>
        </p:nvSpPr>
        <p:spPr>
          <a:xfrm>
            <a:off x="3401568" y="1124712"/>
            <a:ext cx="356616" cy="356616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/>
          </a:p>
        </p:txBody>
      </p:sp>
      <p:pic>
        <p:nvPicPr>
          <p:cNvPr id="114" name="Google Shape;114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4288" y="1217432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3840480" y="1124712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3243B"/>
              </a:buClr>
              <a:buSzPts val="1350"/>
            </a:pPr>
            <a:r>
              <a:rPr lang="en-US" sz="1013" b="1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The skills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840480" y="1351026"/>
            <a:ext cx="195453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E9B8E"/>
              </a:buClr>
              <a:buSzPts val="950"/>
            </a:pPr>
            <a:r>
              <a:rPr lang="en-US" sz="713" b="1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.claude/skills/</a:t>
            </a:r>
            <a:endParaRPr sz="7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415284" y="1632204"/>
            <a:ext cx="232486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2000"/>
              </a:lnSpc>
              <a:buClr>
                <a:srgbClr val="5E7183"/>
              </a:buClr>
              <a:buSzPts val="980"/>
            </a:pPr>
            <a:r>
              <a:rPr lang="en-US" sz="735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Specialist assistants that trigger by context: discover, download, catalogue, remember, analyse — plus an auto-built shortcut for each company and sector lenses.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158484" y="973836"/>
            <a:ext cx="2640330" cy="1412748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 cap="flat" cmpd="sng">
            <a:solidFill>
              <a:srgbClr val="DCE3E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B2A3A">
                <a:alpha val="14117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/>
          </a:p>
        </p:txBody>
      </p:sp>
      <p:sp>
        <p:nvSpPr>
          <p:cNvPr id="119" name="Google Shape;119;p4"/>
          <p:cNvSpPr/>
          <p:nvPr/>
        </p:nvSpPr>
        <p:spPr>
          <a:xfrm>
            <a:off x="6309360" y="1124712"/>
            <a:ext cx="356616" cy="356616"/>
          </a:xfrm>
          <a:prstGeom prst="ellipse">
            <a:avLst/>
          </a:prstGeom>
          <a:solidFill>
            <a:srgbClr val="3C5C7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/>
          </a:p>
        </p:txBody>
      </p:sp>
      <p:pic>
        <p:nvPicPr>
          <p:cNvPr id="120" name="Google Shape;120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2080" y="1217432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6748272" y="1124712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3243B"/>
              </a:buClr>
              <a:buSzPts val="1350"/>
            </a:pPr>
            <a:r>
              <a:rPr lang="en-US" sz="1013" b="1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The back-office workers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748272" y="1351026"/>
            <a:ext cx="195453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E9B8E"/>
              </a:buClr>
              <a:buSzPts val="950"/>
            </a:pPr>
            <a:r>
              <a:rPr lang="en-US" sz="713" b="1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.claude/agents/</a:t>
            </a:r>
            <a:endParaRPr sz="7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323076" y="1632204"/>
            <a:ext cx="232486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2000"/>
              </a:lnSpc>
              <a:buClr>
                <a:srgbClr val="5E7183"/>
              </a:buClr>
              <a:buSzPts val="980"/>
            </a:pPr>
            <a:r>
              <a:rPr lang="en-US" sz="735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The two heaviest jobs — downloading and analysing — run here in isolation, so the main desk stays fast and clutter-free.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42900" y="2523744"/>
            <a:ext cx="2640330" cy="1412748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 cap="flat" cmpd="sng">
            <a:solidFill>
              <a:srgbClr val="DCE3E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B2A3A">
                <a:alpha val="14117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/>
          </a:p>
        </p:txBody>
      </p:sp>
      <p:sp>
        <p:nvSpPr>
          <p:cNvPr id="125" name="Google Shape;125;p4"/>
          <p:cNvSpPr/>
          <p:nvPr/>
        </p:nvSpPr>
        <p:spPr>
          <a:xfrm>
            <a:off x="493776" y="2674620"/>
            <a:ext cx="356616" cy="356616"/>
          </a:xfrm>
          <a:prstGeom prst="ellipse">
            <a:avLst/>
          </a:prstGeom>
          <a:solidFill>
            <a:srgbClr val="13243B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/>
          </a:p>
        </p:txBody>
      </p:sp>
      <p:pic>
        <p:nvPicPr>
          <p:cNvPr id="126" name="Google Shape;126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6496" y="2767340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932688" y="267462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3243B"/>
              </a:buClr>
              <a:buSzPts val="1350"/>
            </a:pPr>
            <a:r>
              <a:rPr lang="en-US" sz="1013" b="1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The companies library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932688" y="2900934"/>
            <a:ext cx="195453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E9B8E"/>
              </a:buClr>
              <a:buSzPts val="950"/>
            </a:pPr>
            <a:r>
              <a:rPr lang="en-US" sz="713" b="1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companies/</a:t>
            </a:r>
            <a:endParaRPr sz="7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07492" y="3182112"/>
            <a:ext cx="232486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2000"/>
              </a:lnSpc>
              <a:buClr>
                <a:srgbClr val="5E7183"/>
              </a:buClr>
              <a:buSzPts val="980"/>
            </a:pPr>
            <a:r>
              <a:rPr lang="en-US" sz="735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One folder per company (10 today). Each holds annual &amp; interim reports, trading statements, SENS, presentations, press releases and analyst notes — plus a company.json fact sheet.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250692" y="2523744"/>
            <a:ext cx="2640330" cy="1412748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 cap="flat" cmpd="sng">
            <a:solidFill>
              <a:srgbClr val="DCE3E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B2A3A">
                <a:alpha val="14117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/>
          </a:p>
        </p:txBody>
      </p:sp>
      <p:sp>
        <p:nvSpPr>
          <p:cNvPr id="131" name="Google Shape;131;p4"/>
          <p:cNvSpPr/>
          <p:nvPr/>
        </p:nvSpPr>
        <p:spPr>
          <a:xfrm>
            <a:off x="3401568" y="2674620"/>
            <a:ext cx="356616" cy="356616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/>
          </a:p>
        </p:txBody>
      </p:sp>
      <p:pic>
        <p:nvPicPr>
          <p:cNvPr id="132" name="Google Shape;132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94288" y="2767340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3840480" y="267462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3243B"/>
              </a:buClr>
              <a:buSzPts val="1350"/>
            </a:pPr>
            <a:r>
              <a:rPr lang="en-US" sz="1013" b="1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The master index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840480" y="2900934"/>
            <a:ext cx="195453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E9B8E"/>
              </a:buClr>
              <a:buSzPts val="950"/>
            </a:pPr>
            <a:r>
              <a:rPr lang="en-US" sz="713" b="1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manifest.json · tools/</a:t>
            </a:r>
            <a:endParaRPr sz="7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415284" y="3182112"/>
            <a:ext cx="232486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2000"/>
              </a:lnSpc>
              <a:buClr>
                <a:srgbClr val="5E7183"/>
              </a:buClr>
              <a:buSzPts val="980"/>
            </a:pPr>
            <a:r>
              <a:rPr lang="en-US" sz="735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A single catalogue of everything held, missing or due to refresh — generated automatically from each company’s records, never edited by hand.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158484" y="2523744"/>
            <a:ext cx="2640330" cy="1412748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 cap="flat" cmpd="sng">
            <a:solidFill>
              <a:srgbClr val="DCE3E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B2A3A">
                <a:alpha val="14117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/>
          </a:p>
        </p:txBody>
      </p:sp>
      <p:sp>
        <p:nvSpPr>
          <p:cNvPr id="137" name="Google Shape;137;p4"/>
          <p:cNvSpPr/>
          <p:nvPr/>
        </p:nvSpPr>
        <p:spPr>
          <a:xfrm>
            <a:off x="6309360" y="2674620"/>
            <a:ext cx="356616" cy="356616"/>
          </a:xfrm>
          <a:prstGeom prst="ellipse">
            <a:avLst/>
          </a:prstGeom>
          <a:solidFill>
            <a:srgbClr val="BF8F3A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/>
          </a:p>
        </p:txBody>
      </p:sp>
      <p:pic>
        <p:nvPicPr>
          <p:cNvPr id="138" name="Google Shape;138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02080" y="2767340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/>
          <p:nvPr/>
        </p:nvSpPr>
        <p:spPr>
          <a:xfrm>
            <a:off x="6748272" y="267462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3243B"/>
              </a:buClr>
              <a:buSzPts val="1350"/>
            </a:pPr>
            <a:r>
              <a:rPr lang="en-US" sz="1013" b="1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The outputs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748272" y="2900934"/>
            <a:ext cx="195453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E9B8E"/>
              </a:buClr>
              <a:buSzPts val="950"/>
            </a:pPr>
            <a:r>
              <a:rPr lang="en-US" sz="713" b="1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Word · Excel · PowerPoint</a:t>
            </a:r>
            <a:endParaRPr sz="7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323076" y="3182112"/>
            <a:ext cx="232486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2000"/>
              </a:lnSpc>
              <a:buClr>
                <a:srgbClr val="5E7183"/>
              </a:buClr>
              <a:buSzPts val="980"/>
            </a:pPr>
            <a:r>
              <a:rPr lang="en-US" sz="735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Finished analysis lands in the workspace root — sourced, comparable and ready for investment decisions.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42900" y="4018788"/>
            <a:ext cx="8455914" cy="562356"/>
          </a:xfrm>
          <a:prstGeom prst="roundRect">
            <a:avLst>
              <a:gd name="adj" fmla="val 8537"/>
            </a:avLst>
          </a:prstGeom>
          <a:solidFill>
            <a:srgbClr val="13243B"/>
          </a:solidFill>
          <a:ln>
            <a:noFill/>
          </a:ln>
          <a:effectLst>
            <a:outerShdw blurRad="76200" dist="25400" dir="5400000" algn="bl" rotWithShape="0">
              <a:srgbClr val="1B2A3A">
                <a:alpha val="10196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/>
          </a:p>
        </p:txBody>
      </p:sp>
      <p:sp>
        <p:nvSpPr>
          <p:cNvPr id="143" name="Google Shape;143;p4"/>
          <p:cNvSpPr/>
          <p:nvPr/>
        </p:nvSpPr>
        <p:spPr>
          <a:xfrm>
            <a:off x="507492" y="4155948"/>
            <a:ext cx="288036" cy="288036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/>
          </a:p>
        </p:txBody>
      </p:sp>
      <p:pic>
        <p:nvPicPr>
          <p:cNvPr id="144" name="Google Shape;144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2382" y="4230838"/>
            <a:ext cx="138257" cy="13825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/>
          <p:nvPr/>
        </p:nvSpPr>
        <p:spPr>
          <a:xfrm>
            <a:off x="905256" y="4018788"/>
            <a:ext cx="7818120" cy="56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1100"/>
            </a:pPr>
            <a:r>
              <a:rPr lang="en-US" sz="82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Watchlist — 8 companies monitored for new results:  </a:t>
            </a:r>
            <a:r>
              <a:rPr lang="en-US" sz="825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Shoprite · Naspers · Woolworths · Clicks · Dis-Chem · Reinet · Richemont · Spar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42900" y="4828032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Clr>
                <a:srgbClr val="5E7183"/>
              </a:buClr>
              <a:buSzPts val="800"/>
            </a:pPr>
            <a:r>
              <a:rPr lang="en-US" sz="600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JSE Equity Research · Cowork workspace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114800" y="4828032"/>
            <a:ext cx="468401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buClr>
                <a:srgbClr val="5E7183"/>
              </a:buClr>
              <a:buSzPts val="800"/>
            </a:pPr>
            <a:r>
              <a:rPr lang="en-US" sz="600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For information only — not investment advice.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42900" y="219456"/>
            <a:ext cx="845591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13243B"/>
              </a:buClr>
              <a:buSzPts val="2800"/>
            </a:pPr>
            <a:r>
              <a:rPr lang="en-US" sz="2100" b="1" kern="0" dirty="0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How the JSE Financial Reports workspace works</a:t>
            </a:r>
            <a:endParaRPr sz="2100"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42900" y="589788"/>
            <a:ext cx="8455914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5E7183"/>
              </a:buClr>
              <a:buSzPts val="1300"/>
            </a:pPr>
            <a:r>
              <a:rPr lang="en-US" sz="975" kern="0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An automated research desk that finds, files and analyses reports for JSE-listed companies — so the team never hunts for a document.</a:t>
            </a:r>
            <a:endParaRPr sz="97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855089" y="2331720"/>
            <a:ext cx="89154" cy="34290"/>
          </a:xfrm>
          <a:prstGeom prst="rect">
            <a:avLst/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 rot="5400000">
            <a:off x="1930527" y="2266569"/>
            <a:ext cx="109728" cy="164592"/>
          </a:xfrm>
          <a:prstGeom prst="triangle">
            <a:avLst>
              <a:gd name="adj" fmla="val 50000"/>
            </a:avLst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44059" y="2331720"/>
            <a:ext cx="89154" cy="34290"/>
          </a:xfrm>
          <a:prstGeom prst="rect">
            <a:avLst/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 rot="5400000">
            <a:off x="5119497" y="2266569"/>
            <a:ext cx="109728" cy="164592"/>
          </a:xfrm>
          <a:prstGeom prst="triangle">
            <a:avLst>
              <a:gd name="adj" fmla="val 50000"/>
            </a:avLst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272909" y="2331720"/>
            <a:ext cx="89154" cy="34290"/>
          </a:xfrm>
          <a:prstGeom prst="rect">
            <a:avLst/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 rot="5400000">
            <a:off x="7348347" y="2266569"/>
            <a:ext cx="109728" cy="164592"/>
          </a:xfrm>
          <a:prstGeom prst="triangle">
            <a:avLst>
              <a:gd name="adj" fmla="val 50000"/>
            </a:avLst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42900" y="1028700"/>
            <a:ext cx="1474470" cy="264033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 cap="flat" cmpd="sng">
            <a:solidFill>
              <a:srgbClr val="DCE3E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B2A3A">
                <a:alpha val="14117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66344" y="1165860"/>
            <a:ext cx="342900" cy="342900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26" name="Google Shape;2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498" y="125501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877824" y="1213866"/>
            <a:ext cx="82296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0E9B8E"/>
              </a:buClr>
              <a:buSzPts val="900"/>
            </a:pPr>
            <a:r>
              <a:rPr lang="en-US" sz="675" b="1" kern="0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sz="67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66344" y="1591056"/>
            <a:ext cx="1227582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13243B"/>
              </a:buClr>
              <a:buSzPts val="1350"/>
            </a:pPr>
            <a:r>
              <a:rPr lang="en-US" sz="1013" b="1" kern="0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The analyst asks</a:t>
            </a:r>
            <a:endParaRPr sz="101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66344" y="2002536"/>
            <a:ext cx="1227582" cy="274320"/>
          </a:xfrm>
          <a:prstGeom prst="roundRect">
            <a:avLst>
              <a:gd name="adj" fmla="val 12500"/>
            </a:avLst>
          </a:prstGeom>
          <a:solidFill>
            <a:srgbClr val="DCEFEC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21208" y="2002536"/>
            <a:ext cx="113157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13243B"/>
              </a:buClr>
              <a:buSzPts val="1000"/>
            </a:pPr>
            <a:r>
              <a:rPr lang="en-US" sz="750" i="1" kern="0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“Tell me about Capitec”</a:t>
            </a:r>
            <a:endParaRPr sz="75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6344" y="2345436"/>
            <a:ext cx="1227582" cy="274320"/>
          </a:xfrm>
          <a:prstGeom prst="roundRect">
            <a:avLst>
              <a:gd name="adj" fmla="val 12500"/>
            </a:avLst>
          </a:prstGeom>
          <a:solidFill>
            <a:srgbClr val="DCEFEC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21208" y="2345436"/>
            <a:ext cx="113157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13243B"/>
              </a:buClr>
              <a:buSzPts val="1000"/>
            </a:pPr>
            <a:r>
              <a:rPr lang="en-US" sz="750" i="1" kern="0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“What’s new today?”</a:t>
            </a:r>
            <a:endParaRPr sz="75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66344" y="2688336"/>
            <a:ext cx="1227582" cy="274320"/>
          </a:xfrm>
          <a:prstGeom prst="roundRect">
            <a:avLst>
              <a:gd name="adj" fmla="val 12500"/>
            </a:avLst>
          </a:prstGeom>
          <a:solidFill>
            <a:srgbClr val="DCEFEC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21208" y="2688336"/>
            <a:ext cx="113157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13243B"/>
              </a:buClr>
              <a:buSzPts val="1000"/>
            </a:pPr>
            <a:r>
              <a:rPr lang="en-US" sz="750" i="1" kern="0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“Build the IC pack”</a:t>
            </a:r>
            <a:endParaRPr sz="75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466344" y="3120390"/>
            <a:ext cx="1227582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5E7183"/>
              </a:buClr>
              <a:buSzPts val="950"/>
            </a:pPr>
            <a:r>
              <a:rPr lang="en-US" sz="713" kern="0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A plain-English request — that’s all the desk needs.</a:t>
            </a:r>
            <a:endParaRPr sz="71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2057400" y="1028700"/>
            <a:ext cx="2983230" cy="2640330"/>
          </a:xfrm>
          <a:prstGeom prst="roundRect">
            <a:avLst>
              <a:gd name="adj" fmla="val 2338"/>
            </a:avLst>
          </a:prstGeom>
          <a:solidFill>
            <a:srgbClr val="13243B"/>
          </a:solidFill>
          <a:ln w="12700" cap="flat" cmpd="sng">
            <a:solidFill>
              <a:srgbClr val="DCE3E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B2A3A">
                <a:alpha val="14117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2194560" y="1179576"/>
            <a:ext cx="342900" cy="342900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38" name="Google Shape;38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3714" y="126873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/>
          <p:nvPr/>
        </p:nvSpPr>
        <p:spPr>
          <a:xfrm>
            <a:off x="2606040" y="1220724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0E9B8E"/>
              </a:buClr>
              <a:buSzPts val="900"/>
            </a:pPr>
            <a:r>
              <a:rPr lang="en-US" sz="675" b="1" kern="0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THE ENGINE</a:t>
            </a:r>
            <a:endParaRPr sz="67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2194560" y="1563624"/>
            <a:ext cx="270891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FFFFFF"/>
              </a:buClr>
              <a:buSzPts val="1500"/>
            </a:pPr>
            <a:r>
              <a:rPr lang="en-US" sz="1125" b="1" kern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Skills do the work</a:t>
            </a:r>
            <a:endParaRPr sz="112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2194560" y="1796796"/>
            <a:ext cx="270891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C5D6E6"/>
              </a:buClr>
              <a:buSzPts val="950"/>
            </a:pPr>
            <a:r>
              <a:rPr lang="en-US" sz="713" i="1" kern="0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specialist assistants, switched on automatically</a:t>
            </a:r>
            <a:endParaRPr sz="71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2208276" y="2016252"/>
            <a:ext cx="185166" cy="185166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43" name="Google Shape;43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56419" y="2064395"/>
            <a:ext cx="88880" cy="88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"/>
          <p:cNvSpPr/>
          <p:nvPr/>
        </p:nvSpPr>
        <p:spPr>
          <a:xfrm>
            <a:off x="2468880" y="1975104"/>
            <a:ext cx="246888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FFFFFF"/>
              </a:buClr>
              <a:buSzPts val="1050"/>
            </a:pPr>
            <a:r>
              <a:rPr lang="en-US" sz="788" b="1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Discover  </a:t>
            </a:r>
            <a:r>
              <a:rPr lang="en-US" sz="600" i="1" kern="0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· jse-company-discovery</a:t>
            </a:r>
            <a:endParaRPr sz="78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2468880" y="2119122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C5D6E6"/>
              </a:buClr>
              <a:buSzPts val="850"/>
            </a:pPr>
            <a:r>
              <a:rPr lang="en-US" sz="638" kern="0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find its investor site &amp; where reports live</a:t>
            </a:r>
            <a:endParaRPr sz="63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2208276" y="2304288"/>
            <a:ext cx="185166" cy="185166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47" name="Google Shape;47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56419" y="2352431"/>
            <a:ext cx="88880" cy="8888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/>
          <p:nvPr/>
        </p:nvSpPr>
        <p:spPr>
          <a:xfrm>
            <a:off x="2468880" y="2263140"/>
            <a:ext cx="246888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FFFFFF"/>
              </a:buClr>
              <a:buSzPts val="1050"/>
            </a:pPr>
            <a:r>
              <a:rPr lang="en-US" sz="788" b="1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Download  </a:t>
            </a:r>
            <a:r>
              <a:rPr lang="en-US" sz="600" i="1" kern="0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· jse-report-downloader</a:t>
            </a:r>
            <a:endParaRPr sz="78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2468880" y="2407158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C5D6E6"/>
              </a:buClr>
              <a:buSzPts val="850"/>
            </a:pPr>
            <a:r>
              <a:rPr lang="en-US" sz="638" kern="0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annual &amp; interim results, updates, SENS</a:t>
            </a:r>
            <a:endParaRPr sz="63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2208276" y="2592324"/>
            <a:ext cx="185166" cy="185166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51" name="Google Shape;51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56419" y="2640467"/>
            <a:ext cx="88880" cy="8888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/>
          <p:nvPr/>
        </p:nvSpPr>
        <p:spPr>
          <a:xfrm>
            <a:off x="2468880" y="2551176"/>
            <a:ext cx="246888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FFFFFF"/>
              </a:buClr>
              <a:buSzPts val="1050"/>
            </a:pPr>
            <a:r>
              <a:rPr lang="en-US" sz="788" b="1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Catalogue  </a:t>
            </a:r>
            <a:r>
              <a:rPr lang="en-US" sz="600" i="1" kern="0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· jse-manifest-manager</a:t>
            </a:r>
            <a:endParaRPr sz="78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468880" y="2695194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C5D6E6"/>
              </a:buClr>
              <a:buSzPts val="850"/>
            </a:pPr>
            <a:r>
              <a:rPr lang="en-US" sz="638" kern="0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keep the master index current</a:t>
            </a:r>
            <a:endParaRPr sz="63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208276" y="2880360"/>
            <a:ext cx="185166" cy="185166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55" name="Google Shape;55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56419" y="2928503"/>
            <a:ext cx="88880" cy="8888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2468880" y="2839212"/>
            <a:ext cx="246888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FFFFFF"/>
              </a:buClr>
              <a:buSzPts val="1050"/>
            </a:pPr>
            <a:r>
              <a:rPr lang="en-US" sz="788" b="1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Remember  </a:t>
            </a:r>
            <a:r>
              <a:rPr lang="en-US" sz="600" i="1" kern="0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· jse-skill-builder</a:t>
            </a:r>
            <a:endParaRPr sz="78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2468880" y="298323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C5D6E6"/>
              </a:buClr>
              <a:buSzPts val="850"/>
            </a:pPr>
            <a:r>
              <a:rPr lang="en-US" sz="638" kern="0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save a per-company shortcut for next time</a:t>
            </a:r>
            <a:endParaRPr sz="63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208276" y="3168396"/>
            <a:ext cx="185166" cy="185166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59" name="Google Shape;59;p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56419" y="3216539"/>
            <a:ext cx="88880" cy="8888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2468880" y="3127248"/>
            <a:ext cx="246888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FFFFFF"/>
              </a:buClr>
              <a:buSzPts val="1050"/>
            </a:pPr>
            <a:r>
              <a:rPr lang="en-US" sz="788" b="1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Analyse  </a:t>
            </a:r>
            <a:r>
              <a:rPr lang="en-US" sz="600" i="1" kern="0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· jse-analyst</a:t>
            </a:r>
            <a:endParaRPr sz="78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468880" y="3271266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C5D6E6"/>
              </a:buClr>
              <a:buSzPts val="850"/>
            </a:pPr>
            <a:r>
              <a:rPr lang="en-US" sz="638" kern="0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extract the numbers &amp; compare periods</a:t>
            </a:r>
            <a:endParaRPr sz="63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08276" y="3470148"/>
            <a:ext cx="123444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2386584" y="3442716"/>
            <a:ext cx="2530602" cy="17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C5D6E6"/>
              </a:buClr>
              <a:buSzPts val="800"/>
            </a:pPr>
            <a:r>
              <a:rPr lang="en-US" sz="600" i="1" kern="0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Download &amp; Analyse run as background workers, keeping the desk fast.</a:t>
            </a:r>
            <a:endParaRPr sz="6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212080" y="1028700"/>
            <a:ext cx="2057400" cy="264033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 cap="flat" cmpd="sng">
            <a:solidFill>
              <a:srgbClr val="DCE3E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B2A3A">
                <a:alpha val="14117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335524" y="1165860"/>
            <a:ext cx="342900" cy="342900"/>
          </a:xfrm>
          <a:prstGeom prst="ellipse">
            <a:avLst/>
          </a:prstGeom>
          <a:solidFill>
            <a:srgbClr val="3C5C7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66" name="Google Shape;66;p3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424678" y="125501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5747004" y="1213866"/>
            <a:ext cx="82296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0E9B8E"/>
              </a:buClr>
              <a:buSzPts val="900"/>
            </a:pPr>
            <a:r>
              <a:rPr lang="en-US" sz="675" b="1" kern="0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sz="67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335524" y="1591056"/>
            <a:ext cx="1810512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13243B"/>
              </a:buClr>
              <a:buSzPts val="1350"/>
            </a:pPr>
            <a:r>
              <a:rPr lang="en-US" sz="1013" b="1" kern="0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Filed &amp; indexed</a:t>
            </a:r>
            <a:endParaRPr sz="101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335524" y="1988820"/>
            <a:ext cx="1810512" cy="754380"/>
          </a:xfrm>
          <a:prstGeom prst="roundRect">
            <a:avLst>
              <a:gd name="adj" fmla="val 4545"/>
            </a:avLst>
          </a:prstGeom>
          <a:solidFill>
            <a:srgbClr val="F3F6F9"/>
          </a:solidFill>
          <a:ln w="12700" cap="flat" cmpd="sng">
            <a:solidFill>
              <a:srgbClr val="DCE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17820" y="2043684"/>
            <a:ext cx="164592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13243B"/>
              </a:buClr>
              <a:buSzPts val="1050"/>
            </a:pPr>
            <a:r>
              <a:rPr lang="en-US" sz="788" b="1" kern="0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Companies library</a:t>
            </a:r>
            <a:endParaRPr sz="78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17820" y="2208276"/>
            <a:ext cx="1659636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5E7183"/>
              </a:buClr>
              <a:buSzPts val="830"/>
            </a:pPr>
            <a:r>
              <a:rPr lang="en-US" sz="623" kern="0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One folder per company (10 today). Each sorted into annual &amp; interim reports, trading statements, SENS, presentations, press releases and analyst notes.</a:t>
            </a:r>
            <a:endParaRPr sz="62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335524" y="2811780"/>
            <a:ext cx="1810512" cy="754380"/>
          </a:xfrm>
          <a:prstGeom prst="roundRect">
            <a:avLst>
              <a:gd name="adj" fmla="val 4545"/>
            </a:avLst>
          </a:prstGeom>
          <a:solidFill>
            <a:srgbClr val="F3F6F9"/>
          </a:solidFill>
          <a:ln w="12700" cap="flat" cmpd="sng">
            <a:solidFill>
              <a:srgbClr val="DCE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417820" y="2866644"/>
            <a:ext cx="164592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13243B"/>
              </a:buClr>
              <a:buSzPts val="1050"/>
            </a:pPr>
            <a:r>
              <a:rPr lang="en-US" sz="788" b="1" kern="0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Master index (manifest)</a:t>
            </a:r>
            <a:endParaRPr sz="78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417820" y="3031236"/>
            <a:ext cx="1659636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5E7183"/>
              </a:buClr>
              <a:buSzPts val="830"/>
            </a:pPr>
            <a:r>
              <a:rPr lang="en-US" sz="623" kern="0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A single catalogue of what we hold, what’s missing and what’s due to refresh — built automatically, never edited by hand.</a:t>
            </a:r>
            <a:endParaRPr sz="62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440930" y="1028700"/>
            <a:ext cx="1357884" cy="264033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 cap="flat" cmpd="sng">
            <a:solidFill>
              <a:srgbClr val="DCE3E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B2A3A">
                <a:alpha val="14117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564374" y="1165860"/>
            <a:ext cx="342900" cy="342900"/>
          </a:xfrm>
          <a:prstGeom prst="ellipse">
            <a:avLst/>
          </a:prstGeom>
          <a:solidFill>
            <a:srgbClr val="BF8F3A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77" name="Google Shape;77;p3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53528" y="125501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7975854" y="1213866"/>
            <a:ext cx="75438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0E9B8E"/>
              </a:buClr>
              <a:buSzPts val="900"/>
            </a:pPr>
            <a:r>
              <a:rPr lang="en-US" sz="675" b="1" kern="0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sz="67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564374" y="1591056"/>
            <a:ext cx="115214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13243B"/>
              </a:buClr>
              <a:buSzPts val="1250"/>
            </a:pPr>
            <a:r>
              <a:rPr lang="en-US" sz="938" b="1" kern="0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You get analysis</a:t>
            </a:r>
            <a:endParaRPr sz="93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3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578090" y="2057400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7852410" y="2036826"/>
            <a:ext cx="87782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13243B"/>
              </a:buClr>
              <a:buSzPts val="1050"/>
            </a:pPr>
            <a:r>
              <a:rPr lang="en-US" sz="788" kern="0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Word memos</a:t>
            </a:r>
            <a:endParaRPr sz="78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3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578090" y="2414016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7852410" y="2393442"/>
            <a:ext cx="87782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13243B"/>
              </a:buClr>
              <a:buSzPts val="1050"/>
            </a:pPr>
            <a:r>
              <a:rPr lang="en-US" sz="788" kern="0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Excel models</a:t>
            </a:r>
            <a:endParaRPr sz="78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3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578090" y="2770632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7852410" y="2750058"/>
            <a:ext cx="87782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13243B"/>
              </a:buClr>
              <a:buSzPts val="1050"/>
            </a:pPr>
            <a:r>
              <a:rPr lang="en-US" sz="788" kern="0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Slides</a:t>
            </a:r>
            <a:endParaRPr sz="788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564374" y="3223260"/>
            <a:ext cx="1152144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5E7183"/>
              </a:buClr>
              <a:buSzPts val="900"/>
            </a:pPr>
            <a:r>
              <a:rPr lang="en-US" sz="675" i="1" kern="0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Sourced, comparable, decision-ready.</a:t>
            </a:r>
            <a:endParaRPr sz="67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42900" y="3854196"/>
            <a:ext cx="5520690" cy="795528"/>
          </a:xfrm>
          <a:prstGeom prst="roundRect">
            <a:avLst>
              <a:gd name="adj" fmla="val 6034"/>
            </a:avLst>
          </a:prstGeom>
          <a:solidFill>
            <a:srgbClr val="F3F6F9"/>
          </a:solidFill>
          <a:ln w="12700" cap="flat" cmpd="sng">
            <a:solidFill>
              <a:srgbClr val="DCE3E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2A3A">
                <a:alpha val="10196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93776" y="4080510"/>
            <a:ext cx="342900" cy="342900"/>
          </a:xfrm>
          <a:prstGeom prst="ellipse">
            <a:avLst/>
          </a:prstGeom>
          <a:solidFill>
            <a:srgbClr val="3C5C7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89" name="Google Shape;89;p3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82930" y="416966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946404" y="3963924"/>
            <a:ext cx="473202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13243B"/>
              </a:buClr>
              <a:buSzPts val="1200"/>
            </a:pPr>
            <a:r>
              <a:rPr lang="en-US" sz="900" b="1" kern="0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Where the documents come from</a:t>
            </a:r>
            <a:endParaRPr sz="9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46404" y="4197096"/>
            <a:ext cx="476631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5E7183"/>
              </a:buClr>
              <a:buSzPts val="980"/>
            </a:pPr>
            <a:r>
              <a:rPr lang="en-US" sz="735" kern="0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Company investor websites and SENS announcements — fetched automatically. Optionally the fund’s email, SharePoint and Bloomberg, when connected.</a:t>
            </a:r>
            <a:endParaRPr sz="73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021324" y="3854196"/>
            <a:ext cx="2777490" cy="795528"/>
          </a:xfrm>
          <a:prstGeom prst="roundRect">
            <a:avLst>
              <a:gd name="adj" fmla="val 6034"/>
            </a:avLst>
          </a:prstGeom>
          <a:solidFill>
            <a:srgbClr val="F6ECD3"/>
          </a:solidFill>
          <a:ln w="15875" cap="flat" cmpd="sng">
            <a:solidFill>
              <a:srgbClr val="BF8F3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2A3A">
                <a:alpha val="10196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172200" y="4080510"/>
            <a:ext cx="342900" cy="342900"/>
          </a:xfrm>
          <a:prstGeom prst="ellipse">
            <a:avLst/>
          </a:prstGeom>
          <a:solidFill>
            <a:srgbClr val="BF8F3A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>
              <a:buClr>
                <a:srgbClr val="000000"/>
              </a:buClr>
            </a:pPr>
            <a:endParaRPr sz="105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94" name="Google Shape;94;p3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261354" y="416966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/>
          <p:nvPr/>
        </p:nvSpPr>
        <p:spPr>
          <a:xfrm>
            <a:off x="6624828" y="3963924"/>
            <a:ext cx="20574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13243B"/>
              </a:buClr>
              <a:buSzPts val="1200"/>
            </a:pPr>
            <a:r>
              <a:rPr lang="en-US" sz="900" b="1" kern="0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House rule</a:t>
            </a:r>
            <a:endParaRPr sz="9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624828" y="4197096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defTabSz="685800">
              <a:buClr>
                <a:srgbClr val="6B5320"/>
              </a:buClr>
              <a:buSzPts val="980"/>
            </a:pPr>
            <a:r>
              <a:rPr lang="en-US" sz="735" kern="0">
                <a:solidFill>
                  <a:srgbClr val="6B5320"/>
                </a:solidFill>
                <a:latin typeface="Calibri"/>
                <a:ea typeface="Calibri"/>
                <a:cs typeface="Calibri"/>
                <a:sym typeface="Calibri"/>
              </a:rPr>
              <a:t>Every number is traced to its source. Nothing is rounded or guessed.</a:t>
            </a:r>
            <a:endParaRPr sz="73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42900" y="4828032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defTabSz="685800">
              <a:buClr>
                <a:srgbClr val="5E7183"/>
              </a:buClr>
              <a:buSzPts val="800"/>
            </a:pPr>
            <a:r>
              <a:rPr lang="en-US" sz="600" kern="0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JSE Equity Research · Cowork workspace</a:t>
            </a:r>
            <a:endParaRPr sz="6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114800" y="4828032"/>
            <a:ext cx="468401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 defTabSz="685800">
              <a:buClr>
                <a:srgbClr val="5E7183"/>
              </a:buClr>
              <a:buSzPts val="800"/>
            </a:pPr>
            <a:r>
              <a:rPr lang="en-US" sz="600" kern="0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For information only — not investment advice.</a:t>
            </a:r>
            <a:endParaRPr sz="6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skills, one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499616" cy="1691640"/>
          </a:xfrm>
          <a:prstGeom prst="roundRect">
            <a:avLst>
              <a:gd name="adj" fmla="val 3659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12648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company's IR site and maps where documents live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93392" y="20299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12848" y="1371600"/>
            <a:ext cx="1499616" cy="1691640"/>
          </a:xfrm>
          <a:prstGeom prst="roundRect">
            <a:avLst>
              <a:gd name="adj" fmla="val 3659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322576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22576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reports, SENS, presentations — automatically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03320" y="20299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922776" y="1371600"/>
            <a:ext cx="1499616" cy="1691640"/>
          </a:xfrm>
          <a:prstGeom prst="roundRect">
            <a:avLst>
              <a:gd name="adj" fmla="val 3659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032504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32504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Catalogues everything; surfaces gaps and what's due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13248" y="20299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32704" y="1371600"/>
            <a:ext cx="1499616" cy="1691640"/>
          </a:xfrm>
          <a:prstGeom prst="roundRect">
            <a:avLst>
              <a:gd name="adj" fmla="val 3659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742432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Skill-builder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42432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company its own skill, so next time is instant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23176" y="20299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42632" y="1371600"/>
            <a:ext cx="1499616" cy="1691640"/>
          </a:xfrm>
          <a:prstGeom prst="roundRect">
            <a:avLst>
              <a:gd name="adj" fmla="val 3659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452360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52360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Standardised, cited analysis from local documents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lives in one shared folder — documents, index, skills, configuration. Portable, inspectable, versioned.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website changes and a download breaks, the workspace re-discovers the source and repairs its own skill.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+ CLAUDE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 — and where you stay essential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52728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and reads the filings — hundreds of pages in minutes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110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89280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Re-keys and cross-checks every number, each one cited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6946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4864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55117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first pass in your house format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4864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0954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tires, never cuts a corner, ready before the open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86791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routine 80% — so you begin at the judgement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15000" y="1234440"/>
            <a:ext cx="2926080" cy="3246120"/>
          </a:xfrm>
          <a:prstGeom prst="roundRect">
            <a:avLst>
              <a:gd name="adj" fmla="val 1875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94360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DECIDE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0" y="1783080"/>
            <a:ext cx="1280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60920" y="1783080"/>
            <a:ext cx="1188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Scepticism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be trusted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8" y="179259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447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sacred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25880" y="17556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rounded or estimated; derived figures marked (e), working shown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956048" y="16916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998" y="179259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4447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everything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532120" y="17556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cited to its document and page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697480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749808" y="31089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758" y="3209910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862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uncertainty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25880" y="31729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reported as "not disclosed" — never papered over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697480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4956048" y="31089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998" y="3209910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2862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always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532120" y="31729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against the prior period, with the change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rules live in the workspace configuration — enforced on every analysis, not left to memory.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Cowork vs Copilot "Cowork"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2B367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plain text you can read, version and share. Radically transparent and portable, with no platform lock-in. A research preview today.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COWORK (FRONTIER)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Microsoft’s analogue, launched March 2026. Native to the M365 estate you already run, also built on reusable "skills" — and it runs Claude among its models.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2011680" y="36393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analogous. The real choice is fit — your estate, governance and how much transparency you want — and the way of working ports either way.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Skills: instructions, not software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you can write an email briefing a junior analyst, you can write a skill."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markdown document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Claude when to act and what to 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fund's standards — formats, guardrails, house style — automatically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188720"/>
            <a:ext cx="3886200" cy="3520440"/>
          </a:xfrm>
          <a:prstGeom prst="roundRect">
            <a:avLst>
              <a:gd name="adj" fmla="val 155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ic-meeting-note-formatter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Formats rough IC meeting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notes into AllWeather's standard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minutes. Use when the user pastes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meeting notes...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Output format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Header - date, attendees, chair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Decisions taken - numbered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Actions - owner and due date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Dissenting views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invent content.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Keep numbers exactly as written.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00600" y="4754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actual skill from this workspace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Demystifying skills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has three parts. All of them are plain English.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6642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— when to act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phrases people actually say: "format my IC notes", "tidy these minutes"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25328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— what to do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17320" y="28163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you would give a new team member: sections, order, format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772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34015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— what never to do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17320" y="36850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invent content." "Keep numbers exactly as written." Guardrails, encoded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 build one, live, in five minutes.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LIMITS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it can let you down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attention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dumb zone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 too much in at once and quality falls. An overloaded context thinks worse — like a desk buried under paper.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9192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862072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62072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errors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62072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62072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state a wrong number with total confidence. Fluent is not the same as correct — so everything stays checkable.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9744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992624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92624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drift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92624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92624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vaguely and it optimises for the wrong thing. Most 'AI failures' are really briefing failures.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0296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123176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23176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calculator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23176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slightly different wording each run. Great for drafting; wrong for anything that must reconcile.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dealbreakers — each has a discipline that defangs it. That's the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74320"/>
            <a:ext cx="84559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utilization &amp; the “dumb zone”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42900" y="74066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3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fuller context window quietly degrades the quality of an AI’s answers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08610" y="1165860"/>
            <a:ext cx="5143500" cy="3394710"/>
          </a:xfrm>
          <a:prstGeom prst="roundRect">
            <a:avLst>
              <a:gd name="adj" fmla="val 1616"/>
            </a:avLst>
          </a:prstGeom>
          <a:solidFill>
            <a:srgbClr val="162B41"/>
          </a:solidFill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 sz="13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31" y="1275588"/>
            <a:ext cx="4585259" cy="3086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7731" y="4368546"/>
            <a:ext cx="45852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i="1" dirty="0">
                <a:solidFill>
                  <a:srgbClr val="6E8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the exact curve varies by model and task</a:t>
            </a:r>
            <a:endParaRPr lang="en-US" sz="825" dirty="0"/>
          </a:p>
        </p:txBody>
      </p:sp>
      <p:sp>
        <p:nvSpPr>
          <p:cNvPr id="7" name="Shape 4"/>
          <p:cNvSpPr/>
          <p:nvPr/>
        </p:nvSpPr>
        <p:spPr>
          <a:xfrm>
            <a:off x="5623560" y="1165860"/>
            <a:ext cx="3188970" cy="994410"/>
          </a:xfrm>
          <a:prstGeom prst="roundRect">
            <a:avLst>
              <a:gd name="adj" fmla="val 5517"/>
            </a:avLst>
          </a:prstGeom>
          <a:solidFill>
            <a:srgbClr val="162B41"/>
          </a:solidFill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 sz="1350"/>
          </a:p>
        </p:txBody>
      </p:sp>
      <p:sp>
        <p:nvSpPr>
          <p:cNvPr id="8" name="Shape 5"/>
          <p:cNvSpPr/>
          <p:nvPr/>
        </p:nvSpPr>
        <p:spPr>
          <a:xfrm>
            <a:off x="5829300" y="1457325"/>
            <a:ext cx="411480" cy="4114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9" name="Text 6"/>
          <p:cNvSpPr/>
          <p:nvPr/>
        </p:nvSpPr>
        <p:spPr>
          <a:xfrm>
            <a:off x="5829300" y="1457325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0F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377940" y="1316736"/>
            <a:ext cx="2297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6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Bigger window isn’t better</a:t>
            </a:r>
            <a:endParaRPr lang="en-US" sz="1163" dirty="0"/>
          </a:p>
        </p:txBody>
      </p:sp>
      <p:sp>
        <p:nvSpPr>
          <p:cNvPr id="11" name="Text 8"/>
          <p:cNvSpPr/>
          <p:nvPr/>
        </p:nvSpPr>
        <p:spPr>
          <a:xfrm>
            <a:off x="6377940" y="1604772"/>
            <a:ext cx="229743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C2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context window doesn’t mean the model attends equally to everything inside it.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23560" y="2366010"/>
            <a:ext cx="3188970" cy="994410"/>
          </a:xfrm>
          <a:prstGeom prst="roundRect">
            <a:avLst>
              <a:gd name="adj" fmla="val 5517"/>
            </a:avLst>
          </a:prstGeom>
          <a:solidFill>
            <a:srgbClr val="162B41"/>
          </a:solidFill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 sz="1350"/>
          </a:p>
        </p:txBody>
      </p:sp>
      <p:sp>
        <p:nvSpPr>
          <p:cNvPr id="13" name="Shape 10"/>
          <p:cNvSpPr/>
          <p:nvPr/>
        </p:nvSpPr>
        <p:spPr>
          <a:xfrm>
            <a:off x="5829300" y="2657475"/>
            <a:ext cx="411480" cy="41148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14" name="Text 11"/>
          <p:cNvSpPr/>
          <p:nvPr/>
        </p:nvSpPr>
        <p:spPr>
          <a:xfrm>
            <a:off x="5829300" y="2657475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0F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377940" y="2516886"/>
            <a:ext cx="2297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6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dumb zone costs</a:t>
            </a:r>
            <a:endParaRPr lang="en-US" sz="1163" dirty="0"/>
          </a:p>
        </p:txBody>
      </p:sp>
      <p:sp>
        <p:nvSpPr>
          <p:cNvPr id="16" name="Text 13"/>
          <p:cNvSpPr/>
          <p:nvPr/>
        </p:nvSpPr>
        <p:spPr>
          <a:xfrm>
            <a:off x="6377940" y="2804922"/>
            <a:ext cx="229743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C2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context fills, it drops instructions, misses details buried in the middle, and reasons less reliably.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23560" y="3566160"/>
            <a:ext cx="3188970" cy="994410"/>
          </a:xfrm>
          <a:prstGeom prst="roundRect">
            <a:avLst>
              <a:gd name="adj" fmla="val 5517"/>
            </a:avLst>
          </a:prstGeom>
          <a:solidFill>
            <a:srgbClr val="162B41"/>
          </a:solidFill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GB" sz="1350"/>
          </a:p>
        </p:txBody>
      </p:sp>
      <p:sp>
        <p:nvSpPr>
          <p:cNvPr id="18" name="Shape 15"/>
          <p:cNvSpPr/>
          <p:nvPr/>
        </p:nvSpPr>
        <p:spPr>
          <a:xfrm>
            <a:off x="5829300" y="3857625"/>
            <a:ext cx="411480" cy="41148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GB" sz="1350"/>
          </a:p>
        </p:txBody>
      </p:sp>
      <p:sp>
        <p:nvSpPr>
          <p:cNvPr id="19" name="Text 16"/>
          <p:cNvSpPr/>
          <p:nvPr/>
        </p:nvSpPr>
        <p:spPr>
          <a:xfrm>
            <a:off x="5829300" y="3857625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0F22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377940" y="3717036"/>
            <a:ext cx="2297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6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context lean</a:t>
            </a:r>
            <a:endParaRPr lang="en-US" sz="1163" dirty="0"/>
          </a:p>
        </p:txBody>
      </p:sp>
      <p:sp>
        <p:nvSpPr>
          <p:cNvPr id="21" name="Text 18"/>
          <p:cNvSpPr/>
          <p:nvPr/>
        </p:nvSpPr>
        <p:spPr>
          <a:xfrm>
            <a:off x="6377940" y="4005072"/>
            <a:ext cx="229743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C2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 what’s relevant and trim the rest — focused context keeps answers in the reliable zone.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42900" y="4677156"/>
            <a:ext cx="8455914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r>
              <a:rPr lang="en-US" sz="1125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context you need — not all the context you can.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HONEST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 and how we keep it honest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075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167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every number to document and page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3350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checkable in seconds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110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scope tight; load only the skill you need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9385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the dumb zone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5237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exact maths to code, not the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5420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every time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4864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1272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it like a junior: explicit goals and guardrails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goal-drift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21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864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7307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before anything leaves the building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749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owns the call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where it must reconcile; non-deterministic where judgement helps — use each for what it is good at.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BACKGROUND JOB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Meanwhile, Claude was working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from minute 2: "Compare Clicks and Dis-Chem's latest results... cite every number."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514600"/>
          </a:xfrm>
          <a:prstGeom prst="roundRect">
            <a:avLst>
              <a:gd name="adj" fmla="val 21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— H1 FY2026 (6m to 28 Feb 2026)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751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31720" y="197510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R24,872.2m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11880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+7.4%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3591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HEPS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31720" y="2359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652.8c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11880" y="23591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+8.1%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743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margin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31720" y="2743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11880" y="2743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31272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DPS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31720" y="31272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258.0c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11880" y="3127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+8.4%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3639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H1 FY2026 interim results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3931920" cy="2514600"/>
          </a:xfrm>
          <a:prstGeom prst="roundRect">
            <a:avLst>
              <a:gd name="adj" fmla="val 21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9204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DIS-CHEM — FY2026 (12m to 28 Feb 2026)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9751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197510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R42,825.8m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26680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+9.3%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92040" y="23591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2359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113.7c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26680" y="23591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−17.3%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92040" y="2743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LFL retail sales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+5.3%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26680" y="2743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92040" y="31272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DPS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46520" y="31272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26680" y="3127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−42.8%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92040" y="3639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FY2026 audited AFS &amp; results presentation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periods differ (six vs twelve months, both to 28 February 2026) — a caveat Claude raised itself, with every figure cited to document and page.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Connectors: plug into your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947672" cy="214884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49808" y="15179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7" y="1623243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41401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research, models and notes — read in place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9192" y="1280160"/>
            <a:ext cx="1947672" cy="214884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2880360" y="15179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699" y="1623243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360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880360" y="241401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notes and results emails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09744" y="1280160"/>
            <a:ext cx="1947672" cy="214884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5010912" y="15179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6251" y="1623243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10912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010912" y="241401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material findings to the desk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940296" y="1280160"/>
            <a:ext cx="1947672" cy="214884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7141464" y="15179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803" y="1623243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41464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41464" y="241401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consensus (where licensed)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once by an admin. Afterwards Claude can cite internal models alongside public filings.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AllWeather, SharePoint becomes the system of record — detail in the roadmap.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skill from scratch: mining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idea, in one paragraph of plain English (let's write it together):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1737360"/>
          </a:xfrm>
          <a:prstGeom prst="roundRect">
            <a:avLst>
              <a:gd name="adj" fmla="val 3158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"Create a skill for analysing JSE mining results: pull revenue, EBITDA and margin, headline earnings and HEPS, net debt and net-debt-to-EBITDA, free cash flow and dividends — always versus the prior period, every figure cited to document and page. Flag commodity-price and rand sensitivity. Never invent a number; write 'not disclosed' where it is missing."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we're really doing: writing down how a mining analyst reads a result. That is all a skill is.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it come to life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the skill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70992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SKILL.md appears — read it back; it's plain English you can edit.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 miner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67004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"Apply it to the latest results" — it loads the new skill and works the loop.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2918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turn it into Excel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63016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a peer table as a formatted workbook" — same skill, a different output.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once, this skill now reads every miner on the JSE — this results season and every one after. That is the leverage.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skill, delivered as Excel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prompt: "Now turn the mining peer comparison into a formatted Excel workbook — one row per company, with a ratios-and-flags tab."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514600"/>
          </a:xfrm>
          <a:prstGeom prst="roundRect">
            <a:avLst>
              <a:gd name="adj" fmla="val 21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THE SKILL FILLS (1 of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751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(R'm)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31720" y="197510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11880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pcp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3591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31720" y="2359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11880" y="23591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743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EPS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31720" y="2743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11880" y="2743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pcp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31272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/ EBITDA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31720" y="31272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×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11880" y="3127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3639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to document &amp; page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3931920" cy="2514600"/>
          </a:xfrm>
          <a:prstGeom prst="roundRect">
            <a:avLst>
              <a:gd name="adj" fmla="val 21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9204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THE SKILL FILLS (2 of 2)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9751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197510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26680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pcp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92040" y="23591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/ share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2359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26680" y="23591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pcp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92040" y="2743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26680" y="2743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92040" y="31272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46520" y="31272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26680" y="3127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92040" y="3639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company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*Illustrative columns. The live build fills them with cited figures for real names — Anglo, BHP, Sasol, Gold Fields, Exxaro — every number sourced.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COMES FROM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Claude gets what it analyses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sites · SENS · filings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&amp; filed by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32588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61772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download skill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Chrome for hard sites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6772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52360" y="1325880"/>
            <a:ext cx="1325880" cy="1143000"/>
          </a:xfrm>
          <a:prstGeom prst="roundRect">
            <a:avLst>
              <a:gd name="adj" fmla="val 48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498080" y="14630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+ Claude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models &amp; notes join via the SharePoint connector — read in place, no migration.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&amp; fetch for anything public — prices, news, filings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download skill finds, names and files reports automatically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drives IR sites that block plain downloads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fetch, file write and connector sits behind a permission prompt — nothing happens silently.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from pilot to firm-wide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 workspace live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SharePoint; two pilot analysts; current coverage as the watchlist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9192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862072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62072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62072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estate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62072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research and Outlook broker notes wired in; team-wide read access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9744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992624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92624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6–10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92624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rhythm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92624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watchlist updates; IC pack generation; analysts writing their own skills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0296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123176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23176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23176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Firm-wide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Ops, compliance and IR monitoring; skill governance; all-staff training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milestone ships with its own one-page setup guide.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data lives: SharePoint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"JSE Research"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library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sync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32588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61772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working folder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(Cowork)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6772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52360" y="1325880"/>
            <a:ext cx="1325880" cy="1143000"/>
          </a:xfrm>
          <a:prstGeom prst="roundRect">
            <a:avLst>
              <a:gd name="adj" fmla="val 48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498080" y="14630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 /Research/[Company]/  read directly via the SharePoint connector — no migration needed.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Team-wide visibility, versioning and retention — for free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works on local synced files: fast and reliable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internal research readable in place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writer (the pilot analyst); everyone else reads via SharePoint — avoids sync conflicts.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TODAY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have in your hands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remember any of this — it's all written down, for two audiences: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6642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guide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PM and analyst: what Claude is, how to ask well, a prompt cheat-sheet. No code.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25328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Builder's guide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17320" y="28163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hands-on: the anatomy of a skill, the workspace, MCP connectors, maintenance.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772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34015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workspace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17320" y="36850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JSE workspace itself — yours to use, copy and grow. A starting point, not a finished product.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collaboration: we'll learn what works for AllWeather together, and the guides grow with us.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OBJECTIVES, REVISITED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— did we get there?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I opened with — and what you've now seen of each: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6642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watched Claude research two companies end-to-end, every figure cited — and turn one sentence into a peer-comparison spreadsheet.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25328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for you — and it compounds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17320" y="28163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wrote a brand-new mining skill in plain English, live. Written once, it now reads every miner on the JSE — this season and every season after.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772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34015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amplifies, it doesn't replace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17320" y="36850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removes your judgement. It hands back the hours around it, and shortens the path to the decision.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three I opened with. Now — what I'm asking for.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asking for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4173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two pilot analysts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1305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"JSE Research" SharePoint library and connector consent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48640" y="2862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84378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minutes in week two to review pilot output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0240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795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LANDSCAPE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vs Copilot, in more depth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2B367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CLAUDE LEADS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plain markdown: readable, diff-able, portable across machines and teams. Deep file and agent work with no M365 dependency — the easiest stack to inspect and trust.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COPILOT LEADS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inside M365: native to Word, Excel, Teams and SharePoint, with admin governance you know and no new vendor. Strong if you live in Microsoft.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2011680" y="36393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sit behind Copilot (OpenAI, Anthropic, Google) — so it may already be running Claude. Choose on fit and governance, not the model badge.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HOW IT THINKS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vs non-deterministic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075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167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by default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3350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→ slightly different wording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110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drafting, summarising, ideas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9385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is a feature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5237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for exact, repeatable maths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5420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becomes a bug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4864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1272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hand hard sums to code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returns one answer, always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21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864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7307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749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 judgement, code for arithmetic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 already does this: totals and ratios run in Python, not freehand by the model.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sentence in, an analysis 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52728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about Capitec"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110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89280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IR site; downloads the latest results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6946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4864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55117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Catalogues them in the document index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4864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0954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analyses — every figure cited to document and page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86791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note where the whole team can see 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15000" y="1234440"/>
            <a:ext cx="2926080" cy="3246120"/>
          </a:xfrm>
          <a:prstGeom prst="roundRect">
            <a:avLst>
              <a:gd name="adj" fmla="val 1875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94360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TODAY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0" y="1783080"/>
            <a:ext cx="1280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Shoprite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Dis-Chem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Woolworths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Price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60920" y="1783080"/>
            <a:ext cx="1188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Naspers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FirstRand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Richemont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Reinet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actually takes: about half a 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075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167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and the desktop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3350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· ~1 hour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110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folder and workspace configuration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9385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analyst · 30 min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5237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and the Chrome extension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5420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analyst · 20 min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4864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1272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library and connector consent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+ admin · 1–2 hours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21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864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7307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 against a tracked company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749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analyst · 15 min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 — including the gotchas we hit so you don't — accompanies this deck.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SECURITY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and data handling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26680" y="292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8930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1390254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34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Folder-scoped access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51790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and writes only the selected working folder — nothing else on the machine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13055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2231502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0756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permissions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88720" y="23591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command and web actions sit behind prompts; browser actions happen in a visible tab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90" y="3072750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9169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88720" y="3200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owners control web access and connectors centrally (Admin settings → Capabilities)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813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90" y="3913998"/>
            <a:ext cx="218724" cy="2187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75818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188720" y="40416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terms govern training and retention — confirm the current policy at docs.claude.com at decision time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COST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costs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26680" y="292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389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3898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Team or Enterprise, per seat. The pilot needs two seats.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77240" y="2167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216712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half a day of IT time. No servers, no infrastructure, no consultants.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724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(M4)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9443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seats per user. The workspace, skills and guides cost nothing to replicate.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77240" y="37216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37216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maintained by the people who use them — editing a text file, not a vendor contract.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per-seat pricing: anthropic.com/pricing — quote at time of decision.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COMPLIANCE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and compliance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26680" y="292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28016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only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0" y="1234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research support, never investment advice — stated on every analysis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193852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14400" y="1892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enable spot-checks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0" y="1892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figure traces to document and page in seconds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59689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14400" y="25511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0" y="25511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the building without an analyst's sign-off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25526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14400" y="32095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periods flagged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0" y="32095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Dealing restrictions surface automatically in meeting notes and analyses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91363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14400" y="38679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data flagged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0" y="38679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Garbled PDF extractions are reported for verification, not presented as fact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SETUP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setup checklist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26680" y="292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Install &amp; access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54533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Team/Enterprise licences with Cowork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on pilot machines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 enables Cowork + web access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Workspace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00600" y="154533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working folder; grant access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CLAUDE.md (the 'employee handbook')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in .claude/skills/ inside the folder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manifest tooling; never hand-edit the index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Permissions &amp; browser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32841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file/command/web prompts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+ connect the Chrome extension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SharePoint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00600" y="332841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'JSE Research' library; sync via OneDrive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synced folder as the working folder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SharePoint connector (admin consent)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writer to start; team reads via SharePoint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Verify: "what are we tracking?" → "tell me about Shoprite" → paste rough notes. All three should just work.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Claude?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frontier AI model. In chat it answers questions; used as an agent, it completes tasks.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49808" y="193852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8" y="2039478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19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25880" y="20116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reports, interims, SENS announcements, spreadsheets — hundreds of pages at a time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572768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956048" y="193852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998" y="2039478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719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532120" y="20116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notes, decks, models — in the house format, every time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871216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749808" y="323697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758" y="3337926"/>
            <a:ext cx="218724" cy="2187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017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325880" y="33101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IR pages, downloads filings, monitors announcements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871216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4956048" y="323697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998" y="3337926"/>
            <a:ext cx="218724" cy="2187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017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code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532120" y="33101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Calculations, file management, document tooling — checked, not guessed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that matters today: chat answers. An agent does.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Cowork: Claude with hands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24328" cy="2331720"/>
          </a:xfrm>
          <a:prstGeom prst="roundRect">
            <a:avLst>
              <a:gd name="adj" fmla="val 235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153619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57" y="1650309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505456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folder on your machine it can read and write — and nothing outside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1280160"/>
            <a:ext cx="2624328" cy="2331720"/>
          </a:xfrm>
          <a:prstGeom prst="roundRect">
            <a:avLst>
              <a:gd name="adj" fmla="val 235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3584448" y="153619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565" y="1650309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4448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584448" y="2505456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 real, visible Chrome tab for the IR sites that block simple downloads.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63056" y="1280160"/>
            <a:ext cx="2624328" cy="2331720"/>
          </a:xfrm>
          <a:prstGeom prst="roundRect">
            <a:avLst>
              <a:gd name="adj" fmla="val 235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6391656" y="153619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773" y="1650309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1656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391656" y="2505456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to SharePoint, Outlook, Teams — your data, with admin consent.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sits behind an explicit permission prompt. Nothing happens silently.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6434</Words>
  <Application>Microsoft Office PowerPoint</Application>
  <PresentationFormat>On-screen Show (16:9)</PresentationFormat>
  <Paragraphs>682</Paragraphs>
  <Slides>42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Courier New</vt:lpstr>
      <vt:lpstr>Georgia</vt:lpstr>
      <vt:lpstr>Trebuchet MS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All-Weather Analyst</dc:title>
  <dc:subject>PptxGenJS Presentation</dc:subject>
  <dc:creator>Simon Watkins</dc:creator>
  <cp:lastModifiedBy>Simon Watkins</cp:lastModifiedBy>
  <cp:revision>2</cp:revision>
  <dcterms:created xsi:type="dcterms:W3CDTF">2026-06-11T15:22:58Z</dcterms:created>
  <dcterms:modified xsi:type="dcterms:W3CDTF">2026-06-17T13:50:19Z</dcterms:modified>
</cp:coreProperties>
</file>