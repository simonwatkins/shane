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notesSlides/notesSlide28.xml" ContentType="application/vnd.openxmlformats-officedocument.presentationml.notesSlide+xml"/>
  <Override PartName="/ppt/notesSlides/notesSlide29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30.xml" ContentType="application/vnd.openxmlformats-officedocument.presentationml.notesSlide+xml"/>
  <Override PartName="/ppt/notesSlides/notesSlide31.xml" ContentType="application/vnd.openxmlformats-officedocument.presentationml.notesSlide+xml"/>
  <Override PartName="/ppt/notesSlides/notesSlide32.xml" ContentType="application/vnd.openxmlformats-officedocument.presentationml.notesSlide+xml"/>
  <Override PartName="/ppt/notesSlides/notesSlide33.xml" ContentType="application/vnd.openxmlformats-officedocument.presentationml.notesSlide+xml"/>
  <Override PartName="/ppt/notesSlides/notesSlide34.xml" ContentType="application/vnd.openxmlformats-officedocument.presentationml.notesSlide+xml"/>
  <Override PartName="/ppt/notesSlides/notesSlide35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78" r:id="rId29"/>
    <p:sldId id="257" r:id="rId3"/>
    <p:sldId id="279" r:id="rId30"/>
    <p:sldId id="280" r:id="rId31"/>
    <p:sldId id="258" r:id="rId4"/>
    <p:sldId id="259" r:id="rId5"/>
    <p:sldId id="261" r:id="rId7"/>
    <p:sldId id="281" r:id="rId32"/>
    <p:sldId id="282" r:id="rId33"/>
    <p:sldId id="262" r:id="rId8"/>
    <p:sldId id="263" r:id="rId9"/>
    <p:sldId id="265" r:id="rId11"/>
    <p:sldId id="283" r:id="rId34"/>
    <p:sldId id="266" r:id="rId12"/>
    <p:sldId id="260" r:id="rId6"/>
    <p:sldId id="285" r:id="rId36"/>
    <p:sldId id="286" r:id="rId37"/>
    <p:sldId id="269" r:id="rId15"/>
    <p:sldId id="267" r:id="rId13"/>
    <p:sldId id="268" r:id="rId14"/>
    <p:sldId id="284" r:id="rId35"/>
    <p:sldId id="287" r:id="rId38"/>
    <p:sldId id="270" r:id="rId16"/>
    <p:sldId id="272" r:id="rId18"/>
    <p:sldId id="288" r:id="rId39"/>
    <p:sldId id="273" r:id="rId19"/>
    <p:sldId id="289" r:id="rId40"/>
    <p:sldId id="290" r:id="rId41"/>
    <p:sldId id="264" r:id="rId10"/>
    <p:sldId id="271" r:id="rId17"/>
    <p:sldId id="274" r:id="rId20"/>
    <p:sldId id="275" r:id="rId21"/>
    <p:sldId id="276" r:id="rId22"/>
    <p:sldId id="277" r:id="rId23"/>
  </p:sldIdLst>
  <p:notesMasterIdLst>
    <p:notesMasterId r:id="rId24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3.xml"/><Relationship Id="rId4" Type="http://schemas.openxmlformats.org/officeDocument/2006/relationships/slide" Target="slides/slide6.xml"/><Relationship Id="rId5" Type="http://schemas.openxmlformats.org/officeDocument/2006/relationships/slide" Target="slides/slide7.xml"/><Relationship Id="rId6" Type="http://schemas.openxmlformats.org/officeDocument/2006/relationships/slide" Target="slides/slide16.xml"/><Relationship Id="rId7" Type="http://schemas.openxmlformats.org/officeDocument/2006/relationships/slide" Target="slides/slide8.xml"/><Relationship Id="rId8" Type="http://schemas.openxmlformats.org/officeDocument/2006/relationships/slide" Target="slides/slide11.xml"/><Relationship Id="rId9" Type="http://schemas.openxmlformats.org/officeDocument/2006/relationships/slide" Target="slides/slide12.xml"/><Relationship Id="rId10" Type="http://schemas.openxmlformats.org/officeDocument/2006/relationships/slide" Target="slides/slide30.xml"/><Relationship Id="rId11" Type="http://schemas.openxmlformats.org/officeDocument/2006/relationships/slide" Target="slides/slide13.xml"/><Relationship Id="rId12" Type="http://schemas.openxmlformats.org/officeDocument/2006/relationships/slide" Target="slides/slide15.xml"/><Relationship Id="rId13" Type="http://schemas.openxmlformats.org/officeDocument/2006/relationships/slide" Target="slides/slide20.xml"/><Relationship Id="rId14" Type="http://schemas.openxmlformats.org/officeDocument/2006/relationships/slide" Target="slides/slide21.xml"/><Relationship Id="rId15" Type="http://schemas.openxmlformats.org/officeDocument/2006/relationships/slide" Target="slides/slide19.xml"/><Relationship Id="rId16" Type="http://schemas.openxmlformats.org/officeDocument/2006/relationships/slide" Target="slides/slide24.xml"/><Relationship Id="rId17" Type="http://schemas.openxmlformats.org/officeDocument/2006/relationships/slide" Target="slides/slide31.xml"/><Relationship Id="rId18" Type="http://schemas.openxmlformats.org/officeDocument/2006/relationships/slide" Target="slides/slide25.xml"/><Relationship Id="rId19" Type="http://schemas.openxmlformats.org/officeDocument/2006/relationships/slide" Target="slides/slide27.xml"/><Relationship Id="rId20" Type="http://schemas.openxmlformats.org/officeDocument/2006/relationships/slide" Target="slides/slide32.xml"/><Relationship Id="rId21" Type="http://schemas.openxmlformats.org/officeDocument/2006/relationships/slide" Target="slides/slide33.xml"/><Relationship Id="rId22" Type="http://schemas.openxmlformats.org/officeDocument/2006/relationships/slide" Target="slides/slide34.xml"/><Relationship Id="rId23" Type="http://schemas.openxmlformats.org/officeDocument/2006/relationships/slide" Target="slides/slide35.xml"/><Relationship Id="rId24" Type="http://schemas.openxmlformats.org/officeDocument/2006/relationships/notesMaster" Target="notesMasters/notesMaster1.xml"/><Relationship Id="rId25" Type="http://schemas.openxmlformats.org/officeDocument/2006/relationships/presProps" Target="presProps.xml"/><Relationship Id="rId26" Type="http://schemas.openxmlformats.org/officeDocument/2006/relationships/viewProps" Target="viewProps.xml"/><Relationship Id="rId27" Type="http://schemas.openxmlformats.org/officeDocument/2006/relationships/theme" Target="theme/theme1.xml"/><Relationship Id="rId28" Type="http://schemas.openxmlformats.org/officeDocument/2006/relationships/tableStyles" Target="tableStyles.xml"/><Relationship Id="rId29" Type="http://schemas.openxmlformats.org/officeDocument/2006/relationships/slide" Target="slides/slide2.xml"/><Relationship Id="rId30" Type="http://schemas.openxmlformats.org/officeDocument/2006/relationships/slide" Target="slides/slide4.xml"/><Relationship Id="rId31" Type="http://schemas.openxmlformats.org/officeDocument/2006/relationships/slide" Target="slides/slide5.xml"/><Relationship Id="rId32" Type="http://schemas.openxmlformats.org/officeDocument/2006/relationships/slide" Target="slides/slide9.xml"/><Relationship Id="rId33" Type="http://schemas.openxmlformats.org/officeDocument/2006/relationships/slide" Target="slides/slide10.xml"/><Relationship Id="rId34" Type="http://schemas.openxmlformats.org/officeDocument/2006/relationships/slide" Target="slides/slide14.xml"/><Relationship Id="rId35" Type="http://schemas.openxmlformats.org/officeDocument/2006/relationships/slide" Target="slides/slide22.xml"/><Relationship Id="rId36" Type="http://schemas.openxmlformats.org/officeDocument/2006/relationships/slide" Target="slides/slide17.xml"/><Relationship Id="rId37" Type="http://schemas.openxmlformats.org/officeDocument/2006/relationships/slide" Target="slides/slide18.xml"/><Relationship Id="rId38" Type="http://schemas.openxmlformats.org/officeDocument/2006/relationships/slide" Target="slides/slide23.xml"/><Relationship Id="rId39" Type="http://schemas.openxmlformats.org/officeDocument/2006/relationships/slide" Target="slides/slide26.xml"/><Relationship Id="rId40" Type="http://schemas.openxmlformats.org/officeDocument/2006/relationships/slide" Target="slides/slide28.xml"/><Relationship Id="rId41" Type="http://schemas.openxmlformats.org/officeDocument/2006/relationships/slide" Target="slides/slide29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1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5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7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4.xml"/></Relationships>
</file>

<file path=ppt/notesSlides/_rels/notesSlide2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5.xml"/></Relationships>
</file>

<file path=ppt/notesSlides/_rels/notesSlide2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2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2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2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2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2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2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3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_rels/notesSlide3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3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3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6.xml"/></Relationships>
</file>

<file path=ppt/notesSlides/_rels/notesSlide3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8.xml"/></Relationships>
</file>

<file path=ppt/notesSlides/_rels/notesSlide3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Open warm, ~30s. "Thank you for your time — and your trust." Then the promise in one breath: by the end you'll have watched Claude research two JSE names end-to-end, seen where it can trip up, and watched a brand-new skill built live — from a sentence to a spreadsheet. Don't sell yet. [0:00–0:30]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CRITICAL STAGING: start Demo A now. Switch to Cowork, paste the Clicks-vs-Dis-Chem prompt (see prompts pack), hit enter, LEAVE IT RUNNING. One line: "I've just asked it to compare two retailers — we'll come back to it." Then walk the agenda fast. It runs ~20 min in the background; you harvest at slide 19. [1:30–3:00]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Quick grounding. Chat answers; an agent does. It reads (hundreds of pages), writes (your format), browses (IR sites), runs code (checked, not guessed). Don't dwell — the evolution slide did the conceptual lifting. ~60s. [6:15–7:15]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Cowork = Claude with hands: a folder it can read/write, a real visible browser, connectors to your systems. The reassurance line matters to leadership: every action sits behind a permission prompt, nothing happens silently. ~60s. [7:15–8:15]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Show a REAL SKILL.md on screen — it's just a document. Read 3-4 lines aloud so they hear how plain it is. This is the 'demystify' payoff before they watch one get built. ~60s. [18:00–19:00]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Sets up MCP and the data story later. It plugs into SharePoint/Outlook/Teams/Bloomberg — connected once by an admin. For AllWeather, SharePoint becomes the system of record. Brief — full data story comes after the demo. ~45s. [8:15–9:00]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Now: what I actually built. The before/after: hours of finding, downloading, re-keying per name — vs 'tell me about Capitec'. 10 JSE names tracked today, onboarded by asking, not building. ~60s. [12:00–13:00]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architecture in one line each: discovery → downloader → manifest → skill-builder → analyst. Everything in one shared folder. The self-healing line is a good hook: if a website changes and a download breaks, it re-discovers and repairs its own skill. ~75s. [13:00–14:15]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The end-to-end flow for a single name ('tell me about Capitec' → find → download → catalogue → analyse cited → save) plus the 10 tracked names. Use if someone wants the single-company walk-through.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LEADERSHIP SLIDE. Numbers are sacred; source everything; flag uncertainty; always prior-period context. These rules live in the workspace config — enforced every time, not left to memory. Slow down here. ~75s. [14:15–15:30]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 skill has three parts, all plain English: description (when to act), instructions (what to do), rules (what never to do). 'If you can brief a junior analyst, you can write one.' ~60s. [17:00–18:00]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DEMO B starts. Build a skill from scratch — write the prompt WITH the room (ask: what does a mining analyst look at first?). Paste the mining prompt from the pack. Narrate: we're just writing down how an analyst reads a result. Fallback skill is pre-built in case generation misfires. ~3 min. [25:30–28:30]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Three beats: it writes the SKILL.md (read a line back) → point it at a miner ('apply to the latest results') → then ask for Excel. Keep momentum; don't read every output line. ~2 min. [28:30–30:30]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HARVEST DEMO A: switch back to Cowork, show the finished Clicks-vs-Dis-Chem note. Walk 2-3 cited figures; point out it raised the 6-vs-12-month caveat ITSELF. If it didn't finish, use the fallback in presentation/fallback/. This is the 'it actually works' moment — let it land. Invite a question or two. ~3 min. [22:30–25:30 — flex]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Four milestones: M1 workspace live (2 pilots) → M2 connect the estate → M3 automate the rhythm (morning updates, IC packs, analyst-authored skills) → M4 firm-wide. Each ships a one-page guide. Compress — point, don't read. ~90s. [33:30–35:00]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What setup actually takes (~half a day): licences, workspace config, permissions+Chrome, SharePoint+consent, smoke tests. Full written guide accompanies the deck.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AllWeather-specific architecture: research root in a SharePoint library, OneDrive-synced locally so Cowork works on fast local files while the team sees the same docs (versioning/retention free). Honesty: one writer to start to avoid sync conflicts. ~75s. [35:00–36:15]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The three asks: nominate 2 pilot analysts; approve the SharePoint library + connector consent; 30 min in week 2 to review output. Then open Q&amp;A. Backups ready: Copilot deep-dive (28), determinism (29), security (32), cost (33), compliance (34), setup (31/35). [37:15–45:00]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Folder-scoped access; explicit permission prompts; admin controls; data handling (CONFIRM current Anthropic commercial terms at docs.claude.com before the session). The data-handling line is the one leadership will push on.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Team/Enterprise per seat; two seats for the pilot; setup ~half a day of IT; skills cost nothing to replicate. Quote current per-seat pricing at decision time (anthropic.com/pricing).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Informational only (never advice); citations enable spot-checks; human review before anything leaves; closed periods flagged; suspect PDF extractions flagged not presented.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BACKUP. The condensed end-to-end checklist if IT asks 'what do we actually do?'. Mirrors the written setup guide.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Who I am: senior developer at Trayport, lead on the Automated Trading platform. The 85% = scale and credibility — CONFIRM against Trayport's current public wording before the day. Land the humility line: I build the tech, my finance is self-taught, please correct me. It disarms the experts and buys goodwill. Add your UK retail-energy detail here if you have it. [0:30–1:30]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big idea, plain English. System 1 = fast, intuitive, one-shot (the early chatbots). Agents = it learns to plan, use tools, check itself (slow thinking — nod to Kahneman if the room likes it). Skills = it picks up your know-how only when needed. Today = combine all three = a colleague. Keep it to ~90s, no jargon. [3:00–5:30]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One model has read across human writing — calculus to cookbooks, annual reports to Sufi poetry. The point isn't trivia: the hard part is no longer operating the tool, it's knowing what to ask. That makes things EASIER, not harder. This reframes AI from threat to leverage. ~45s, then move. [5:30–6:15]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Answers the question everyone's thinking: does this replace us? No. It carries the routine 80% — finding, re-keying, first-draft. You keep judgement, conviction, relationships, accountability, the call. Why now: the tools just crossed from chat to colleague. Deliver the right-hand list with conviction. ~90s. [9:00–10:30]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Be even-handed — leadership is leaning Copilot. They ARE analogous: Copilot Cowork (Frontier, Mar 2026) is the same idea, also uses 'skills', and runs Claude among its models. Claude's edge: transparent, portable, plain-text skills, no lock-in. Copilot's edge: native to M365. The way of working ports either way — so this is low-risk whichever they pick. Full table is backup slide 28. ~90s. [10:30–12:00]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Glance at Demo A: 'it's read the interims, now comparing.' Explain the loop: Plan → Act (load the right skill only when needed) → Check &amp; repeat. The punchline sets up limitations: attention is finite, load everything at once and quality drops. ~90s. [15:30–17:00]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honesty slice — protects your credibility. Four failure modes: the dumb zone (finite attention), hallucination (confident errors), misalignment (goal drift), non-determinism (not a calculator). Say plainly: these are real. Then promise the fixes on the next slide. ~120s. [19:00–21:00]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mitigations, one per limit: cite everything; keep scope tight; send exact maths to code (deterministic); brief it explicitly; human sign-off. Bottom line is the keeper: deterministic where it must reconcile, non-deterministic where judgement helps. ~90s. [21:00–22:30]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Excel ask: same skill, new output — a formatted workbook, one row per company, ratios tab. THIS SLIDE IS AN ILLUSTRATIVE TEMPLATE (placeholders) — say so. If the live build lands, show the real .xlsx; otherwise this shows the structure. Name-drop real miners (Anglo, BHP, Sasol). ~90s. [30:30–32:00]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Where the data comes from: public web/IR/SENS → the download skill (+ Chrome for sites that block fetches) → your workspace; internal models via the SharePoint connector. The trust line: every fetch/write/connector is behind a permission prompt. ~90s. [32:00–33:30]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take-aways: an Everyday guide (PMs/analysts), a Builder's guide (hands-on), the live workspace itself. The message: this is a collaboration, a starting point, and the guides grow with us. ~60s. [36:15–37:15]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Use if pressed on Copilot. Where Claude leads: portable plain-text skills, no M365 dependency, easiest to inspect/trust. Where Copilot leads: native M365, familiar governance, no new vendor. The '3 models' point: Copilot may already be running Claude — choose on fit, not the badge.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BACKUP. If asked 'can I trust the numbers?': the model is non-deterministic (great for drafting, risky for exact maths), so exact sums run in code — one answer, always. The workspace already does this (manifest tooling in Python). Model for judgement, code for arithmetic.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4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image" Target="../media/image-10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0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3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4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5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3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9-1.png"/><Relationship Id="rId2" Type="http://schemas.openxmlformats.org/officeDocument/2006/relationships/image" Target="../media/image-19-2.png"/><Relationship Id="rId3" Type="http://schemas.openxmlformats.org/officeDocument/2006/relationships/image" Target="../media/image-19-3.png"/><Relationship Id="rId4" Type="http://schemas.openxmlformats.org/officeDocument/2006/relationships/image" Target="../media/image-19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19.xml"/></Relationships>
</file>

<file path=ppt/slides/_rels/slide3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/Relationships>
</file>

<file path=ppt/slides/_rels/slide3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/Relationships>
</file>

<file path=ppt/slides/_rels/slide3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6949440" y="-1463040"/>
            <a:ext cx="4023360" cy="4023360"/>
          </a:xfrm>
          <a:prstGeom prst="ellipse">
            <a:avLst/>
          </a:prstGeom>
          <a:solidFill>
            <a:srgbClr val="2B3674">
              <a:alpha val="55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7955280" y="3566160"/>
            <a:ext cx="2651760" cy="2651760"/>
          </a:xfrm>
          <a:prstGeom prst="ellipse">
            <a:avLst/>
          </a:prstGeom>
          <a:solidFill>
            <a:srgbClr val="2B3674">
              <a:alpha val="40000"/>
            </a:srgbClr>
          </a:solidFill>
          <a:ln/>
        </p:spPr>
      </p:sp>
      <p:sp>
        <p:nvSpPr>
          <p:cNvPr id="4" name="Text 2"/>
          <p:cNvSpPr/>
          <p:nvPr/>
        </p:nvSpPr>
        <p:spPr>
          <a:xfrm>
            <a:off x="685800" y="914400"/>
            <a:ext cx="6400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4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ALLWEATHER CAPITAL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640080" y="1417320"/>
            <a:ext cx="804672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2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An All-Weather Analyst</a:t>
            </a:r>
            <a:endParaRPr lang="en-US" sz="4200" dirty="0"/>
          </a:p>
        </p:txBody>
      </p:sp>
      <p:sp>
        <p:nvSpPr>
          <p:cNvPr id="6" name="Text 4"/>
          <p:cNvSpPr/>
          <p:nvPr/>
        </p:nvSpPr>
        <p:spPr>
          <a:xfrm>
            <a:off x="685800" y="2377440"/>
            <a:ext cx="73152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Bringing Claude into the investment process</a:t>
            </a:r>
            <a:endParaRPr lang="en-US" sz="1800" dirty="0"/>
          </a:p>
        </p:txBody>
      </p:sp>
      <p:sp>
        <p:nvSpPr>
          <p:cNvPr id="7" name="Text 5"/>
          <p:cNvSpPr/>
          <p:nvPr/>
        </p:nvSpPr>
        <p:spPr>
          <a:xfrm>
            <a:off x="685800" y="2852928"/>
            <a:ext cx="7315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Milestone 1 — the JSE research workspace, live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685800" y="4434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Simon Watkins  ·  June 2026</a:t>
            </a:r>
            <a:endParaRPr lang="en-US" sz="11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INTRODUCTION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I'm coming from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2B367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JOB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Senior developer at Trayport, London — a lead engineer on our Automated Trading platform: the algorithmic layer that executes directly into European energy markets.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MY ANGLE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build the technology, not the trading strategy — my own finance is self-taught. Where I get it wrong, I ask your patience and your corrections.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85%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2011680" y="36393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of European utilities' derivatives trading flows across our platform — a business that has embraced AI at every level. Let me show you what that looks like.</a:t>
            </a:r>
            <a:endParaRPr lang="en-US" sz="14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AGENDA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next 45 minutes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0700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00–03</a:t>
            </a:r>
            <a:endParaRPr lang="en-US" sz="1300" dirty="0"/>
          </a:p>
        </p:txBody>
      </p:sp>
      <p:sp>
        <p:nvSpPr>
          <p:cNvPr id="5" name="Text 3"/>
          <p:cNvSpPr/>
          <p:nvPr/>
        </p:nvSpPr>
        <p:spPr>
          <a:xfrm>
            <a:off x="1508760" y="120700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I am — and a live demo, started immediately</a:t>
            </a:r>
            <a:endParaRPr lang="en-US" sz="1350" dirty="0"/>
          </a:p>
        </p:txBody>
      </p:sp>
      <p:sp>
        <p:nvSpPr>
          <p:cNvPr id="6" name="Text 4"/>
          <p:cNvSpPr/>
          <p:nvPr/>
        </p:nvSpPr>
        <p:spPr>
          <a:xfrm>
            <a:off x="548640" y="1719072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03–13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1508760" y="1719072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we got here, and what Claude really is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548640" y="2231136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13–22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508760" y="2231136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 I built — working as we watch</a:t>
            </a:r>
            <a:endParaRPr lang="en-US" sz="1350" dirty="0"/>
          </a:p>
        </p:txBody>
      </p:sp>
      <p:sp>
        <p:nvSpPr>
          <p:cNvPr id="10" name="Text 8"/>
          <p:cNvSpPr/>
          <p:nvPr/>
        </p:nvSpPr>
        <p:spPr>
          <a:xfrm>
            <a:off x="548640" y="2743200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22–30</a:t>
            </a:r>
            <a:endParaRPr lang="en-US" sz="1300" dirty="0"/>
          </a:p>
        </p:txBody>
      </p:sp>
      <p:sp>
        <p:nvSpPr>
          <p:cNvPr id="11" name="Text 9"/>
          <p:cNvSpPr/>
          <p:nvPr/>
        </p:nvSpPr>
        <p:spPr>
          <a:xfrm>
            <a:off x="1508760" y="2743200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limits, staying honest — and the result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548640" y="3255264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30–38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1508760" y="3255264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 skill live: mining to Excel (no code)</a:t>
            </a:r>
            <a:endParaRPr lang="en-US" sz="1350" dirty="0"/>
          </a:p>
        </p:txBody>
      </p:sp>
      <p:sp>
        <p:nvSpPr>
          <p:cNvPr id="14" name="Text 12"/>
          <p:cNvSpPr/>
          <p:nvPr/>
        </p:nvSpPr>
        <p:spPr>
          <a:xfrm>
            <a:off x="548640" y="3767328"/>
            <a:ext cx="8686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38–45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508760" y="3767328"/>
            <a:ext cx="40690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Q&amp;A</a:t>
            </a:r>
            <a:endParaRPr lang="en-US" sz="1350" dirty="0"/>
          </a:p>
        </p:txBody>
      </p:sp>
      <p:sp>
        <p:nvSpPr>
          <p:cNvPr id="16" name="Shape 14"/>
          <p:cNvSpPr/>
          <p:nvPr/>
        </p:nvSpPr>
        <p:spPr>
          <a:xfrm>
            <a:off x="5897880" y="1207008"/>
            <a:ext cx="2743200" cy="2926080"/>
          </a:xfrm>
          <a:prstGeom prst="roundRect">
            <a:avLst>
              <a:gd name="adj" fmla="val 2000"/>
            </a:avLst>
          </a:prstGeom>
          <a:solidFill>
            <a:srgbClr val="EEF3FC"/>
          </a:solidFill>
          <a:ln/>
        </p:spPr>
      </p:sp>
      <p:sp>
        <p:nvSpPr>
          <p:cNvPr id="17" name="Text 15"/>
          <p:cNvSpPr/>
          <p:nvPr/>
        </p:nvSpPr>
        <p:spPr>
          <a:xfrm>
            <a:off x="6126480" y="1417320"/>
            <a:ext cx="2286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PROMISE</a:t>
            </a:r>
            <a:endParaRPr lang="en-US" sz="1050" dirty="0"/>
          </a:p>
        </p:txBody>
      </p:sp>
      <p:sp>
        <p:nvSpPr>
          <p:cNvPr id="18" name="Text 16"/>
          <p:cNvSpPr/>
          <p:nvPr/>
        </p:nvSpPr>
        <p:spPr>
          <a:xfrm>
            <a:off x="6126480" y="1783080"/>
            <a:ext cx="2331720" cy="1737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By the end you'll have watched Claude research two JSE companies end-to-end, seen exactly where it can trip up — and watched a brand-new skill built live, from a sentence to a spreadsheet.</a:t>
            </a:r>
            <a:endParaRPr lang="en-US" sz="1300" dirty="0"/>
          </a:p>
        </p:txBody>
      </p:sp>
      <p:sp>
        <p:nvSpPr>
          <p:cNvPr id="19" name="Text 17"/>
          <p:cNvSpPr/>
          <p:nvPr/>
        </p:nvSpPr>
        <p:spPr>
          <a:xfrm>
            <a:off x="6126480" y="3520440"/>
            <a:ext cx="22860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code involved.</a:t>
            </a:r>
            <a:endParaRPr lang="en-US" sz="13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we got here, in three big steps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2022–23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1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Prompt in, answer out. Brilliant, instant, intuitive — but one shot, no plan, no memory. The fast, reflexive kind of thinking.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9192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2862072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62072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2024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62072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Agents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62072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learns to pause and plan: break a job into steps, use tools, check its own work, keep going. Slow, deliberate thinking arrives.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9744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4992624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92624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2025–26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92624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92624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Plain-English know-how it picks up only when a task needs it — your house style, your rules, on tap.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0296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/>
          <p:nvPr/>
        </p:nvSpPr>
        <p:spPr>
          <a:xfrm>
            <a:off x="7123176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Now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23176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three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23176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colleague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Combine them and you get something that doesn't just answer — it does the work, your way. That's what we'll watch.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step made the tool do more of the work — and made it easier to use, not harder.</a:t>
            </a:r>
            <a:endParaRPr lang="en-US" sz="13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SHIFT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Trained on (almost) everything we've written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model has read across the breadth of human writing: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1737360"/>
          </a:xfrm>
          <a:prstGeom prst="roundRect">
            <a:avLst>
              <a:gd name="adj" fmla="val 3158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Calculus textbooks and cookbooks. Annual reports and Sufi poetry. Case law, clinical trials, code, and centuries of argument — compressed into one system you brief in plain English.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That's the real shift: the hard part is no longer operating the tool. It's knowing what to ask — which makes things easier, not harder.</a:t>
            </a:r>
            <a:endParaRPr lang="en-US" sz="14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is Claude?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frontier AI model. In chat it answers questions; used as an agent, it completes tasks.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72768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EEF3FC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19385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7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58" y="2039478"/>
            <a:ext cx="218724" cy="218724"/>
          </a:xfrm>
          <a:prstGeom prst="rect">
            <a:avLst/>
          </a:prstGeom>
        </p:spPr>
      </p:pic>
      <p:sp>
        <p:nvSpPr>
          <p:cNvPr id="8" name="Text 5"/>
          <p:cNvSpPr/>
          <p:nvPr/>
        </p:nvSpPr>
        <p:spPr>
          <a:xfrm>
            <a:off x="1325880" y="1719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</a:t>
            </a:r>
            <a:endParaRPr lang="en-US" sz="1450" dirty="0"/>
          </a:p>
        </p:txBody>
      </p:sp>
      <p:sp>
        <p:nvSpPr>
          <p:cNvPr id="9" name="Text 6"/>
          <p:cNvSpPr/>
          <p:nvPr/>
        </p:nvSpPr>
        <p:spPr>
          <a:xfrm>
            <a:off x="1325880" y="20116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Annual reports, interims, SENS announcements, spreadsheets — hundreds of pages at a time</a:t>
            </a:r>
            <a:endParaRPr lang="en-US" sz="1100" dirty="0"/>
          </a:p>
        </p:txBody>
      </p:sp>
      <p:sp>
        <p:nvSpPr>
          <p:cNvPr id="10" name="Shape 7"/>
          <p:cNvSpPr/>
          <p:nvPr/>
        </p:nvSpPr>
        <p:spPr>
          <a:xfrm>
            <a:off x="4754880" y="1572768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EEF3FC"/>
          </a:solidFill>
          <a:ln/>
        </p:spPr>
      </p:sp>
      <p:sp>
        <p:nvSpPr>
          <p:cNvPr id="11" name="Shape 8"/>
          <p:cNvSpPr/>
          <p:nvPr/>
        </p:nvSpPr>
        <p:spPr>
          <a:xfrm>
            <a:off x="4956048" y="193852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2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998" y="2039478"/>
            <a:ext cx="218724" cy="218724"/>
          </a:xfrm>
          <a:prstGeom prst="rect">
            <a:avLst/>
          </a:prstGeom>
        </p:spPr>
      </p:pic>
      <p:sp>
        <p:nvSpPr>
          <p:cNvPr id="13" name="Text 9"/>
          <p:cNvSpPr/>
          <p:nvPr/>
        </p:nvSpPr>
        <p:spPr>
          <a:xfrm>
            <a:off x="5532120" y="1719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</a:t>
            </a:r>
            <a:endParaRPr lang="en-US" sz="1450" dirty="0"/>
          </a:p>
        </p:txBody>
      </p:sp>
      <p:sp>
        <p:nvSpPr>
          <p:cNvPr id="14" name="Text 10"/>
          <p:cNvSpPr/>
          <p:nvPr/>
        </p:nvSpPr>
        <p:spPr>
          <a:xfrm>
            <a:off x="5532120" y="2011680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Analysis notes, decks, models — in the house format, every time</a:t>
            </a:r>
            <a:endParaRPr lang="en-US" sz="1100" dirty="0"/>
          </a:p>
        </p:txBody>
      </p:sp>
      <p:sp>
        <p:nvSpPr>
          <p:cNvPr id="15" name="Shape 11"/>
          <p:cNvSpPr/>
          <p:nvPr/>
        </p:nvSpPr>
        <p:spPr>
          <a:xfrm>
            <a:off x="548640" y="2871216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EEF3FC"/>
          </a:solidFill>
          <a:ln/>
        </p:spPr>
      </p:sp>
      <p:sp>
        <p:nvSpPr>
          <p:cNvPr id="16" name="Shape 12"/>
          <p:cNvSpPr/>
          <p:nvPr/>
        </p:nvSpPr>
        <p:spPr>
          <a:xfrm>
            <a:off x="749808" y="323697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7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8" y="3337926"/>
            <a:ext cx="218724" cy="218724"/>
          </a:xfrm>
          <a:prstGeom prst="rect">
            <a:avLst/>
          </a:prstGeom>
        </p:spPr>
      </p:pic>
      <p:sp>
        <p:nvSpPr>
          <p:cNvPr id="18" name="Text 13"/>
          <p:cNvSpPr/>
          <p:nvPr/>
        </p:nvSpPr>
        <p:spPr>
          <a:xfrm>
            <a:off x="1325880" y="3017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Browses</a:t>
            </a:r>
            <a:endParaRPr lang="en-US" sz="1450" dirty="0"/>
          </a:p>
        </p:txBody>
      </p:sp>
      <p:sp>
        <p:nvSpPr>
          <p:cNvPr id="19" name="Text 14"/>
          <p:cNvSpPr/>
          <p:nvPr/>
        </p:nvSpPr>
        <p:spPr>
          <a:xfrm>
            <a:off x="1325880" y="33101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IR pages, downloads filings, monitors announcements</a:t>
            </a:r>
            <a:endParaRPr lang="en-US" sz="1100" dirty="0"/>
          </a:p>
        </p:txBody>
      </p:sp>
      <p:sp>
        <p:nvSpPr>
          <p:cNvPr id="20" name="Shape 15"/>
          <p:cNvSpPr/>
          <p:nvPr/>
        </p:nvSpPr>
        <p:spPr>
          <a:xfrm>
            <a:off x="4754880" y="2871216"/>
            <a:ext cx="3931920" cy="1152144"/>
          </a:xfrm>
          <a:prstGeom prst="roundRect">
            <a:avLst>
              <a:gd name="adj" fmla="val 4762"/>
            </a:avLst>
          </a:prstGeom>
          <a:solidFill>
            <a:srgbClr val="EEF3FC"/>
          </a:solidFill>
          <a:ln/>
        </p:spPr>
      </p:sp>
      <p:sp>
        <p:nvSpPr>
          <p:cNvPr id="21" name="Shape 16"/>
          <p:cNvSpPr/>
          <p:nvPr/>
        </p:nvSpPr>
        <p:spPr>
          <a:xfrm>
            <a:off x="4956048" y="3236976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2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998" y="3337926"/>
            <a:ext cx="218724" cy="218724"/>
          </a:xfrm>
          <a:prstGeom prst="rect">
            <a:avLst/>
          </a:prstGeom>
        </p:spPr>
      </p:pic>
      <p:sp>
        <p:nvSpPr>
          <p:cNvPr id="23" name="Text 17"/>
          <p:cNvSpPr/>
          <p:nvPr/>
        </p:nvSpPr>
        <p:spPr>
          <a:xfrm>
            <a:off x="5532120" y="3017520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Runs code</a:t>
            </a:r>
            <a:endParaRPr lang="en-US" sz="1450" dirty="0"/>
          </a:p>
        </p:txBody>
      </p:sp>
      <p:sp>
        <p:nvSpPr>
          <p:cNvPr id="24" name="Text 18"/>
          <p:cNvSpPr/>
          <p:nvPr/>
        </p:nvSpPr>
        <p:spPr>
          <a:xfrm>
            <a:off x="5532120" y="3310128"/>
            <a:ext cx="301752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Calculations, file management, document tooling — checked, not guessed</a:t>
            </a:r>
            <a:endParaRPr lang="en-US" sz="1100" dirty="0"/>
          </a:p>
        </p:txBody>
      </p:sp>
      <p:sp>
        <p:nvSpPr>
          <p:cNvPr id="25" name="Text 19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difference that matters today: chat answers. An agent does.</a:t>
            </a:r>
            <a:endParaRPr lang="en-US" sz="13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Cowork: Claude with hands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2624328" cy="2331720"/>
          </a:xfrm>
          <a:prstGeom prst="roundRect">
            <a:avLst>
              <a:gd name="adj" fmla="val 2353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77240" y="153619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91357" y="1650309"/>
            <a:ext cx="247254" cy="24725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77240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folder</a:t>
            </a:r>
            <a:endParaRPr lang="en-US" sz="1550" dirty="0"/>
          </a:p>
        </p:txBody>
      </p:sp>
      <p:sp>
        <p:nvSpPr>
          <p:cNvPr id="8" name="Text 5"/>
          <p:cNvSpPr/>
          <p:nvPr/>
        </p:nvSpPr>
        <p:spPr>
          <a:xfrm>
            <a:off x="777240" y="2505456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working folder on your machine it can read and write — and nothing outside it.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3355848" y="1280160"/>
            <a:ext cx="2624328" cy="2331720"/>
          </a:xfrm>
          <a:prstGeom prst="roundRect">
            <a:avLst>
              <a:gd name="adj" fmla="val 2353"/>
            </a:avLst>
          </a:prstGeom>
          <a:solidFill>
            <a:srgbClr val="EEF3FC"/>
          </a:solidFill>
          <a:ln/>
        </p:spPr>
      </p:sp>
      <p:sp>
        <p:nvSpPr>
          <p:cNvPr id="10" name="Shape 7"/>
          <p:cNvSpPr/>
          <p:nvPr/>
        </p:nvSpPr>
        <p:spPr>
          <a:xfrm>
            <a:off x="3584448" y="153619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98565" y="1650309"/>
            <a:ext cx="247254" cy="24725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584448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browser</a:t>
            </a:r>
            <a:endParaRPr lang="en-US" sz="1550" dirty="0"/>
          </a:p>
        </p:txBody>
      </p:sp>
      <p:sp>
        <p:nvSpPr>
          <p:cNvPr id="13" name="Text 9"/>
          <p:cNvSpPr/>
          <p:nvPr/>
        </p:nvSpPr>
        <p:spPr>
          <a:xfrm>
            <a:off x="3584448" y="2505456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Drives a real, visible Chrome tab for the IR sites that block simple downloads.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6163056" y="1280160"/>
            <a:ext cx="2624328" cy="2331720"/>
          </a:xfrm>
          <a:prstGeom prst="roundRect">
            <a:avLst>
              <a:gd name="adj" fmla="val 2353"/>
            </a:avLst>
          </a:prstGeom>
          <a:solidFill>
            <a:srgbClr val="EEF3FC"/>
          </a:solidFill>
          <a:ln/>
        </p:spPr>
      </p:sp>
      <p:sp>
        <p:nvSpPr>
          <p:cNvPr id="15" name="Shape 11"/>
          <p:cNvSpPr/>
          <p:nvPr/>
        </p:nvSpPr>
        <p:spPr>
          <a:xfrm>
            <a:off x="6391656" y="1536192"/>
            <a:ext cx="475488" cy="475488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505773" y="1650309"/>
            <a:ext cx="247254" cy="24725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391656" y="2176272"/>
            <a:ext cx="219456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systems</a:t>
            </a:r>
            <a:endParaRPr lang="en-US" sz="1550" dirty="0"/>
          </a:p>
        </p:txBody>
      </p:sp>
      <p:sp>
        <p:nvSpPr>
          <p:cNvPr id="18" name="Text 13"/>
          <p:cNvSpPr/>
          <p:nvPr/>
        </p:nvSpPr>
        <p:spPr>
          <a:xfrm>
            <a:off x="6391656" y="2505456"/>
            <a:ext cx="2194560" cy="10058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Connectors to SharePoint, Outlook, Teams — your data, with admin consent.</a:t>
            </a:r>
            <a:endParaRPr lang="en-US" sz="1150" dirty="0"/>
          </a:p>
        </p:txBody>
      </p:sp>
      <p:sp>
        <p:nvSpPr>
          <p:cNvPr id="19" name="Text 14"/>
          <p:cNvSpPr/>
          <p:nvPr/>
        </p:nvSpPr>
        <p:spPr>
          <a:xfrm>
            <a:off x="548640" y="39776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action sits behind an explicit permission prompt. Nothing happens silently.</a:t>
            </a:r>
            <a:endParaRPr lang="en-US" sz="13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Connectors: plug into your tools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947672" cy="214884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5179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5147" y="1623243"/>
            <a:ext cx="228234" cy="22823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749808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749808" y="241401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research, models and notes — read in place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679192" y="1280160"/>
            <a:ext cx="1947672" cy="214884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10" name="Shape 7"/>
          <p:cNvSpPr/>
          <p:nvPr/>
        </p:nvSpPr>
        <p:spPr>
          <a:xfrm>
            <a:off x="2880360" y="15179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85699" y="1623243"/>
            <a:ext cx="228234" cy="22823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2880360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Outlook</a:t>
            </a:r>
            <a:endParaRPr lang="en-US" sz="1400" dirty="0"/>
          </a:p>
        </p:txBody>
      </p:sp>
      <p:sp>
        <p:nvSpPr>
          <p:cNvPr id="13" name="Text 9"/>
          <p:cNvSpPr/>
          <p:nvPr/>
        </p:nvSpPr>
        <p:spPr>
          <a:xfrm>
            <a:off x="2880360" y="241401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Broker notes and results emails</a:t>
            </a:r>
            <a:endParaRPr lang="en-US" sz="1050" dirty="0"/>
          </a:p>
        </p:txBody>
      </p:sp>
      <p:sp>
        <p:nvSpPr>
          <p:cNvPr id="14" name="Shape 10"/>
          <p:cNvSpPr/>
          <p:nvPr/>
        </p:nvSpPr>
        <p:spPr>
          <a:xfrm>
            <a:off x="4809744" y="1280160"/>
            <a:ext cx="1947672" cy="214884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15" name="Shape 11"/>
          <p:cNvSpPr/>
          <p:nvPr/>
        </p:nvSpPr>
        <p:spPr>
          <a:xfrm>
            <a:off x="5010912" y="15179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16251" y="1623243"/>
            <a:ext cx="228234" cy="22823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5010912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Teams</a:t>
            </a:r>
            <a:endParaRPr lang="en-US" sz="1400" dirty="0"/>
          </a:p>
        </p:txBody>
      </p:sp>
      <p:sp>
        <p:nvSpPr>
          <p:cNvPr id="18" name="Text 13"/>
          <p:cNvSpPr/>
          <p:nvPr/>
        </p:nvSpPr>
        <p:spPr>
          <a:xfrm>
            <a:off x="5010912" y="241401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material findings to the desk</a:t>
            </a:r>
            <a:endParaRPr lang="en-US" sz="1050" dirty="0"/>
          </a:p>
        </p:txBody>
      </p:sp>
      <p:sp>
        <p:nvSpPr>
          <p:cNvPr id="19" name="Shape 14"/>
          <p:cNvSpPr/>
          <p:nvPr/>
        </p:nvSpPr>
        <p:spPr>
          <a:xfrm>
            <a:off x="6940296" y="1280160"/>
            <a:ext cx="1947672" cy="214884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20" name="Shape 15"/>
          <p:cNvSpPr/>
          <p:nvPr/>
        </p:nvSpPr>
        <p:spPr>
          <a:xfrm>
            <a:off x="7141464" y="1517904"/>
            <a:ext cx="438912" cy="438912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246803" y="1623243"/>
            <a:ext cx="228234" cy="22823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141464" y="2103120"/>
            <a:ext cx="16002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Bloomberg</a:t>
            </a:r>
            <a:endParaRPr lang="en-US" sz="1400" dirty="0"/>
          </a:p>
        </p:txBody>
      </p:sp>
      <p:sp>
        <p:nvSpPr>
          <p:cNvPr id="23" name="Text 17"/>
          <p:cNvSpPr/>
          <p:nvPr/>
        </p:nvSpPr>
        <p:spPr>
          <a:xfrm>
            <a:off x="7141464" y="2414016"/>
            <a:ext cx="16002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Pricing and consensus (where licensed)</a:t>
            </a:r>
            <a:endParaRPr lang="en-US" sz="1050" dirty="0"/>
          </a:p>
        </p:txBody>
      </p:sp>
      <p:sp>
        <p:nvSpPr>
          <p:cNvPr id="24" name="Text 18"/>
          <p:cNvSpPr/>
          <p:nvPr/>
        </p:nvSpPr>
        <p:spPr>
          <a:xfrm>
            <a:off x="548640" y="379476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Connected once by an admin. Afterwards Claude can cite internal models alongside public filings.</a:t>
            </a:r>
            <a:endParaRPr lang="en-US" sz="1300" dirty="0"/>
          </a:p>
        </p:txBody>
      </p:sp>
      <p:sp>
        <p:nvSpPr>
          <p:cNvPr id="25" name="Text 19"/>
          <p:cNvSpPr/>
          <p:nvPr/>
        </p:nvSpPr>
        <p:spPr>
          <a:xfrm>
            <a:off x="548640" y="41605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AllWeather, SharePoint becomes the system of record — detail in the roadmap.</a:t>
            </a:r>
            <a:endParaRPr lang="en-US" sz="13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PEOPLE + CLAUDE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does — and where you stay essential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52728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and reads the filings — hundreds of pages in minutes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110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9280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Re-keys and cross-checks every number, each one cited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6946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55117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Drafts the first pass in your house format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0954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tires, never cuts a corner, ready before the open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86791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routine 80% — so you begin at the judgement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0" y="1234440"/>
            <a:ext cx="2926080" cy="3246120"/>
          </a:xfrm>
          <a:prstGeom prst="roundRect">
            <a:avLst>
              <a:gd name="adj" fmla="val 1875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YOU DECIDE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0" y="1783080"/>
            <a:ext cx="1280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Judgement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Conviction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Accountability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60920" y="1783080"/>
            <a:ext cx="1188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Scepticism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Originality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Timing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Clients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call</a:t>
            </a:r>
            <a:endParaRPr lang="en-US" sz="12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LANDSCAPE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Cowork vs Copilot "Cowork"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2B367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COWORK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plain text you can read, version and share. Radically transparent and portable, with no platform lock-in. A research preview today.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COPILOT COWORK (FRONTIER)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Microsoft’s analogue, launched March 2026. Native to the M365 estate you already run, also built on reusable "skills" — and it runs Claude among its models.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≈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2011680" y="36393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Genuinely analogous. The real choice is fit — your estate, governance and how much transparency you want — and the way of working ports either way.</a:t>
            </a:r>
            <a:endParaRPr lang="en-US" sz="14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JSE coverage, before and after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2B367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BEFORE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 the IR page → download the PDF → re-key the numbers → only then, analysis. Hours per name, every results season.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about Capitec." Discovery, downloads, cataloguing and a cited first-pass analysis happen on their own.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10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2011680" y="36393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 companies tracked in the pilot workspace today — onboarded by asking, not by building</a:t>
            </a:r>
            <a:endParaRPr lang="en-US" sz="14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Five skills, one pipeline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02920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612648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Discovery</a:t>
            </a:r>
            <a:endParaRPr lang="en-US" sz="1200" dirty="0"/>
          </a:p>
        </p:txBody>
      </p:sp>
      <p:sp>
        <p:nvSpPr>
          <p:cNvPr id="6" name="Text 4"/>
          <p:cNvSpPr/>
          <p:nvPr/>
        </p:nvSpPr>
        <p:spPr>
          <a:xfrm>
            <a:off x="612648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company's IR site and maps where documents live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1993392" y="20299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2212848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2322576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Downloader</a:t>
            </a:r>
            <a:endParaRPr lang="en-US" sz="1200" dirty="0"/>
          </a:p>
        </p:txBody>
      </p:sp>
      <p:sp>
        <p:nvSpPr>
          <p:cNvPr id="10" name="Text 8"/>
          <p:cNvSpPr/>
          <p:nvPr/>
        </p:nvSpPr>
        <p:spPr>
          <a:xfrm>
            <a:off x="2322576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Fetches reports, SENS, presentations — automatically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3703320" y="20299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2" name="Shape 10"/>
          <p:cNvSpPr/>
          <p:nvPr/>
        </p:nvSpPr>
        <p:spPr>
          <a:xfrm>
            <a:off x="3922776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</p:sp>
      <p:sp>
        <p:nvSpPr>
          <p:cNvPr id="13" name="Text 11"/>
          <p:cNvSpPr/>
          <p:nvPr/>
        </p:nvSpPr>
        <p:spPr>
          <a:xfrm>
            <a:off x="4032504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Manifest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032504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Catalogues everything; surfaces gaps and what's due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413248" y="20299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16" name="Shape 14"/>
          <p:cNvSpPr/>
          <p:nvPr/>
        </p:nvSpPr>
        <p:spPr>
          <a:xfrm>
            <a:off x="5632704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</p:sp>
      <p:sp>
        <p:nvSpPr>
          <p:cNvPr id="17" name="Text 15"/>
          <p:cNvSpPr/>
          <p:nvPr/>
        </p:nvSpPr>
        <p:spPr>
          <a:xfrm>
            <a:off x="5742432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Skill-builder</a:t>
            </a:r>
            <a:endParaRPr lang="en-US" sz="1200" dirty="0"/>
          </a:p>
        </p:txBody>
      </p:sp>
      <p:sp>
        <p:nvSpPr>
          <p:cNvPr id="18" name="Text 16"/>
          <p:cNvSpPr/>
          <p:nvPr/>
        </p:nvSpPr>
        <p:spPr>
          <a:xfrm>
            <a:off x="5742432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Writes the company its own skill, so next time is instant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7123176" y="2029968"/>
            <a:ext cx="228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7342632" y="1371600"/>
            <a:ext cx="1499616" cy="1691640"/>
          </a:xfrm>
          <a:prstGeom prst="roundRect">
            <a:avLst>
              <a:gd name="adj" fmla="val 3659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7452360" y="1517904"/>
            <a:ext cx="12801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Analyst</a:t>
            </a:r>
            <a:endParaRPr lang="en-US" sz="1200" dirty="0"/>
          </a:p>
        </p:txBody>
      </p:sp>
      <p:sp>
        <p:nvSpPr>
          <p:cNvPr id="22" name="Text 20"/>
          <p:cNvSpPr/>
          <p:nvPr/>
        </p:nvSpPr>
        <p:spPr>
          <a:xfrm>
            <a:off x="7452360" y="1828800"/>
            <a:ext cx="128016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9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Standardised, cited analysis from local documents</a:t>
            </a:r>
            <a:endParaRPr lang="en-US" sz="950" dirty="0"/>
          </a:p>
        </p:txBody>
      </p:sp>
      <p:sp>
        <p:nvSpPr>
          <p:cNvPr id="23" name="Text 21"/>
          <p:cNvSpPr/>
          <p:nvPr/>
        </p:nvSpPr>
        <p:spPr>
          <a:xfrm>
            <a:off x="548640" y="342900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Everything lives in one shared folder — documents, index, skills, configuration. Portable, inspectable, versioned.</a:t>
            </a:r>
            <a:endParaRPr lang="en-US" sz="1300" dirty="0"/>
          </a:p>
        </p:txBody>
      </p:sp>
      <p:sp>
        <p:nvSpPr>
          <p:cNvPr id="24" name="Text 22"/>
          <p:cNvSpPr/>
          <p:nvPr/>
        </p:nvSpPr>
        <p:spPr>
          <a:xfrm>
            <a:off x="548640" y="38404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website changes and a download breaks, the workspace re-discovers the source and repairs its own skill.</a:t>
            </a:r>
            <a:endParaRPr lang="en-US" sz="13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Built to be trusted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EEF3FC"/>
          </a:solidFill>
          <a:ln/>
        </p:spPr>
      </p:sp>
      <p:sp>
        <p:nvSpPr>
          <p:cNvPr id="5" name="Shape 3"/>
          <p:cNvSpPr/>
          <p:nvPr/>
        </p:nvSpPr>
        <p:spPr>
          <a:xfrm>
            <a:off x="749808" y="16916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50758" y="1792590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325880" y="1444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Numbers are sacred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325880" y="17556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Never rounded or estimated; derived figures marked (e), working shown</a:t>
            </a:r>
            <a:endParaRPr lang="en-US" sz="1100" dirty="0"/>
          </a:p>
        </p:txBody>
      </p:sp>
      <p:sp>
        <p:nvSpPr>
          <p:cNvPr id="9" name="Shape 6"/>
          <p:cNvSpPr/>
          <p:nvPr/>
        </p:nvSpPr>
        <p:spPr>
          <a:xfrm>
            <a:off x="4754880" y="1280160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EEF3FC"/>
          </a:solidFill>
          <a:ln/>
        </p:spPr>
      </p:sp>
      <p:sp>
        <p:nvSpPr>
          <p:cNvPr id="10" name="Shape 7"/>
          <p:cNvSpPr/>
          <p:nvPr/>
        </p:nvSpPr>
        <p:spPr>
          <a:xfrm>
            <a:off x="4956048" y="169164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1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56998" y="1792590"/>
            <a:ext cx="218724" cy="218724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5532120" y="144475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 everything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5532120" y="175564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figure cited to its document and page</a:t>
            </a:r>
            <a:endParaRPr lang="en-US" sz="1100" dirty="0"/>
          </a:p>
        </p:txBody>
      </p:sp>
      <p:sp>
        <p:nvSpPr>
          <p:cNvPr id="14" name="Shape 10"/>
          <p:cNvSpPr/>
          <p:nvPr/>
        </p:nvSpPr>
        <p:spPr>
          <a:xfrm>
            <a:off x="548640" y="2697480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EEF3FC"/>
          </a:solidFill>
          <a:ln/>
        </p:spPr>
      </p:sp>
      <p:sp>
        <p:nvSpPr>
          <p:cNvPr id="15" name="Shape 11"/>
          <p:cNvSpPr/>
          <p:nvPr/>
        </p:nvSpPr>
        <p:spPr>
          <a:xfrm>
            <a:off x="749808" y="31089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6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50758" y="3209910"/>
            <a:ext cx="218724" cy="218724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325880" y="2862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uncertainty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325880" y="31729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Gaps reported as "not disclosed" — never papered over</a:t>
            </a:r>
            <a:endParaRPr lang="en-US" sz="1100" dirty="0"/>
          </a:p>
        </p:txBody>
      </p:sp>
      <p:sp>
        <p:nvSpPr>
          <p:cNvPr id="19" name="Shape 14"/>
          <p:cNvSpPr/>
          <p:nvPr/>
        </p:nvSpPr>
        <p:spPr>
          <a:xfrm>
            <a:off x="4754880" y="2697480"/>
            <a:ext cx="3931920" cy="1261872"/>
          </a:xfrm>
          <a:prstGeom prst="roundRect">
            <a:avLst>
              <a:gd name="adj" fmla="val 4348"/>
            </a:avLst>
          </a:prstGeom>
          <a:solidFill>
            <a:srgbClr val="EEF3FC"/>
          </a:solidFill>
          <a:ln/>
        </p:spPr>
      </p:sp>
      <p:sp>
        <p:nvSpPr>
          <p:cNvPr id="20" name="Shape 15"/>
          <p:cNvSpPr/>
          <p:nvPr/>
        </p:nvSpPr>
        <p:spPr>
          <a:xfrm>
            <a:off x="4956048" y="310896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21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056998" y="3209910"/>
            <a:ext cx="218724" cy="218724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32120" y="2862072"/>
            <a:ext cx="30175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Context, always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5532120" y="3172968"/>
            <a:ext cx="301752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number against the prior period, with the change</a:t>
            </a:r>
            <a:endParaRPr lang="en-US" sz="1100" dirty="0"/>
          </a:p>
        </p:txBody>
      </p:sp>
      <p:sp>
        <p:nvSpPr>
          <p:cNvPr id="24" name="Text 18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These rules live in the workspace configuration — enforced on every analysis, not left to memory.</a:t>
            </a:r>
            <a:endParaRPr lang="en-US" sz="1350" dirty="0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WHILE IT RUNS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"agentic" means — happening right now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Behind me, Claude is working a loop — the same one any analyst uses: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6642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 the request, check what's already on disk, decide the next step. No grand script — it reasons as it goes.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25328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 — and load a skill only when it's needed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17320" y="28163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 in one skill at a time, use a tool, fetch a file. Skills it isn't using stay out of the way.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34015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Check, then repeat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17320" y="36850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the result to the goal, correct, continue — until the task is genuinely done, not just attempted.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"only when needed" matters: attention is finite. Load everything at once and quality drops — more on that next.</a:t>
            </a:r>
            <a:endParaRPr lang="en-US" sz="1400" dirty="0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Demystifying skills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skill has three parts. All of them are plain English.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6642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Description — when to act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phrases people actually say: "format my IC notes", "tidy these minutes"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25328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Instructions — what to do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17320" y="28163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brief you would give a new team member: sections, order, format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34015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Rules — what never to do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17320" y="36850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"Never invent content." "Keep numbers exactly as written." Guardrails, encoded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Next: we build one, live, in five minutes.</a:t>
            </a:r>
            <a:endParaRPr lang="en-US" sz="14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101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Skills: instructions, not software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280160"/>
            <a:ext cx="393192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50" i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"If you can write an email briefing a junior analyst, you can write a skill."</a:t>
            </a:r>
            <a:endParaRPr lang="en-US" sz="1650" dirty="0"/>
          </a:p>
        </p:txBody>
      </p:sp>
      <p:sp>
        <p:nvSpPr>
          <p:cNvPr id="5" name="Text 3"/>
          <p:cNvSpPr/>
          <p:nvPr/>
        </p:nvSpPr>
        <p:spPr>
          <a:xfrm>
            <a:off x="548640" y="2514600"/>
            <a:ext cx="3886200" cy="17373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plain-English markdown document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Tells Claude when to act and what to do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Carries the fund's standards — formats, guardrails, house style — automatically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4800600" y="1188720"/>
            <a:ext cx="3886200" cy="3520440"/>
          </a:xfrm>
          <a:prstGeom prst="roundRect">
            <a:avLst>
              <a:gd name="adj" fmla="val 1558"/>
            </a:avLst>
          </a:prstGeom>
          <a:solidFill>
            <a:srgbClr val="1E2761"/>
          </a:solidFill>
          <a:ln/>
        </p:spPr>
      </p:sp>
      <p:sp>
        <p:nvSpPr>
          <p:cNvPr id="7" name="Text 5"/>
          <p:cNvSpPr/>
          <p:nvPr/>
        </p:nvSpPr>
        <p:spPr>
          <a:xfrm>
            <a:off x="5029200" y="1371600"/>
            <a:ext cx="3474720" cy="3200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name: ic-meeting-note-formatter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description: Formats rough IC meeting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notes into AllWeather's standard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minutes. Use when the user pastes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 meeting notes...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Output format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1. Header - date, attendees, chair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2. Decisions taken - numbered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3. Actions - owner and due date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4. Dissenting views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 xml:space="preserve"> 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## Rules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Never invent content.</a:t>
            </a:r>
            <a:endParaRPr lang="en-US" sz="1050" dirty="0"/>
          </a:p>
          <a:p>
            <a:pPr indent="0" marL="0">
              <a:buNone/>
            </a:pPr>
            <a:r>
              <a:rPr lang="en-US" sz="1050" dirty="0">
                <a:solidFill>
                  <a:srgbClr val="CADCFC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- Keep numbers exactly as written.</a:t>
            </a:r>
            <a:endParaRPr lang="en-US" sz="1050" dirty="0"/>
          </a:p>
        </p:txBody>
      </p:sp>
      <p:sp>
        <p:nvSpPr>
          <p:cNvPr id="8" name="Text 6"/>
          <p:cNvSpPr/>
          <p:nvPr/>
        </p:nvSpPr>
        <p:spPr>
          <a:xfrm>
            <a:off x="4800600" y="4754880"/>
            <a:ext cx="3886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0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actual skill from this workspace</a:t>
            </a:r>
            <a:endParaRPr lang="en-US" sz="10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KNOW THE LIMITS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Four ways it can let you down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finite attention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dumb zone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Cram too much in at once and quality falls. An overloaded context thinks worse — like a desk buried under paper.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9192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2862072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62072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 errors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62072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Hallucination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62072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can state a wrong number with total confidence. Fluent is not the same as correct — so everything stays checkable.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9744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4992624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92624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goal drift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92624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Misalignment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92624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vaguely and it optimises for the wrong thing. Most 'AI failures' are really briefing failures.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0296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/>
          <p:nvPr/>
        </p:nvSpPr>
        <p:spPr>
          <a:xfrm>
            <a:off x="7123176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23176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 a calculator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23176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prompt, slightly different wording each run. Great for drafting; wrong for anything that must reconcile.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None of these are dealbreakers — each has a discipline that defangs it. That's the next slide.</a:t>
            </a:r>
            <a:endParaRPr lang="en-US" sz="13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STAY HONEST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… and how we keep it honest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075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167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 every number to document and page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3350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checkable in seconds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110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Keep scope tight; load only the skill you need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9385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beats the dumb zone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5237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Send exact maths to code, not the model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5420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deterministic, every time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1272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Brief it like a junior: explicit goals and guardrails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kills goal-drift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7307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sign-off before anything leaves the building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749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analyst owns the call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Deterministic where it must reconcile; non-deterministic where judgement helps — use each for what it is good at.</a:t>
            </a:r>
            <a:endParaRPr lang="en-US" sz="130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BACKGROUND JOB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Meanwhile, Claude was working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prompt from minute 2: "Compare Clicks and Dis-Chem's latest results... cite every number."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514600"/>
          </a:xfrm>
          <a:prstGeom prst="roundRect">
            <a:avLst>
              <a:gd name="adj" fmla="val 2182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 — H1 FY2026 (6m to 28 Feb 2026)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751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Turnover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31720" y="19751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R24,872.2m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11880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+7.4%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3591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Diluted HEPS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31720" y="2359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652.8c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11880" y="23591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+8.1%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Trading margin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31720" y="2743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9.1%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11880" y="2743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flat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31272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Interim DPS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31720" y="31272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258.0c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11880" y="3127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+8.4%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3639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H1 FY2026 interim results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3931920" cy="2514600"/>
          </a:xfrm>
          <a:prstGeom prst="roundRect">
            <a:avLst>
              <a:gd name="adj" fmla="val 2182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DIS-CHEM — FY2026 (12m to 28 Feb 2026)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9751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19751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R42,825.8m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26680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+9.3%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92040" y="23591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HEPS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2359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113.7c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26680" y="23591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−17.3%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92040" y="2743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LFL retail sales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+5.3%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26680" y="2743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92040" y="31272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DPS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46520" y="31272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15.9c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26680" y="3127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−42.8%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92040" y="3639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 FY2026 audited AFS &amp; results presentation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Reporting periods differ (six vs twelve months, both to 28 February 2026) — a caveat Claude raised itself, with every figure cited to document and page.</a:t>
            </a:r>
            <a:endParaRPr lang="en-US" sz="1200" dirty="0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Build a skill from scratch: mining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18872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Your idea, in one paragraph of plain English (let's write it together):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645920"/>
            <a:ext cx="8046720" cy="1737360"/>
          </a:xfrm>
          <a:prstGeom prst="roundRect">
            <a:avLst>
              <a:gd name="adj" fmla="val 3158"/>
            </a:avLst>
          </a:prstGeom>
          <a:solidFill>
            <a:srgbClr val="CADCFC"/>
          </a:solidFill>
          <a:ln/>
        </p:spPr>
      </p:sp>
      <p:sp>
        <p:nvSpPr>
          <p:cNvPr id="6" name="Text 4"/>
          <p:cNvSpPr/>
          <p:nvPr/>
        </p:nvSpPr>
        <p:spPr>
          <a:xfrm>
            <a:off x="868680" y="1828800"/>
            <a:ext cx="740664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i="1" dirty="0">
                <a:solidFill>
                  <a:srgbClr val="1A2238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"Create a skill for analysing JSE mining results: pull revenue, EBITDA and margin, headline earnings and HEPS, net debt and net-debt-to-EBITDA, free cash flow and dividends — always versus the prior period, every figure cited to document and page. Flag commodity-price and rand sensitivity. Never invent a number; write 'not disclosed' where it is missing."</a:t>
            </a:r>
            <a:endParaRPr lang="en-US" sz="1450" dirty="0"/>
          </a:p>
        </p:txBody>
      </p:sp>
      <p:sp>
        <p:nvSpPr>
          <p:cNvPr id="7" name="Text 5"/>
          <p:cNvSpPr/>
          <p:nvPr/>
        </p:nvSpPr>
        <p:spPr>
          <a:xfrm>
            <a:off x="548640" y="3749040"/>
            <a:ext cx="8046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 what we're really doing: writing down how a mining analyst reads a result. That is all a skill is.</a:t>
            </a:r>
            <a:endParaRPr lang="en-US" sz="1400" dirty="0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Watch it come to life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1732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1732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37160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writes the skill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1188720" y="170992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one-page SKILL.md appears — read it back; it's plain English you can edit.</a:t>
            </a:r>
            <a:endParaRPr lang="en-US" sz="1250" dirty="0"/>
          </a:p>
        </p:txBody>
      </p:sp>
      <p:sp>
        <p:nvSpPr>
          <p:cNvPr id="8" name="Shape 6"/>
          <p:cNvSpPr/>
          <p:nvPr/>
        </p:nvSpPr>
        <p:spPr>
          <a:xfrm>
            <a:off x="548640" y="237744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2377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10" name="Text 8"/>
          <p:cNvSpPr/>
          <p:nvPr/>
        </p:nvSpPr>
        <p:spPr>
          <a:xfrm>
            <a:off x="1188720" y="233172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Point it at a miner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1188720" y="267004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"Apply it to the latest results" — it loads the new skill and works the loop.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548640" y="333756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333756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4" name="Text 12"/>
          <p:cNvSpPr/>
          <p:nvPr/>
        </p:nvSpPr>
        <p:spPr>
          <a:xfrm>
            <a:off x="1188720" y="3291840"/>
            <a:ext cx="74066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Then turn it into Excel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1188720" y="3630168"/>
            <a:ext cx="740664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"Now a peer table as a formatted workbook" — same skill, a different output.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548640" y="443484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an analyst can describe how they read a result, the desk can have a skill for it.</a:t>
            </a:r>
            <a:endParaRPr lang="en-US" sz="1350" dirty="0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LIVE DEMO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same skill, delivered as Excel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60704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Follow-up prompt: "Now turn the mining peer comparison into a formatted Excel workbook — one row per company, with a ratios-and-flags tab."</a:t>
            </a:r>
            <a:endParaRPr lang="en-US" sz="1200" dirty="0"/>
          </a:p>
        </p:txBody>
      </p:sp>
      <p:sp>
        <p:nvSpPr>
          <p:cNvPr id="5" name="Shape 3"/>
          <p:cNvSpPr/>
          <p:nvPr/>
        </p:nvSpPr>
        <p:spPr>
          <a:xfrm>
            <a:off x="548640" y="1463040"/>
            <a:ext cx="3931920" cy="2514600"/>
          </a:xfrm>
          <a:prstGeom prst="roundRect">
            <a:avLst>
              <a:gd name="adj" fmla="val 2182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THE SKILL FILLS (1 of 2)</a:t>
            </a:r>
            <a:endParaRPr lang="en-US" sz="1100" dirty="0"/>
          </a:p>
        </p:txBody>
      </p:sp>
      <p:sp>
        <p:nvSpPr>
          <p:cNvPr id="7" name="Text 5"/>
          <p:cNvSpPr/>
          <p:nvPr/>
        </p:nvSpPr>
        <p:spPr>
          <a:xfrm>
            <a:off x="777240" y="19751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(R'm)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331720" y="19751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</a:t>
            </a:r>
            <a:endParaRPr lang="en-US" sz="1150" dirty="0"/>
          </a:p>
        </p:txBody>
      </p:sp>
      <p:sp>
        <p:nvSpPr>
          <p:cNvPr id="9" name="Text 7"/>
          <p:cNvSpPr/>
          <p:nvPr/>
        </p:nvSpPr>
        <p:spPr>
          <a:xfrm>
            <a:off x="3611880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pcp</a:t>
            </a:r>
            <a:endParaRPr lang="en-US" sz="1150" dirty="0"/>
          </a:p>
        </p:txBody>
      </p:sp>
      <p:sp>
        <p:nvSpPr>
          <p:cNvPr id="10" name="Text 8"/>
          <p:cNvSpPr/>
          <p:nvPr/>
        </p:nvSpPr>
        <p:spPr>
          <a:xfrm>
            <a:off x="777240" y="23591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margin</a:t>
            </a:r>
            <a:endParaRPr lang="en-US" sz="1150" dirty="0"/>
          </a:p>
        </p:txBody>
      </p:sp>
      <p:sp>
        <p:nvSpPr>
          <p:cNvPr id="11" name="Text 9"/>
          <p:cNvSpPr/>
          <p:nvPr/>
        </p:nvSpPr>
        <p:spPr>
          <a:xfrm>
            <a:off x="2331720" y="2359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%</a:t>
            </a:r>
            <a:endParaRPr lang="en-US" sz="1150" dirty="0"/>
          </a:p>
        </p:txBody>
      </p:sp>
      <p:sp>
        <p:nvSpPr>
          <p:cNvPr id="12" name="Text 10"/>
          <p:cNvSpPr/>
          <p:nvPr/>
        </p:nvSpPr>
        <p:spPr>
          <a:xfrm>
            <a:off x="3611880" y="23591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bps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777240" y="2743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Headline EPS</a:t>
            </a:r>
            <a:endParaRPr lang="en-US" sz="1150" dirty="0"/>
          </a:p>
        </p:txBody>
      </p:sp>
      <p:sp>
        <p:nvSpPr>
          <p:cNvPr id="14" name="Text 12"/>
          <p:cNvSpPr/>
          <p:nvPr/>
        </p:nvSpPr>
        <p:spPr>
          <a:xfrm>
            <a:off x="2331720" y="2743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</a:t>
            </a:r>
            <a:endParaRPr lang="en-US" sz="1150" dirty="0"/>
          </a:p>
        </p:txBody>
      </p:sp>
      <p:sp>
        <p:nvSpPr>
          <p:cNvPr id="15" name="Text 13"/>
          <p:cNvSpPr/>
          <p:nvPr/>
        </p:nvSpPr>
        <p:spPr>
          <a:xfrm>
            <a:off x="3611880" y="2743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pcp</a:t>
            </a:r>
            <a:endParaRPr lang="en-US" sz="1150" dirty="0"/>
          </a:p>
        </p:txBody>
      </p:sp>
      <p:sp>
        <p:nvSpPr>
          <p:cNvPr id="16" name="Text 14"/>
          <p:cNvSpPr/>
          <p:nvPr/>
        </p:nvSpPr>
        <p:spPr>
          <a:xfrm>
            <a:off x="777240" y="31272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debt / EBITDA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2331720" y="31272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×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3611880" y="3127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150" dirty="0"/>
          </a:p>
        </p:txBody>
      </p:sp>
      <p:sp>
        <p:nvSpPr>
          <p:cNvPr id="19" name="Text 17"/>
          <p:cNvSpPr/>
          <p:nvPr/>
        </p:nvSpPr>
        <p:spPr>
          <a:xfrm>
            <a:off x="777240" y="3639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cited to document &amp; page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4663440" y="1463040"/>
            <a:ext cx="3931920" cy="2514600"/>
          </a:xfrm>
          <a:prstGeom prst="roundRect">
            <a:avLst>
              <a:gd name="adj" fmla="val 2182"/>
            </a:avLst>
          </a:prstGeom>
          <a:solidFill>
            <a:srgbClr val="EEF3FC"/>
          </a:solidFill>
          <a:ln/>
        </p:spPr>
      </p:sp>
      <p:sp>
        <p:nvSpPr>
          <p:cNvPr id="21" name="Text 19"/>
          <p:cNvSpPr/>
          <p:nvPr/>
        </p:nvSpPr>
        <p:spPr>
          <a:xfrm>
            <a:off x="4892040" y="1627632"/>
            <a:ext cx="356616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METRICS THE SKILL FILLS (2 of 2)</a:t>
            </a:r>
            <a:endParaRPr lang="en-US" sz="1100" dirty="0"/>
          </a:p>
        </p:txBody>
      </p:sp>
      <p:sp>
        <p:nvSpPr>
          <p:cNvPr id="22" name="Text 20"/>
          <p:cNvSpPr/>
          <p:nvPr/>
        </p:nvSpPr>
        <p:spPr>
          <a:xfrm>
            <a:off x="4892040" y="1975104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cash flow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6446520" y="1975104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7726680" y="1975104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pcp</a:t>
            </a:r>
            <a:endParaRPr lang="en-US" sz="1150" dirty="0"/>
          </a:p>
        </p:txBody>
      </p:sp>
      <p:sp>
        <p:nvSpPr>
          <p:cNvPr id="25" name="Text 23"/>
          <p:cNvSpPr/>
          <p:nvPr/>
        </p:nvSpPr>
        <p:spPr>
          <a:xfrm>
            <a:off x="4892040" y="2359152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Dividend / share</a:t>
            </a:r>
            <a:endParaRPr lang="en-US" sz="1150" dirty="0"/>
          </a:p>
        </p:txBody>
      </p:sp>
      <p:sp>
        <p:nvSpPr>
          <p:cNvPr id="26" name="Text 24"/>
          <p:cNvSpPr/>
          <p:nvPr/>
        </p:nvSpPr>
        <p:spPr>
          <a:xfrm>
            <a:off x="6446520" y="2359152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c</a:t>
            </a:r>
            <a:endParaRPr lang="en-US" sz="1150" dirty="0"/>
          </a:p>
        </p:txBody>
      </p:sp>
      <p:sp>
        <p:nvSpPr>
          <p:cNvPr id="27" name="Text 25"/>
          <p:cNvSpPr/>
          <p:nvPr/>
        </p:nvSpPr>
        <p:spPr>
          <a:xfrm>
            <a:off x="7726680" y="2359152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vs pcp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4892040" y="2743200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Production</a:t>
            </a:r>
            <a:endParaRPr lang="en-US" sz="1150" dirty="0"/>
          </a:p>
        </p:txBody>
      </p:sp>
      <p:sp>
        <p:nvSpPr>
          <p:cNvPr id="29" name="Text 27"/>
          <p:cNvSpPr/>
          <p:nvPr/>
        </p:nvSpPr>
        <p:spPr>
          <a:xfrm>
            <a:off x="6446520" y="2743200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— Mt</a:t>
            </a:r>
            <a:endParaRPr lang="en-US" sz="1150" dirty="0"/>
          </a:p>
        </p:txBody>
      </p:sp>
      <p:sp>
        <p:nvSpPr>
          <p:cNvPr id="30" name="Text 28"/>
          <p:cNvSpPr/>
          <p:nvPr/>
        </p:nvSpPr>
        <p:spPr>
          <a:xfrm>
            <a:off x="7726680" y="2743200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endParaRPr lang="en-US" sz="1150" dirty="0"/>
          </a:p>
        </p:txBody>
      </p:sp>
      <p:sp>
        <p:nvSpPr>
          <p:cNvPr id="31" name="Text 29"/>
          <p:cNvSpPr/>
          <p:nvPr/>
        </p:nvSpPr>
        <p:spPr>
          <a:xfrm>
            <a:off x="4892040" y="3127248"/>
            <a:ext cx="155448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cost</a:t>
            </a:r>
            <a:endParaRPr lang="en-US" sz="1150" dirty="0"/>
          </a:p>
        </p:txBody>
      </p:sp>
      <p:sp>
        <p:nvSpPr>
          <p:cNvPr id="32" name="Text 30"/>
          <p:cNvSpPr/>
          <p:nvPr/>
        </p:nvSpPr>
        <p:spPr>
          <a:xfrm>
            <a:off x="6446520" y="3127248"/>
            <a:ext cx="1234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—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7726680" y="3127248"/>
            <a:ext cx="7315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</a:t>
            </a:r>
            <a:endParaRPr lang="en-US" sz="1150" dirty="0"/>
          </a:p>
        </p:txBody>
      </p:sp>
      <p:sp>
        <p:nvSpPr>
          <p:cNvPr id="34" name="Text 32"/>
          <p:cNvSpPr/>
          <p:nvPr/>
        </p:nvSpPr>
        <p:spPr>
          <a:xfrm>
            <a:off x="4892040" y="3639312"/>
            <a:ext cx="35661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row per company</a:t>
            </a:r>
            <a:endParaRPr lang="en-US" sz="950" dirty="0"/>
          </a:p>
        </p:txBody>
      </p:sp>
      <p:sp>
        <p:nvSpPr>
          <p:cNvPr id="35" name="Text 33"/>
          <p:cNvSpPr/>
          <p:nvPr/>
        </p:nvSpPr>
        <p:spPr>
          <a:xfrm>
            <a:off x="548640" y="42062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*Illustrative columns. The live build fills them with cited figures for real names — Anglo, BHP, Sasol, Gold Fields, Exxaro — every number sourced.</a:t>
            </a:r>
            <a:endParaRPr lang="en-US" sz="1200" dirty="0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THE DATA COMES FROM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How Claude gets what it analyses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Public web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IR sites · SENS · filings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Fetched &amp; filed by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32588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download skill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 Chrome for hard sites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6772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52360" y="1325880"/>
            <a:ext cx="1325880" cy="1143000"/>
          </a:xfrm>
          <a:prstGeom prst="roundRect">
            <a:avLst>
              <a:gd name="adj" fmla="val 4800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4630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Workspace + Claude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Internal models &amp; notes join via the SharePoint connector — read in place, no migration.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 search &amp; fetch for anything public — prices, news, filings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download skill finds, names and files reports automatically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Chrome extension drives IR sites that block plain downloads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fetch, file write and connector sits behind a permission prompt — nothing happens silently.</a:t>
            </a:r>
            <a:endParaRPr lang="en-US" sz="1250" dirty="0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The path from pilot to firm-wide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5" name="Text 3"/>
          <p:cNvSpPr/>
          <p:nvPr/>
        </p:nvSpPr>
        <p:spPr>
          <a:xfrm>
            <a:off x="731520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M1</a:t>
            </a:r>
            <a:endParaRPr lang="en-US" sz="2600" dirty="0"/>
          </a:p>
        </p:txBody>
      </p:sp>
      <p:sp>
        <p:nvSpPr>
          <p:cNvPr id="6" name="Text 4"/>
          <p:cNvSpPr/>
          <p:nvPr/>
        </p:nvSpPr>
        <p:spPr>
          <a:xfrm>
            <a:off x="731520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1–2</a:t>
            </a:r>
            <a:endParaRPr lang="en-US" sz="1050" dirty="0"/>
          </a:p>
        </p:txBody>
      </p:sp>
      <p:sp>
        <p:nvSpPr>
          <p:cNvPr id="7" name="Text 5"/>
          <p:cNvSpPr/>
          <p:nvPr/>
        </p:nvSpPr>
        <p:spPr>
          <a:xfrm>
            <a:off x="731520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JSE workspace live</a:t>
            </a:r>
            <a:endParaRPr lang="en-US" sz="1300" dirty="0"/>
          </a:p>
        </p:txBody>
      </p:sp>
      <p:sp>
        <p:nvSpPr>
          <p:cNvPr id="8" name="Text 6"/>
          <p:cNvSpPr/>
          <p:nvPr/>
        </p:nvSpPr>
        <p:spPr>
          <a:xfrm>
            <a:off x="731520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Deployed to SharePoint; two pilot analysts; current coverage as the watchlist</a:t>
            </a:r>
            <a:endParaRPr lang="en-US" sz="1000" dirty="0"/>
          </a:p>
        </p:txBody>
      </p:sp>
      <p:sp>
        <p:nvSpPr>
          <p:cNvPr id="9" name="Shape 7"/>
          <p:cNvSpPr/>
          <p:nvPr/>
        </p:nvSpPr>
        <p:spPr>
          <a:xfrm>
            <a:off x="2679192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2862072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M2</a:t>
            </a:r>
            <a:endParaRPr lang="en-US" sz="2600" dirty="0"/>
          </a:p>
        </p:txBody>
      </p:sp>
      <p:sp>
        <p:nvSpPr>
          <p:cNvPr id="11" name="Text 9"/>
          <p:cNvSpPr/>
          <p:nvPr/>
        </p:nvSpPr>
        <p:spPr>
          <a:xfrm>
            <a:off x="2862072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3–6</a:t>
            </a:r>
            <a:endParaRPr lang="en-US" sz="1050" dirty="0"/>
          </a:p>
        </p:txBody>
      </p:sp>
      <p:sp>
        <p:nvSpPr>
          <p:cNvPr id="12" name="Text 10"/>
          <p:cNvSpPr/>
          <p:nvPr/>
        </p:nvSpPr>
        <p:spPr>
          <a:xfrm>
            <a:off x="2862072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the estate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862072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research and Outlook broker notes wired in; team-wide read access</a:t>
            </a:r>
            <a:endParaRPr lang="en-US" sz="1000" dirty="0"/>
          </a:p>
        </p:txBody>
      </p:sp>
      <p:sp>
        <p:nvSpPr>
          <p:cNvPr id="14" name="Shape 12"/>
          <p:cNvSpPr/>
          <p:nvPr/>
        </p:nvSpPr>
        <p:spPr>
          <a:xfrm>
            <a:off x="4809744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4992624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M3</a:t>
            </a:r>
            <a:endParaRPr lang="en-US" sz="2600" dirty="0"/>
          </a:p>
        </p:txBody>
      </p:sp>
      <p:sp>
        <p:nvSpPr>
          <p:cNvPr id="16" name="Text 14"/>
          <p:cNvSpPr/>
          <p:nvPr/>
        </p:nvSpPr>
        <p:spPr>
          <a:xfrm>
            <a:off x="4992624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Weeks 6–10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4992624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Automate the rhythm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4992624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Morning watchlist updates; IC pack generation; analysts writing their own skills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6940296" y="1280160"/>
            <a:ext cx="1947672" cy="2743200"/>
          </a:xfrm>
          <a:prstGeom prst="roundRect">
            <a:avLst>
              <a:gd name="adj" fmla="val 2817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/>
          <p:nvPr/>
        </p:nvSpPr>
        <p:spPr>
          <a:xfrm>
            <a:off x="7123176" y="1444752"/>
            <a:ext cx="1097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M4</a:t>
            </a:r>
            <a:endParaRPr lang="en-US" sz="2600" dirty="0"/>
          </a:p>
        </p:txBody>
      </p:sp>
      <p:sp>
        <p:nvSpPr>
          <p:cNvPr id="21" name="Text 19"/>
          <p:cNvSpPr/>
          <p:nvPr/>
        </p:nvSpPr>
        <p:spPr>
          <a:xfrm>
            <a:off x="7123176" y="1938528"/>
            <a:ext cx="16002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1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Q3 2026</a:t>
            </a:r>
            <a:endParaRPr lang="en-US" sz="1050" dirty="0"/>
          </a:p>
        </p:txBody>
      </p:sp>
      <p:sp>
        <p:nvSpPr>
          <p:cNvPr id="22" name="Text 20"/>
          <p:cNvSpPr/>
          <p:nvPr/>
        </p:nvSpPr>
        <p:spPr>
          <a:xfrm>
            <a:off x="7123176" y="2231136"/>
            <a:ext cx="16002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Firm-wide</a:t>
            </a:r>
            <a:endParaRPr lang="en-US" sz="1300" dirty="0"/>
          </a:p>
        </p:txBody>
      </p:sp>
      <p:sp>
        <p:nvSpPr>
          <p:cNvPr id="23" name="Text 21"/>
          <p:cNvSpPr/>
          <p:nvPr/>
        </p:nvSpPr>
        <p:spPr>
          <a:xfrm>
            <a:off x="7123176" y="2743200"/>
            <a:ext cx="16002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Ops, compliance and IR monitoring; skill governance; all-staff training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48640" y="434340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milestone ships with its own one-page setup guide.</a:t>
            </a:r>
            <a:endParaRPr lang="en-US" sz="1300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Where the data lives: SharePoint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68580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"JSE Research"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library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3063240" y="1481328"/>
            <a:ext cx="13716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OneDrive sync</a:t>
            </a:r>
            <a:endParaRPr lang="en-US" sz="1100" dirty="0"/>
          </a:p>
          <a:p>
            <a:pPr algn="ctr" indent="0" marL="0">
              <a:buNone/>
            </a:pPr>
            <a:r>
              <a:rPr lang="en-US" sz="11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4480560" y="1325880"/>
            <a:ext cx="2468880" cy="1143000"/>
          </a:xfrm>
          <a:prstGeom prst="roundRect">
            <a:avLst>
              <a:gd name="adj" fmla="val 4800"/>
            </a:avLst>
          </a:prstGeom>
          <a:solidFill>
            <a:srgbClr val="EEF3FC"/>
          </a:solidFill>
          <a:ln/>
        </p:spPr>
      </p:sp>
      <p:sp>
        <p:nvSpPr>
          <p:cNvPr id="8" name="Text 6"/>
          <p:cNvSpPr/>
          <p:nvPr/>
        </p:nvSpPr>
        <p:spPr>
          <a:xfrm>
            <a:off x="4617720" y="1463040"/>
            <a:ext cx="219456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Local working folder</a:t>
            </a:r>
            <a:endParaRPr lang="en-US" sz="1250" dirty="0"/>
          </a:p>
          <a:p>
            <a:pPr algn="ctr"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(Cowork)</a:t>
            </a:r>
            <a:endParaRPr lang="en-US" sz="1250" dirty="0"/>
          </a:p>
        </p:txBody>
      </p:sp>
      <p:sp>
        <p:nvSpPr>
          <p:cNvPr id="9" name="Text 7"/>
          <p:cNvSpPr/>
          <p:nvPr/>
        </p:nvSpPr>
        <p:spPr>
          <a:xfrm>
            <a:off x="6967728" y="166420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200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2000" dirty="0"/>
          </a:p>
        </p:txBody>
      </p:sp>
      <p:sp>
        <p:nvSpPr>
          <p:cNvPr id="10" name="Shape 8"/>
          <p:cNvSpPr/>
          <p:nvPr/>
        </p:nvSpPr>
        <p:spPr>
          <a:xfrm>
            <a:off x="7452360" y="1325880"/>
            <a:ext cx="1325880" cy="1143000"/>
          </a:xfrm>
          <a:prstGeom prst="roundRect">
            <a:avLst>
              <a:gd name="adj" fmla="val 4800"/>
            </a:avLst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7498080" y="1463040"/>
            <a:ext cx="1234440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</a:t>
            </a:r>
            <a:endParaRPr lang="en-US" sz="1400" dirty="0"/>
          </a:p>
        </p:txBody>
      </p:sp>
      <p:sp>
        <p:nvSpPr>
          <p:cNvPr id="12" name="Text 10"/>
          <p:cNvSpPr/>
          <p:nvPr/>
        </p:nvSpPr>
        <p:spPr>
          <a:xfrm>
            <a:off x="548640" y="269748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 /Research/[Company]/  read directly via the SharePoint connector — no migration needed.</a:t>
            </a:r>
            <a:endParaRPr lang="en-US" sz="1200" dirty="0"/>
          </a:p>
        </p:txBody>
      </p:sp>
      <p:sp>
        <p:nvSpPr>
          <p:cNvPr id="13" name="Text 11"/>
          <p:cNvSpPr/>
          <p:nvPr/>
        </p:nvSpPr>
        <p:spPr>
          <a:xfrm>
            <a:off x="548640" y="3108960"/>
            <a:ext cx="7863840" cy="10058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Team-wide visibility, versioning and retention — for free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works on local synced files: fast and reliable</a:t>
            </a:r>
            <a:endParaRPr lang="en-US" sz="1250" dirty="0"/>
          </a:p>
          <a:p>
            <a:pPr marL="342900" indent="-342900">
              <a:spcAft>
                <a:spcPts val="600"/>
              </a:spcAft>
              <a:buSzPct val="100000"/>
              <a:buChar char="•"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Existing internal research readable in place</a:t>
            </a:r>
            <a:endParaRPr lang="en-US" sz="1250" dirty="0"/>
          </a:p>
        </p:txBody>
      </p:sp>
      <p:sp>
        <p:nvSpPr>
          <p:cNvPr id="14" name="Text 12"/>
          <p:cNvSpPr/>
          <p:nvPr/>
        </p:nvSpPr>
        <p:spPr>
          <a:xfrm>
            <a:off x="548640" y="4297680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writer (the pilot analyst); everyone else reads via SharePoint — avoids sync conflicts.</a:t>
            </a:r>
            <a:endParaRPr lang="en-US" sz="1250" dirty="0"/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AFTER TODAY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you'll have in your hands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548640" y="1078992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You don't have to remember any of this — it's all written down, for two audiences:</a:t>
            </a:r>
            <a:endParaRPr lang="en-US" sz="1400" dirty="0"/>
          </a:p>
        </p:txBody>
      </p:sp>
      <p:sp>
        <p:nvSpPr>
          <p:cNvPr id="5" name="Shape 3"/>
          <p:cNvSpPr/>
          <p:nvPr/>
        </p:nvSpPr>
        <p:spPr>
          <a:xfrm>
            <a:off x="548640" y="155448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70078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1</a:t>
            </a:r>
            <a:endParaRPr lang="en-US" sz="2400" dirty="0"/>
          </a:p>
        </p:txBody>
      </p:sp>
      <p:sp>
        <p:nvSpPr>
          <p:cNvPr id="7" name="Text 5"/>
          <p:cNvSpPr/>
          <p:nvPr/>
        </p:nvSpPr>
        <p:spPr>
          <a:xfrm>
            <a:off x="1417320" y="166420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Everyday guide</a:t>
            </a:r>
            <a:endParaRPr lang="en-US" sz="1350" dirty="0"/>
          </a:p>
        </p:txBody>
      </p:sp>
      <p:sp>
        <p:nvSpPr>
          <p:cNvPr id="8" name="Text 6"/>
          <p:cNvSpPr/>
          <p:nvPr/>
        </p:nvSpPr>
        <p:spPr>
          <a:xfrm>
            <a:off x="1417320" y="194767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every PM and analyst: what Claude is, how to ask well, a prompt cheat-sheet. No code.</a:t>
            </a:r>
            <a:endParaRPr lang="en-US" sz="1150" dirty="0"/>
          </a:p>
        </p:txBody>
      </p:sp>
      <p:sp>
        <p:nvSpPr>
          <p:cNvPr id="9" name="Shape 7"/>
          <p:cNvSpPr/>
          <p:nvPr/>
        </p:nvSpPr>
        <p:spPr>
          <a:xfrm>
            <a:off x="548640" y="242316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</p:sp>
      <p:sp>
        <p:nvSpPr>
          <p:cNvPr id="10" name="Text 8"/>
          <p:cNvSpPr/>
          <p:nvPr/>
        </p:nvSpPr>
        <p:spPr>
          <a:xfrm>
            <a:off x="777240" y="256946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2</a:t>
            </a:r>
            <a:endParaRPr lang="en-US" sz="2400" dirty="0"/>
          </a:p>
        </p:txBody>
      </p:sp>
      <p:sp>
        <p:nvSpPr>
          <p:cNvPr id="11" name="Text 9"/>
          <p:cNvSpPr/>
          <p:nvPr/>
        </p:nvSpPr>
        <p:spPr>
          <a:xfrm>
            <a:off x="1417320" y="253288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Builder's guide</a:t>
            </a:r>
            <a:endParaRPr lang="en-US" sz="1350" dirty="0"/>
          </a:p>
        </p:txBody>
      </p:sp>
      <p:sp>
        <p:nvSpPr>
          <p:cNvPr id="12" name="Text 10"/>
          <p:cNvSpPr/>
          <p:nvPr/>
        </p:nvSpPr>
        <p:spPr>
          <a:xfrm>
            <a:off x="1417320" y="281635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the hands-on: the anatomy of a skill, the workspace, MCP connectors, maintenance.</a:t>
            </a:r>
            <a:endParaRPr lang="en-US" sz="115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8046720" cy="749808"/>
          </a:xfrm>
          <a:prstGeom prst="roundRect">
            <a:avLst>
              <a:gd name="adj" fmla="val 7317"/>
            </a:avLst>
          </a:prstGeom>
          <a:solidFill>
            <a:srgbClr val="EEF3FC"/>
          </a:solidFill>
          <a:ln/>
        </p:spPr>
      </p:sp>
      <p:sp>
        <p:nvSpPr>
          <p:cNvPr id="14" name="Text 12"/>
          <p:cNvSpPr/>
          <p:nvPr/>
        </p:nvSpPr>
        <p:spPr>
          <a:xfrm>
            <a:off x="777240" y="343814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2400" dirty="0"/>
          </a:p>
        </p:txBody>
      </p:sp>
      <p:sp>
        <p:nvSpPr>
          <p:cNvPr id="15" name="Text 13"/>
          <p:cNvSpPr/>
          <p:nvPr/>
        </p:nvSpPr>
        <p:spPr>
          <a:xfrm>
            <a:off x="1417320" y="3401568"/>
            <a:ext cx="69494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live workspace</a:t>
            </a:r>
            <a:endParaRPr lang="en-US" sz="1350" dirty="0"/>
          </a:p>
        </p:txBody>
      </p:sp>
      <p:sp>
        <p:nvSpPr>
          <p:cNvPr id="16" name="Text 14"/>
          <p:cNvSpPr/>
          <p:nvPr/>
        </p:nvSpPr>
        <p:spPr>
          <a:xfrm>
            <a:off x="1417320" y="3685032"/>
            <a:ext cx="69494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JSE workspace itself — yours to use, copy and grow. A starting point, not a finished product.</a:t>
            </a:r>
            <a:endParaRPr lang="en-US" sz="1150" dirty="0"/>
          </a:p>
        </p:txBody>
      </p:sp>
      <p:sp>
        <p:nvSpPr>
          <p:cNvPr id="17" name="Text 15"/>
          <p:cNvSpPr/>
          <p:nvPr/>
        </p:nvSpPr>
        <p:spPr>
          <a:xfrm>
            <a:off x="548640" y="4315968"/>
            <a:ext cx="8046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i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is a collaboration: we'll learn what works for AllWeather together, and the guides grow with us.</a:t>
            </a:r>
            <a:endParaRPr lang="en-US" sz="1400" dirty="0"/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we're asking for today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435608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43560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6" name="Text 4"/>
          <p:cNvSpPr/>
          <p:nvPr/>
        </p:nvSpPr>
        <p:spPr>
          <a:xfrm>
            <a:off x="1188720" y="1417320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Nominate two pilot analysts</a:t>
            </a:r>
            <a:endParaRPr lang="en-US" sz="1600" dirty="0"/>
          </a:p>
        </p:txBody>
      </p:sp>
      <p:sp>
        <p:nvSpPr>
          <p:cNvPr id="7" name="Shape 5"/>
          <p:cNvSpPr/>
          <p:nvPr/>
        </p:nvSpPr>
        <p:spPr>
          <a:xfrm>
            <a:off x="548640" y="2148840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21488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9" name="Text 7"/>
          <p:cNvSpPr/>
          <p:nvPr/>
        </p:nvSpPr>
        <p:spPr>
          <a:xfrm>
            <a:off x="1188720" y="2130552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the "JSE Research" SharePoint library and connector consent</a:t>
            </a:r>
            <a:endParaRPr lang="en-US" sz="1600" dirty="0"/>
          </a:p>
        </p:txBody>
      </p:sp>
      <p:sp>
        <p:nvSpPr>
          <p:cNvPr id="10" name="Shape 8"/>
          <p:cNvSpPr/>
          <p:nvPr/>
        </p:nvSpPr>
        <p:spPr>
          <a:xfrm>
            <a:off x="548640" y="2862072"/>
            <a:ext cx="420624" cy="420624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86207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12" name="Text 10"/>
          <p:cNvSpPr/>
          <p:nvPr/>
        </p:nvSpPr>
        <p:spPr>
          <a:xfrm>
            <a:off x="1188720" y="2843784"/>
            <a:ext cx="74066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Thirty minutes in week two to review pilot output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548640" y="3977640"/>
            <a:ext cx="8046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6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Questions?</a:t>
            </a:r>
            <a:endParaRPr lang="en-US" sz="3600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1E2761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LANDSCAPE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FFFFFF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Claude vs Copilot, in more depth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2B3674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CLAUDE LEADS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772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plain markdown: readable, diff-able, portable across machines and teams. Deep file and agent work with no M365 dependency — the easiest stack to inspect and trust.</a:t>
            </a:r>
            <a:endParaRPr lang="en-US" sz="1250" dirty="0"/>
          </a:p>
        </p:txBody>
      </p:sp>
      <p:sp>
        <p:nvSpPr>
          <p:cNvPr id="7" name="Shape 5"/>
          <p:cNvSpPr/>
          <p:nvPr/>
        </p:nvSpPr>
        <p:spPr>
          <a:xfrm>
            <a:off x="4663440" y="1325880"/>
            <a:ext cx="3931920" cy="1783080"/>
          </a:xfrm>
          <a:prstGeom prst="roundRect">
            <a:avLst>
              <a:gd name="adj" fmla="val 3077"/>
            </a:avLst>
          </a:prstGeom>
          <a:solidFill>
            <a:srgbClr val="CADCFC"/>
          </a:solidFill>
          <a:ln/>
        </p:spPr>
      </p:sp>
      <p:sp>
        <p:nvSpPr>
          <p:cNvPr id="8" name="Text 6"/>
          <p:cNvSpPr/>
          <p:nvPr/>
        </p:nvSpPr>
        <p:spPr>
          <a:xfrm>
            <a:off x="4892040" y="1508760"/>
            <a:ext cx="1828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200" kern="0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WHERE COPILOT LEADS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892040" y="1828800"/>
            <a:ext cx="3474720" cy="1143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Already inside M365: native to Word, Excel, Teams and SharePoint, with admin governance you know and no new vendor. Strong if you live in Microsoft.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48640" y="3383280"/>
            <a:ext cx="1371600" cy="9144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6000" b="1" dirty="0">
                <a:solidFill>
                  <a:srgbClr val="C9A227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3</a:t>
            </a:r>
            <a:endParaRPr lang="en-US" sz="6000" dirty="0"/>
          </a:p>
        </p:txBody>
      </p:sp>
      <p:sp>
        <p:nvSpPr>
          <p:cNvPr id="11" name="Text 9"/>
          <p:cNvSpPr/>
          <p:nvPr/>
        </p:nvSpPr>
        <p:spPr>
          <a:xfrm>
            <a:off x="2011680" y="3639312"/>
            <a:ext cx="658368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CADCF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models sit behind Copilot (OpenAI, Anthropic, Google) — so it may already be running Claude. Choose on fit and governance, not the model badge.</a:t>
            </a:r>
            <a:endParaRPr lang="en-US" sz="1400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HOW IT THINKS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Deterministic vs non-deterministic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075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167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Non-deterministic by default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3350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same prompt → slightly different wording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110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Great for drafting, summarising, ideas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9385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is a feature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5237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Risky for exact, repeatable maths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5420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variation becomes a bug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1272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we hand hard sums to code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script returns one answer, always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7307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thumb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749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for judgement, code for arithmetic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workspace already does this: totals and ratios run in Python, not freehand by the model.</a:t>
            </a:r>
            <a:endParaRPr lang="en-US" sz="1300" dirty="0"/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CASE STUDY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One sentence in, an analysis out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252728"/>
            <a:ext cx="365760" cy="365760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252728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097280" y="1234440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i="1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"Tell me about Capitec"</a:t>
            </a:r>
            <a:endParaRPr lang="en-US" sz="1300" dirty="0"/>
          </a:p>
        </p:txBody>
      </p:sp>
      <p:sp>
        <p:nvSpPr>
          <p:cNvPr id="7" name="Shape 5"/>
          <p:cNvSpPr/>
          <p:nvPr/>
        </p:nvSpPr>
        <p:spPr>
          <a:xfrm>
            <a:off x="548640" y="1911096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8" name="Text 6"/>
          <p:cNvSpPr/>
          <p:nvPr/>
        </p:nvSpPr>
        <p:spPr>
          <a:xfrm>
            <a:off x="548640" y="1911096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9" name="Text 7"/>
          <p:cNvSpPr/>
          <p:nvPr/>
        </p:nvSpPr>
        <p:spPr>
          <a:xfrm>
            <a:off x="1097280" y="1892808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Finds the IR site; downloads the latest results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548640" y="2569464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1" name="Text 9"/>
          <p:cNvSpPr/>
          <p:nvPr/>
        </p:nvSpPr>
        <p:spPr>
          <a:xfrm>
            <a:off x="548640" y="2569464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2" name="Text 10"/>
          <p:cNvSpPr/>
          <p:nvPr/>
        </p:nvSpPr>
        <p:spPr>
          <a:xfrm>
            <a:off x="1097280" y="2551176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Catalogues them in the document index</a:t>
            </a:r>
            <a:endParaRPr lang="en-US" sz="1300" dirty="0"/>
          </a:p>
        </p:txBody>
      </p:sp>
      <p:sp>
        <p:nvSpPr>
          <p:cNvPr id="13" name="Shape 11"/>
          <p:cNvSpPr/>
          <p:nvPr/>
        </p:nvSpPr>
        <p:spPr>
          <a:xfrm>
            <a:off x="548640" y="3227832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4" name="Text 12"/>
          <p:cNvSpPr/>
          <p:nvPr/>
        </p:nvSpPr>
        <p:spPr>
          <a:xfrm>
            <a:off x="548640" y="3227832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5" name="Text 13"/>
          <p:cNvSpPr/>
          <p:nvPr/>
        </p:nvSpPr>
        <p:spPr>
          <a:xfrm>
            <a:off x="1097280" y="3209544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Reads and analyses — every figure cited to document and page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548640" y="3886200"/>
            <a:ext cx="365760" cy="365760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886200"/>
            <a:ext cx="3657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097280" y="3867912"/>
            <a:ext cx="429768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Saves the note where the whole team can see it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5715000" y="1234440"/>
            <a:ext cx="2926080" cy="3246120"/>
          </a:xfrm>
          <a:prstGeom prst="roundRect">
            <a:avLst>
              <a:gd name="adj" fmla="val 1875"/>
            </a:avLst>
          </a:prstGeom>
          <a:solidFill>
            <a:srgbClr val="EEF3FC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0" y="1417320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2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TRACKED TODAY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943600" y="1783080"/>
            <a:ext cx="128016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Shoprite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Clicks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Dis-Chem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Woolworths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Mr Price</a:t>
            </a:r>
            <a:endParaRPr lang="en-US" sz="1250" dirty="0"/>
          </a:p>
        </p:txBody>
      </p:sp>
      <p:sp>
        <p:nvSpPr>
          <p:cNvPr id="22" name="Text 20"/>
          <p:cNvSpPr/>
          <p:nvPr/>
        </p:nvSpPr>
        <p:spPr>
          <a:xfrm>
            <a:off x="7360920" y="1783080"/>
            <a:ext cx="1188720" cy="2377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SPAR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Naspers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FirstRand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Richemont</a:t>
            </a:r>
            <a:endParaRPr lang="en-US" sz="1250" dirty="0"/>
          </a:p>
          <a:p>
            <a:pPr indent="0" marL="0">
              <a:spcAft>
                <a:spcPts val="1000"/>
              </a:spcAft>
              <a:buNone/>
            </a:pPr>
            <a:r>
              <a:rPr lang="en-US" sz="12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Reinet</a:t>
            </a:r>
            <a:endParaRPr lang="en-US" sz="1250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ADOPTION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actually takes: about half a day</a:t>
            </a:r>
            <a:endParaRPr lang="en-US" sz="2600" dirty="0"/>
          </a:p>
        </p:txBody>
      </p:sp>
      <p:sp>
        <p:nvSpPr>
          <p:cNvPr id="4" name="Shape 2"/>
          <p:cNvSpPr/>
          <p:nvPr/>
        </p:nvSpPr>
        <p:spPr>
          <a:xfrm>
            <a:off x="548640" y="1307592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5" name="Text 3"/>
          <p:cNvSpPr/>
          <p:nvPr/>
        </p:nvSpPr>
        <p:spPr>
          <a:xfrm>
            <a:off x="548640" y="1307592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300" dirty="0"/>
          </a:p>
        </p:txBody>
      </p:sp>
      <p:sp>
        <p:nvSpPr>
          <p:cNvPr id="6" name="Text 4"/>
          <p:cNvSpPr/>
          <p:nvPr/>
        </p:nvSpPr>
        <p:spPr>
          <a:xfrm>
            <a:off x="1143000" y="1316736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 and the desktop app</a:t>
            </a:r>
            <a:endParaRPr lang="en-US" sz="1400" dirty="0"/>
          </a:p>
        </p:txBody>
      </p:sp>
      <p:sp>
        <p:nvSpPr>
          <p:cNvPr id="7" name="Text 5"/>
          <p:cNvSpPr/>
          <p:nvPr/>
        </p:nvSpPr>
        <p:spPr>
          <a:xfrm>
            <a:off x="6583680" y="1335024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· ~1 hour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48640" y="1911096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9" name="Text 7"/>
          <p:cNvSpPr/>
          <p:nvPr/>
        </p:nvSpPr>
        <p:spPr>
          <a:xfrm>
            <a:off x="548640" y="1911096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1143000" y="1920240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Working folder and workspace configuration</a:t>
            </a:r>
            <a:endParaRPr lang="en-US" sz="1400" dirty="0"/>
          </a:p>
        </p:txBody>
      </p:sp>
      <p:sp>
        <p:nvSpPr>
          <p:cNvPr id="11" name="Text 9"/>
          <p:cNvSpPr/>
          <p:nvPr/>
        </p:nvSpPr>
        <p:spPr>
          <a:xfrm>
            <a:off x="6583680" y="1938528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analyst · 30 min</a:t>
            </a:r>
            <a:endParaRPr lang="en-US" sz="1150" dirty="0"/>
          </a:p>
        </p:txBody>
      </p:sp>
      <p:sp>
        <p:nvSpPr>
          <p:cNvPr id="12" name="Shape 10"/>
          <p:cNvSpPr/>
          <p:nvPr/>
        </p:nvSpPr>
        <p:spPr>
          <a:xfrm>
            <a:off x="548640" y="2514600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3" name="Text 11"/>
          <p:cNvSpPr/>
          <p:nvPr/>
        </p:nvSpPr>
        <p:spPr>
          <a:xfrm>
            <a:off x="548640" y="2514600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1143000" y="2523744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Permissions and the Chrome extension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6583680" y="2542032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analyst · 20 min</a:t>
            </a:r>
            <a:endParaRPr lang="en-US" sz="1150" dirty="0"/>
          </a:p>
        </p:txBody>
      </p:sp>
      <p:sp>
        <p:nvSpPr>
          <p:cNvPr id="16" name="Shape 14"/>
          <p:cNvSpPr/>
          <p:nvPr/>
        </p:nvSpPr>
        <p:spPr>
          <a:xfrm>
            <a:off x="548640" y="3118104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17" name="Text 15"/>
          <p:cNvSpPr/>
          <p:nvPr/>
        </p:nvSpPr>
        <p:spPr>
          <a:xfrm>
            <a:off x="548640" y="3118104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300" dirty="0"/>
          </a:p>
        </p:txBody>
      </p:sp>
      <p:sp>
        <p:nvSpPr>
          <p:cNvPr id="18" name="Text 16"/>
          <p:cNvSpPr/>
          <p:nvPr/>
        </p:nvSpPr>
        <p:spPr>
          <a:xfrm>
            <a:off x="1143000" y="3127248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SharePoint library and connector consent</a:t>
            </a:r>
            <a:endParaRPr lang="en-US" sz="1400" dirty="0"/>
          </a:p>
        </p:txBody>
      </p:sp>
      <p:sp>
        <p:nvSpPr>
          <p:cNvPr id="19" name="Text 17"/>
          <p:cNvSpPr/>
          <p:nvPr/>
        </p:nvSpPr>
        <p:spPr>
          <a:xfrm>
            <a:off x="6583680" y="3145536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 + admin · 1–2 hours</a:t>
            </a:r>
            <a:endParaRPr lang="en-US" sz="1150" dirty="0"/>
          </a:p>
        </p:txBody>
      </p:sp>
      <p:sp>
        <p:nvSpPr>
          <p:cNvPr id="20" name="Shape 18"/>
          <p:cNvSpPr/>
          <p:nvPr/>
        </p:nvSpPr>
        <p:spPr>
          <a:xfrm>
            <a:off x="548640" y="3721608"/>
            <a:ext cx="384048" cy="384048"/>
          </a:xfrm>
          <a:prstGeom prst="ellipse">
            <a:avLst/>
          </a:prstGeom>
          <a:solidFill>
            <a:srgbClr val="1E2761"/>
          </a:solidFill>
          <a:ln/>
        </p:spPr>
      </p:sp>
      <p:sp>
        <p:nvSpPr>
          <p:cNvPr id="21" name="Text 19"/>
          <p:cNvSpPr/>
          <p:nvPr/>
        </p:nvSpPr>
        <p:spPr>
          <a:xfrm>
            <a:off x="548640" y="3721608"/>
            <a:ext cx="3840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300" dirty="0"/>
          </a:p>
        </p:txBody>
      </p:sp>
      <p:sp>
        <p:nvSpPr>
          <p:cNvPr id="22" name="Text 20"/>
          <p:cNvSpPr/>
          <p:nvPr/>
        </p:nvSpPr>
        <p:spPr>
          <a:xfrm>
            <a:off x="1143000" y="3730752"/>
            <a:ext cx="5394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Smoke tests against a tracked company</a:t>
            </a:r>
            <a:endParaRPr lang="en-US" sz="1400" dirty="0"/>
          </a:p>
        </p:txBody>
      </p:sp>
      <p:sp>
        <p:nvSpPr>
          <p:cNvPr id="23" name="Text 21"/>
          <p:cNvSpPr/>
          <p:nvPr/>
        </p:nvSpPr>
        <p:spPr>
          <a:xfrm>
            <a:off x="6583680" y="3749040"/>
            <a:ext cx="201168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1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Pilot analyst · 15 min</a:t>
            </a:r>
            <a:endParaRPr lang="en-US" sz="1150" dirty="0"/>
          </a:p>
        </p:txBody>
      </p:sp>
      <p:sp>
        <p:nvSpPr>
          <p:cNvPr id="24" name="Text 22"/>
          <p:cNvSpPr/>
          <p:nvPr/>
        </p:nvSpPr>
        <p:spPr>
          <a:xfrm>
            <a:off x="548640" y="4389120"/>
            <a:ext cx="8046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step-by-step guide — including the gotchas we hit so you don't — accompanies this deck.</a:t>
            </a:r>
            <a:endParaRPr lang="en-US" sz="1300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SECURITY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Security and data handling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26680" y="292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89304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6" name="Image 0" descr="preencoded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49590" y="1390254"/>
            <a:ext cx="218724" cy="218724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188720" y="1234440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Folder-scoped access</a:t>
            </a:r>
            <a:endParaRPr lang="en-US" sz="1400" dirty="0"/>
          </a:p>
        </p:txBody>
      </p:sp>
      <p:sp>
        <p:nvSpPr>
          <p:cNvPr id="8" name="Text 5"/>
          <p:cNvSpPr/>
          <p:nvPr/>
        </p:nvSpPr>
        <p:spPr>
          <a:xfrm>
            <a:off x="1188720" y="1517904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reads and writes only the selected working folder — nothing else on the machine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48640" y="2130552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0" name="Image 1" descr="preencode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9590" y="2231502"/>
            <a:ext cx="218724" cy="218724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1188720" y="2075688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Explicit permissions</a:t>
            </a:r>
            <a:endParaRPr lang="en-US" sz="1400" dirty="0"/>
          </a:p>
        </p:txBody>
      </p:sp>
      <p:sp>
        <p:nvSpPr>
          <p:cNvPr id="12" name="Text 8"/>
          <p:cNvSpPr/>
          <p:nvPr/>
        </p:nvSpPr>
        <p:spPr>
          <a:xfrm>
            <a:off x="1188720" y="2359152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File, command and web actions sit behind prompts; browser actions happen in a visible tab</a:t>
            </a:r>
            <a:endParaRPr lang="en-US" sz="1150" dirty="0"/>
          </a:p>
        </p:txBody>
      </p:sp>
      <p:sp>
        <p:nvSpPr>
          <p:cNvPr id="13" name="Shape 9"/>
          <p:cNvSpPr/>
          <p:nvPr/>
        </p:nvSpPr>
        <p:spPr>
          <a:xfrm>
            <a:off x="548640" y="2971800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9590" y="3072750"/>
            <a:ext cx="218724" cy="218724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1188720" y="2916936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Admin controls</a:t>
            </a:r>
            <a:endParaRPr lang="en-US" sz="1400" dirty="0"/>
          </a:p>
        </p:txBody>
      </p:sp>
      <p:sp>
        <p:nvSpPr>
          <p:cNvPr id="16" name="Text 11"/>
          <p:cNvSpPr/>
          <p:nvPr/>
        </p:nvSpPr>
        <p:spPr>
          <a:xfrm>
            <a:off x="1188720" y="3200400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owners control web access and connectors centrally (Admin settings → Capabilities)</a:t>
            </a:r>
            <a:endParaRPr lang="en-US" sz="1150" dirty="0"/>
          </a:p>
        </p:txBody>
      </p:sp>
      <p:sp>
        <p:nvSpPr>
          <p:cNvPr id="17" name="Shape 12"/>
          <p:cNvSpPr/>
          <p:nvPr/>
        </p:nvSpPr>
        <p:spPr>
          <a:xfrm>
            <a:off x="548640" y="3813048"/>
            <a:ext cx="420624" cy="420624"/>
          </a:xfrm>
          <a:prstGeom prst="ellipse">
            <a:avLst/>
          </a:prstGeom>
          <a:solidFill>
            <a:srgbClr val="1E2761"/>
          </a:solidFill>
          <a:ln/>
        </p:spPr>
      </p:sp>
      <p:pic>
        <p:nvPicPr>
          <p:cNvPr id="18" name="Image 3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9590" y="3913998"/>
            <a:ext cx="218724" cy="218724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1188720" y="3758184"/>
            <a:ext cx="7406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handling</a:t>
            </a:r>
            <a:endParaRPr lang="en-US" sz="1400" dirty="0"/>
          </a:p>
        </p:txBody>
      </p:sp>
      <p:sp>
        <p:nvSpPr>
          <p:cNvPr id="20" name="Text 14"/>
          <p:cNvSpPr/>
          <p:nvPr/>
        </p:nvSpPr>
        <p:spPr>
          <a:xfrm>
            <a:off x="1188720" y="4041648"/>
            <a:ext cx="74066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Commercial terms govern training and retention — confirm the current policy at docs.claude.com at decision time</a:t>
            </a:r>
            <a:endParaRPr lang="en-US" sz="1150" dirty="0"/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COST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What it costs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26680" y="292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48640" y="128016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6" name="Text 4"/>
          <p:cNvSpPr/>
          <p:nvPr/>
        </p:nvSpPr>
        <p:spPr>
          <a:xfrm>
            <a:off x="777240" y="138988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Licences</a:t>
            </a:r>
            <a:endParaRPr lang="en-US" sz="1300" dirty="0"/>
          </a:p>
        </p:txBody>
      </p:sp>
      <p:sp>
        <p:nvSpPr>
          <p:cNvPr id="7" name="Text 5"/>
          <p:cNvSpPr/>
          <p:nvPr/>
        </p:nvSpPr>
        <p:spPr>
          <a:xfrm>
            <a:off x="2651760" y="138988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Claude Team or Enterprise, per seat. The pilot needs two seats.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548640" y="205740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9" name="Text 7"/>
          <p:cNvSpPr/>
          <p:nvPr/>
        </p:nvSpPr>
        <p:spPr>
          <a:xfrm>
            <a:off x="777240" y="216712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Setup</a:t>
            </a:r>
            <a:endParaRPr lang="en-US" sz="1300" dirty="0"/>
          </a:p>
        </p:txBody>
      </p:sp>
      <p:sp>
        <p:nvSpPr>
          <p:cNvPr id="10" name="Text 8"/>
          <p:cNvSpPr/>
          <p:nvPr/>
        </p:nvSpPr>
        <p:spPr>
          <a:xfrm>
            <a:off x="2651760" y="216712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About half a day of IT time. No servers, no infrastructure, no consultants.</a:t>
            </a:r>
            <a:endParaRPr lang="en-US" sz="1200" dirty="0"/>
          </a:p>
        </p:txBody>
      </p:sp>
      <p:sp>
        <p:nvSpPr>
          <p:cNvPr id="11" name="Shape 9"/>
          <p:cNvSpPr/>
          <p:nvPr/>
        </p:nvSpPr>
        <p:spPr>
          <a:xfrm>
            <a:off x="548640" y="283464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12" name="Text 10"/>
          <p:cNvSpPr/>
          <p:nvPr/>
        </p:nvSpPr>
        <p:spPr>
          <a:xfrm>
            <a:off x="777240" y="294436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Scale-up (M4)</a:t>
            </a:r>
            <a:endParaRPr lang="en-US" sz="1300" dirty="0"/>
          </a:p>
        </p:txBody>
      </p:sp>
      <p:sp>
        <p:nvSpPr>
          <p:cNvPr id="13" name="Text 11"/>
          <p:cNvSpPr/>
          <p:nvPr/>
        </p:nvSpPr>
        <p:spPr>
          <a:xfrm>
            <a:off x="2651760" y="294436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Additional seats per user. The workspace, skills and guides cost nothing to replicate.</a:t>
            </a:r>
            <a:endParaRPr lang="en-US" sz="1200" dirty="0"/>
          </a:p>
        </p:txBody>
      </p:sp>
      <p:sp>
        <p:nvSpPr>
          <p:cNvPr id="14" name="Shape 12"/>
          <p:cNvSpPr/>
          <p:nvPr/>
        </p:nvSpPr>
        <p:spPr>
          <a:xfrm>
            <a:off x="548640" y="3611880"/>
            <a:ext cx="8046720" cy="658368"/>
          </a:xfrm>
          <a:prstGeom prst="roundRect">
            <a:avLst>
              <a:gd name="adj" fmla="val 8333"/>
            </a:avLst>
          </a:prstGeom>
          <a:solidFill>
            <a:srgbClr val="EEF3FC"/>
          </a:solidFill>
          <a:ln/>
        </p:spPr>
      </p:sp>
      <p:sp>
        <p:nvSpPr>
          <p:cNvPr id="15" name="Text 13"/>
          <p:cNvSpPr/>
          <p:nvPr/>
        </p:nvSpPr>
        <p:spPr>
          <a:xfrm>
            <a:off x="777240" y="3721608"/>
            <a:ext cx="173736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Ongoing</a:t>
            </a:r>
            <a:endParaRPr lang="en-US" sz="1300" dirty="0"/>
          </a:p>
        </p:txBody>
      </p:sp>
      <p:sp>
        <p:nvSpPr>
          <p:cNvPr id="16" name="Text 14"/>
          <p:cNvSpPr/>
          <p:nvPr/>
        </p:nvSpPr>
        <p:spPr>
          <a:xfrm>
            <a:off x="2651760" y="3721608"/>
            <a:ext cx="5760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are maintained by the people who use them — editing a text file, not a vendor contract.</a:t>
            </a:r>
            <a:endParaRPr lang="en-US" sz="1200" dirty="0"/>
          </a:p>
        </p:txBody>
      </p:sp>
      <p:sp>
        <p:nvSpPr>
          <p:cNvPr id="17" name="Text 15"/>
          <p:cNvSpPr/>
          <p:nvPr/>
        </p:nvSpPr>
        <p:spPr>
          <a:xfrm>
            <a:off x="548640" y="4480560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i="1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Current per-seat pricing: anthropic.com/pricing — quote at time of decision.</a:t>
            </a:r>
            <a:endParaRPr lang="en-US" sz="1150" dirty="0"/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COMPLIANCE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Accuracy and compliance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26680" y="292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5" name="Shape 3"/>
          <p:cNvSpPr/>
          <p:nvPr/>
        </p:nvSpPr>
        <p:spPr>
          <a:xfrm>
            <a:off x="566928" y="1280160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6" name="Text 4"/>
          <p:cNvSpPr/>
          <p:nvPr/>
        </p:nvSpPr>
        <p:spPr>
          <a:xfrm>
            <a:off x="914400" y="1234440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Informational only</a:t>
            </a:r>
            <a:endParaRPr lang="en-US" sz="1250" dirty="0"/>
          </a:p>
        </p:txBody>
      </p:sp>
      <p:sp>
        <p:nvSpPr>
          <p:cNvPr id="7" name="Text 5"/>
          <p:cNvSpPr/>
          <p:nvPr/>
        </p:nvSpPr>
        <p:spPr>
          <a:xfrm>
            <a:off x="4114800" y="1234440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Outputs are research support, never investment advice — stated on every analysis</a:t>
            </a:r>
            <a:endParaRPr lang="en-US" sz="1150" dirty="0"/>
          </a:p>
        </p:txBody>
      </p:sp>
      <p:sp>
        <p:nvSpPr>
          <p:cNvPr id="8" name="Shape 6"/>
          <p:cNvSpPr/>
          <p:nvPr/>
        </p:nvSpPr>
        <p:spPr>
          <a:xfrm>
            <a:off x="566928" y="1938528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9" name="Text 7"/>
          <p:cNvSpPr/>
          <p:nvPr/>
        </p:nvSpPr>
        <p:spPr>
          <a:xfrm>
            <a:off x="914400" y="1892808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Citations enable spot-checks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4114800" y="1892808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figure traces to document and page in seconds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566928" y="2596896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2" name="Text 10"/>
          <p:cNvSpPr/>
          <p:nvPr/>
        </p:nvSpPr>
        <p:spPr>
          <a:xfrm>
            <a:off x="914400" y="2551176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Human review</a:t>
            </a:r>
            <a:endParaRPr lang="en-US" sz="1250" dirty="0"/>
          </a:p>
        </p:txBody>
      </p:sp>
      <p:sp>
        <p:nvSpPr>
          <p:cNvPr id="13" name="Text 11"/>
          <p:cNvSpPr/>
          <p:nvPr/>
        </p:nvSpPr>
        <p:spPr>
          <a:xfrm>
            <a:off x="4114800" y="2551176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Nothing leaves the building without an analyst's sign-off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566928" y="3255264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5" name="Text 13"/>
          <p:cNvSpPr/>
          <p:nvPr/>
        </p:nvSpPr>
        <p:spPr>
          <a:xfrm>
            <a:off x="914400" y="3209544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Closed periods flagged</a:t>
            </a:r>
            <a:endParaRPr lang="en-US" sz="1250" dirty="0"/>
          </a:p>
        </p:txBody>
      </p:sp>
      <p:sp>
        <p:nvSpPr>
          <p:cNvPr id="16" name="Text 14"/>
          <p:cNvSpPr/>
          <p:nvPr/>
        </p:nvSpPr>
        <p:spPr>
          <a:xfrm>
            <a:off x="4114800" y="3209544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Dealing restrictions surface automatically in meeting notes and analyses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566928" y="3913632"/>
            <a:ext cx="128016" cy="128016"/>
          </a:xfrm>
          <a:prstGeom prst="ellipse">
            <a:avLst/>
          </a:prstGeom>
          <a:solidFill>
            <a:srgbClr val="C9A227"/>
          </a:solidFill>
          <a:ln/>
        </p:spPr>
      </p:sp>
      <p:sp>
        <p:nvSpPr>
          <p:cNvPr id="18" name="Text 16"/>
          <p:cNvSpPr/>
          <p:nvPr/>
        </p:nvSpPr>
        <p:spPr>
          <a:xfrm>
            <a:off x="914400" y="3867912"/>
            <a:ext cx="31089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250" b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Suspect data flagged</a:t>
            </a:r>
            <a:endParaRPr lang="en-US" sz="1250" dirty="0"/>
          </a:p>
        </p:txBody>
      </p:sp>
      <p:sp>
        <p:nvSpPr>
          <p:cNvPr id="19" name="Text 17"/>
          <p:cNvSpPr/>
          <p:nvPr/>
        </p:nvSpPr>
        <p:spPr>
          <a:xfrm>
            <a:off x="4114800" y="3867912"/>
            <a:ext cx="45720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115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Garbled PDF extractions are reported for verification, not presented as fact</a:t>
            </a:r>
            <a:endParaRPr lang="en-US" sz="1150" dirty="0"/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292608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b="1" spc="300" kern="0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 — SETUP</a:t>
            </a:r>
            <a:endParaRPr lang="en-US" sz="1050" dirty="0"/>
          </a:p>
        </p:txBody>
      </p:sp>
      <p:sp>
        <p:nvSpPr>
          <p:cNvPr id="3" name="Text 1"/>
          <p:cNvSpPr/>
          <p:nvPr/>
        </p:nvSpPr>
        <p:spPr>
          <a:xfrm>
            <a:off x="548640" y="548640"/>
            <a:ext cx="8046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600" b="1" dirty="0">
                <a:solidFill>
                  <a:srgbClr val="1E2761"/>
                </a:solidFill>
                <a:latin typeface="Georgia" pitchFamily="34" charset="0"/>
                <a:ea typeface="Georgia" pitchFamily="34" charset="-122"/>
                <a:cs typeface="Georgia" pitchFamily="34" charset="-120"/>
              </a:rPr>
              <a:t>Full setup checklist</a:t>
            </a:r>
            <a:endParaRPr lang="en-US" sz="2600" dirty="0"/>
          </a:p>
        </p:txBody>
      </p:sp>
      <p:sp>
        <p:nvSpPr>
          <p:cNvPr id="4" name="Text 2"/>
          <p:cNvSpPr/>
          <p:nvPr/>
        </p:nvSpPr>
        <p:spPr>
          <a:xfrm>
            <a:off x="7726680" y="292608"/>
            <a:ext cx="914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spc="200" kern="0" dirty="0">
                <a:solidFill>
                  <a:srgbClr val="5A64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BACKUP</a:t>
            </a:r>
            <a:endParaRPr lang="en-US" sz="1050" dirty="0"/>
          </a:p>
        </p:txBody>
      </p:sp>
      <p:sp>
        <p:nvSpPr>
          <p:cNvPr id="5" name="Text 3"/>
          <p:cNvSpPr/>
          <p:nvPr/>
        </p:nvSpPr>
        <p:spPr>
          <a:xfrm>
            <a:off x="54864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· Install &amp; access</a:t>
            </a:r>
            <a:endParaRPr lang="en-US" sz="1250" dirty="0"/>
          </a:p>
        </p:txBody>
      </p:sp>
      <p:sp>
        <p:nvSpPr>
          <p:cNvPr id="6" name="Text 4"/>
          <p:cNvSpPr/>
          <p:nvPr/>
        </p:nvSpPr>
        <p:spPr>
          <a:xfrm>
            <a:off x="594360" y="154533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Team/Enterprise licences with Cowork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Desktop app on pilot machines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Org admin enables Cowork + web access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4754880" y="123444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· Workspace</a:t>
            </a:r>
            <a:endParaRPr lang="en-US" sz="1250" dirty="0"/>
          </a:p>
        </p:txBody>
      </p:sp>
      <p:sp>
        <p:nvSpPr>
          <p:cNvPr id="8" name="Text 6"/>
          <p:cNvSpPr/>
          <p:nvPr/>
        </p:nvSpPr>
        <p:spPr>
          <a:xfrm>
            <a:off x="4800600" y="154533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working folder; grant access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CLAUDE.md (the 'employee handbook')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Skills in .claude/skills/ inside the folder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Copy manifest tooling; never hand-edit the index</a:t>
            </a:r>
            <a:endParaRPr lang="en-US" sz="1000" dirty="0"/>
          </a:p>
        </p:txBody>
      </p:sp>
      <p:sp>
        <p:nvSpPr>
          <p:cNvPr id="9" name="Text 7"/>
          <p:cNvSpPr/>
          <p:nvPr/>
        </p:nvSpPr>
        <p:spPr>
          <a:xfrm>
            <a:off x="54864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· Permissions &amp; browser</a:t>
            </a:r>
            <a:endParaRPr lang="en-US" sz="1250" dirty="0"/>
          </a:p>
        </p:txBody>
      </p:sp>
      <p:sp>
        <p:nvSpPr>
          <p:cNvPr id="10" name="Text 8"/>
          <p:cNvSpPr/>
          <p:nvPr/>
        </p:nvSpPr>
        <p:spPr>
          <a:xfrm>
            <a:off x="594360" y="332841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 file/command/web prompts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Install + connect the Chrome extension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4754880" y="3017520"/>
            <a:ext cx="3931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C9A227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· SharePoint</a:t>
            </a:r>
            <a:endParaRPr lang="en-US" sz="1250" dirty="0"/>
          </a:p>
        </p:txBody>
      </p:sp>
      <p:sp>
        <p:nvSpPr>
          <p:cNvPr id="12" name="Text 10"/>
          <p:cNvSpPr/>
          <p:nvPr/>
        </p:nvSpPr>
        <p:spPr>
          <a:xfrm>
            <a:off x="4800600" y="3328416"/>
            <a:ext cx="388620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Create 'JSE Research' library; sync via OneDrive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 the synced folder as the working folder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Connect SharePoint connector (admin consent)</a:t>
            </a:r>
            <a:endParaRPr lang="en-US" sz="1000" dirty="0"/>
          </a:p>
          <a:p>
            <a:pPr marL="342900" indent="-342900">
              <a:spcAft>
                <a:spcPts val="300"/>
              </a:spcAft>
              <a:buSzPct val="100000"/>
              <a:buChar char="•"/>
            </a:pPr>
            <a:r>
              <a:rPr lang="en-US" sz="1000" dirty="0">
                <a:solidFill>
                  <a:srgbClr val="1A223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One writer to start; team reads via SharePoint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548640" y="4736592"/>
            <a:ext cx="8046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E276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 · Verify: "what are we tracking?" → "tell me about Shoprite" → paste rough notes. All three should just work.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22</Slides>
  <Notes>22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22</vt:i4>
      </vt:variant>
    </vt:vector>
  </HeadingPairs>
  <TitlesOfParts>
    <vt:vector size="25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An All-Weather Analyst</dc:title>
  <dc:subject>PptxGenJS Presentation</dc:subject>
  <dc:creator>Simon Watkins</dc:creator>
  <cp:lastModifiedBy>Simon Watkins</cp:lastModifiedBy>
  <cp:revision>1</cp:revision>
  <dcterms:created xsi:type="dcterms:W3CDTF">2026-06-11T15:22:58Z</dcterms:created>
  <dcterms:modified xsi:type="dcterms:W3CDTF">2026-06-11T15:22:58Z</dcterms:modified>
</cp:coreProperties>
</file>