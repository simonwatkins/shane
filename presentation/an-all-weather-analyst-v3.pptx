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8" r:id="rId29"/>
    <p:sldId id="291" r:id="rId42"/>
    <p:sldId id="257" r:id="rId3"/>
    <p:sldId id="279" r:id="rId30"/>
    <p:sldId id="280" r:id="rId31"/>
    <p:sldId id="258" r:id="rId4"/>
    <p:sldId id="259" r:id="rId5"/>
    <p:sldId id="261" r:id="rId7"/>
    <p:sldId id="281" r:id="rId32"/>
    <p:sldId id="282" r:id="rId33"/>
    <p:sldId id="262" r:id="rId8"/>
    <p:sldId id="263" r:id="rId9"/>
    <p:sldId id="265" r:id="rId11"/>
    <p:sldId id="283" r:id="rId34"/>
    <p:sldId id="266" r:id="rId12"/>
    <p:sldId id="260" r:id="rId6"/>
    <p:sldId id="285" r:id="rId36"/>
    <p:sldId id="286" r:id="rId37"/>
    <p:sldId id="269" r:id="rId15"/>
    <p:sldId id="267" r:id="rId13"/>
    <p:sldId id="268" r:id="rId14"/>
    <p:sldId id="284" r:id="rId35"/>
    <p:sldId id="287" r:id="rId38"/>
    <p:sldId id="270" r:id="rId16"/>
    <p:sldId id="272" r:id="rId18"/>
    <p:sldId id="288" r:id="rId39"/>
    <p:sldId id="292" r:id="rId43"/>
    <p:sldId id="273" r:id="rId19"/>
    <p:sldId id="289" r:id="rId40"/>
    <p:sldId id="290" r:id="rId41"/>
    <p:sldId id="264" r:id="rId10"/>
    <p:sldId id="271" r:id="rId17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7.xml"/><Relationship Id="rId5" Type="http://schemas.openxmlformats.org/officeDocument/2006/relationships/slide" Target="slides/slide8.xml"/><Relationship Id="rId6" Type="http://schemas.openxmlformats.org/officeDocument/2006/relationships/slide" Target="slides/slide17.xml"/><Relationship Id="rId7" Type="http://schemas.openxmlformats.org/officeDocument/2006/relationships/slide" Target="slides/slide9.xml"/><Relationship Id="rId8" Type="http://schemas.openxmlformats.org/officeDocument/2006/relationships/slide" Target="slides/slide12.xml"/><Relationship Id="rId9" Type="http://schemas.openxmlformats.org/officeDocument/2006/relationships/slide" Target="slides/slide13.xml"/><Relationship Id="rId10" Type="http://schemas.openxmlformats.org/officeDocument/2006/relationships/slide" Target="slides/slide32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0.xml"/><Relationship Id="rId16" Type="http://schemas.openxmlformats.org/officeDocument/2006/relationships/slide" Target="slides/slide25.xml"/><Relationship Id="rId17" Type="http://schemas.openxmlformats.org/officeDocument/2006/relationships/slide" Target="slides/slide33.xml"/><Relationship Id="rId18" Type="http://schemas.openxmlformats.org/officeDocument/2006/relationships/slide" Target="slides/slide26.xml"/><Relationship Id="rId19" Type="http://schemas.openxmlformats.org/officeDocument/2006/relationships/slide" Target="slides/slide29.xml"/><Relationship Id="rId20" Type="http://schemas.openxmlformats.org/officeDocument/2006/relationships/slide" Target="slides/slide34.xml"/><Relationship Id="rId21" Type="http://schemas.openxmlformats.org/officeDocument/2006/relationships/slide" Target="slides/slide35.xml"/><Relationship Id="rId22" Type="http://schemas.openxmlformats.org/officeDocument/2006/relationships/slide" Target="slides/slide36.xml"/><Relationship Id="rId23" Type="http://schemas.openxmlformats.org/officeDocument/2006/relationships/slide" Target="slides/slide37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5.xml"/><Relationship Id="rId35" Type="http://schemas.openxmlformats.org/officeDocument/2006/relationships/slide" Target="slides/slide23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4.xml"/><Relationship Id="rId39" Type="http://schemas.openxmlformats.org/officeDocument/2006/relationships/slide" Target="slides/slide27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.xml"/><Relationship Id="rId4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warm, ~30s. "Thank you for your time — and your trust." Then the promise in one breath: by the end you'll have watched Claude research two JSE names end-to-end, seen where it can trip up, and watched a brand-new skill built live — from a sentence to a spreadsheet. Don't sell yet. [0:00–0:30]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CRITICAL STAGING: start Demo A now. Switch to Cowork, paste the Clicks-vs-Dis-Chem prompt (see prompts pack), hit enter, LEAVE IT RUNNING. One line: "I've just asked it to compare two retailers — we'll come back to it." Then walk the agenda fast. It runs ~20 min in the background; you harvest at slide 19. [1:30–3:00]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Quick grounding. Chat answers; an agent does. It reads (hundreds of pages), writes (your format), browses (IR sites), runs code (checked, not guessed). Don't dwell — the evolution slide did the conceptual lifting. ~60s. [6:15–7:15]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Cowork = Claude with hands: a folder it can read/write, a real visible browser, connectors to your systems. The reassurance line matters to leadership: every action sits behind a permission prompt, nothing happens silently. ~60s. [7:15–8:15]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a REAL SKILL.md on screen — it's just a document. Read 3-4 lines aloud so they hear how plain it is. This is the 'demystify' payoff before they watch one get built. ~60s. [18:00–19:00]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Sets up MCP and the data story later. It plugs into SharePoint/Outlook/Teams/Bloomberg — connected once by an admin. For AllWeather, SharePoint becomes the system of record. Brief — full data story comes after the demo. ~45s. [8:15–9:00]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Now: what I actually built. The before/after: hours of finding, downloading, re-keying per name — vs 'tell me about Capitec'. 10 JSE names tracked today, onboarded by asking, not building. ~60s. [12:00–13:00]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architecture in one line each: discovery → downloader → manifest → skill-builder → analyst. Everything in one shared folder. The self-healing line is a good hook: if a website changes and a download breaks, it re-discovers and repairs its own skill. ~75s. [13:00–14:15]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The end-to-end flow for a single name ('tell me about Capitec' → find → download → catalogue → analyse cited → save) plus the 10 tracked names. Use if someone wants the single-company walk-through.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LEADERSHIP SLIDE. Numbers are sacred; source everything; flag uncertainty; always prior-period context. These rules live in the workspace config — enforced every time, not left to memory. Slow down here. ~75s. [14:15–15:30]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skill has three parts, all plain English: description (when to act), instructions (what to do), rules (what never to do). 'If you can brief a junior analyst, you can write one.' ~60s. [17:00–18:00]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B starts. Build a skill from scratch — write the prompt WITH the room (ask: what does a mining analyst look at first?). Paste the mining prompt from the pack. Narrate: we're just writing down how an analyst reads a result. Fallback skill is pre-built in case generation misfires. ~3 min. [25:30–28:30] REFRAIN: stress we're codifying expertise that will be reused — not a one-off.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beats: it writes the SKILL.md (read a line back) → point it at a miner ('apply to the latest results') → then ask for Excel. Keep momentum; don't read every output line. ~2 min. [28:30–30:30] REFRAIN: land the bottom line hard — written once, it reads every miner forever. That IS objective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HARVEST DEMO A: switch back to Cowork, show the finished Clicks-vs-Dis-Chem note. Walk 2-3 cited figures; point out it raised the 6-vs-12-month caveat ITSELF. If it didn't finish, use the fallback in presentation/fallback/. This is the 'it actually works' moment — let it land. Invite a question or two. ~3 min. [22:30–25:30 — flex]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milestones: M1 workspace live (2 pilots) → M2 connect the estate → M3 automate the rhythm (morning updates, IC packs, analyst-authored skills) → M4 firm-wide. Each ships a one-page guide. Compress — point, don't read. ~90s. [33:30–35:00]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What setup actually takes (~half a day): licences, workspace config, permissions+Chrome, SharePoint+consent, smoke tests. Full written guide accompanies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AllWeather-specific architecture: research root in a SharePoint library, OneDrive-synced locally so Cowork works on fast local files while the team sees the same docs (versioning/retention free). Honesty: one writer to start to avoid sync conflicts. ~75s. [35:00–36:15]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asks: nominate 2 pilot analysts; approve the SharePoint library + connector consent; 30 min in week 2 to review output. Then open Q&amp;A. Backups ready: Copilot deep-dive (28), determinism (29), security (32), cost (33), compliance (34), setup (31/35). [37:15–45:00]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Folder-scoped access; explicit permission prompts; admin controls; data handling (CONFIRM current Anthropic commercial terms at docs.claude.com before the session). The data-handling line is the one leadership will push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Team/Enterprise per seat; two seats for the pilot; setup ~half a day of IT; skills cost nothing to replicate. Quote current per-seat pricing at decision time (anthropic.com/pricing).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Informational only (never advice); citations enable spot-checks; human review before anything leaves; closed periods flagged; suspect PDF extractions flagged not presented.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BACKUP. The condensed end-to-end checklist if IT asks 'what do we actually do?'. Mirrors the written setup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I am: senior developer at Trayport, lead on the Automated Trading platform. The 85% = scale and credibility — CONFIRM against Trayport's current public wording before the day. Land the humility line: I build the tech, my finance is self-taught, please correct me. It disarms the experts and buys goodwill. Add your UK retail-energy detail here if you have it. [0:30–1:30]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 idea, plain English. System 1 = fast, intuitive, one-shot (the early chatbots). Agents = it learns to plan, use tools, check itself (slow thinking — nod to Kahneman if the room likes it). Skills = it picks up your know-how only when needed. Today = combine all three = a colleague. Keep it to ~90s, no jargon. [3:00–5:30]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model has read across human writing — calculus to cookbooks, annual reports to Sufi poetry. The point isn't trivia: the hard part is no longer operating the tool, it's knowing what to ask. That makes things EASIER, not harder. This reframes AI from threat to leverage. ~45s, then move. [5:30–6:15]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 question everyone's thinking: does this replace us? No. It carries the routine 80% — finding, re-keying, first-draft. You keep judgement, conviction, relationships, accountability, the call. Why now: the tools just crossed from chat to colleague. Deliver the right-hand list with conviction. ~90s. [9:00–10:30]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even-handed — leadership is leaning Copilot. They ARE analogous: Copilot Cowork (Frontier, Mar 2026) is the same idea, also uses 'skills', and runs Claude among its models. Claude's edge: transparent, portable, plain-text skills, no lock-in. Copilot's edge: native to M365. The way of working ports either way — so this is low-risk whichever they pick. Full table is backup slide 28. ~90s. [10:30–12:00]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Glance at Demo A: 'it's read the interims, now comparing.' Explain the loop: Plan → Act (load the right skill only when needed) → Check &amp; repeat. The punchline sets up limitations: attention is finite, load everything at once and quality drops. ~90s. [15:30–17:00]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slice — protects your credibility. Four failure modes: the dumb zone (finite attention), hallucination (confident errors), misalignment (goal drift), non-determinism (not a calculator). Say plainly: these are real. Then promise the fixes on the next slide. ~120s. [19:00–21:00]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mitigations, one per limit: cite everything; keep scope tight; send exact maths to code (deterministic); brief it explicitly; human sign-off. Bottom line is the keeper: deterministic where it must reconcile, non-deterministic where judgement helps. ~90s. [21:00–22:30]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Excel ask: same skill, new output — a formatted workbook, one row per company, ratios tab. THIS SLIDE IS AN ILLUSTRATIVE TEMPLATE (placeholders) — say so. If the live build lands, show the real .xlsx; otherwise this shows the structure. Name-drop real miners (Anglo, BHP, Sasol). ~90s. [30:30–32:00]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the data comes from: public web/IR/SENS → the download skill (+ Chrome for sites that block fetches) → your workspace; internal models via the SharePoint connector. The trust line: every fetch/write/connector is behind a permission prompt. ~90s. [32:00–33:30]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take-aways: an Everyday guide (PMs/analysts), a Builder's guide (hands-on), the live workspace itself. The message: this is a collaboration, a starting point, and the guides grow with us. ~60s. [36:15–37:15]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BACKUP. Use if pressed on Copilot. Where Claude leads: portable plain-text skills, no M365 dependency, easiest to inspect/trust. Where Copilot leads: native M365, familiar governance, no new vendor. The '3 models' point: Copilot may already be running Claude — choose on fit, not the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BACKUP. If asked 'can I trust the numbers?': the model is non-deterministic (great for drafting, risky for exact maths), so exact sums run in code — one answer, always. The workspace already does this (manifest tooling in Python). Model for judgement, code for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opening FRAME — state the three plainly, slowly. This is the promise you bookend at the close. Objective 2 carries the big idea: codify your expertise ONCE, reuse it across every future problem — expertise that compounds. End with 'hold me to these three.' ~45s. [~2:00]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BOOKEND / payoff — mirror the opening slide. Walk the same three, fast, showing each was delivered; the mining line lands the codify-once-reuse refrain. ~45s, then straight into the ask. [~37:00]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463040"/>
            <a:ext cx="4023360" cy="4023360"/>
          </a:xfrm>
          <a:prstGeom prst="ellipse">
            <a:avLst/>
          </a:prstGeom>
          <a:solidFill>
            <a:srgbClr val="2B3674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566160"/>
            <a:ext cx="2651760" cy="2651760"/>
          </a:xfrm>
          <a:prstGeom prst="ellipse">
            <a:avLst/>
          </a:prstGeom>
          <a:solidFill>
            <a:srgbClr val="2B3674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914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ALLWEATHER CAPITAL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All-Weather Analyst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85800" y="2377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Claude into the investment process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852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— the JSE research workspace, live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 Watkins  ·  June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I'm coming from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2B367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JOB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developer at Trayport, London — a lead engineer on our Automated Trading platform: the algorithmic layer that executes directly into European energy markets.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ANGLE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920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build the technology, not the trading strategy — my own finance is self-taught. Where I get it wrong, I ask your patience and your corrections.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2011680" y="363931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European utilities' derivatives trading flows across our platform — a business that has embraced AI at every level. Let me show you what that looks like.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THREE OBJECTIVES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I hope you'll leave believing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next forty-five minutes, I want you to agree that: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6642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real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now delivers practical, measurable value on an investment desk — not a gimmick, and not just for enthusiasts.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253288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for you — and it compounds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417320" y="281635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be a technologist. Skills let you codify your own expertise once, in plain English — then reuse it across every future problem of that shape.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amplifies, it doesn't replace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417320" y="36850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won't replace analysts — it shortens the path from information to decision, making good analysts faster and sharper. An intelligence amplifier.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me to these three — I'll come back to them at the end.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 45 minutes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00–03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508760" y="12070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 am — and a live demo, started immediately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17190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03–13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17190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got here, and what Claude really is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23113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13–22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508760" y="223113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workspace I built — working as we watch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22–30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limits, staying honest — and the result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325526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30–38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skill live: mining to Excel (no code)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37673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38–45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08760" y="3767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97880" y="1207008"/>
            <a:ext cx="2743200" cy="2926080"/>
          </a:xfrm>
          <a:prstGeom prst="roundRect">
            <a:avLst>
              <a:gd name="adj" fmla="val 2000"/>
            </a:avLst>
          </a:prstGeom>
          <a:solidFill>
            <a:srgbClr val="EEF3FC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26480" y="178308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you'll have watched Claude research two JSE companies end-to-end, seen exactly where it can trip up — and watched a brand-new skill built live, from a sentence to a spreadsheet.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3520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involved.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got here, in three big steps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2022–23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in, answer out. Brilliant, instant, intuitive — but one shot, no plan, no memory. The fast, reflexive kind of thinking.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79192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2862072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862072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62072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62072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learns to pause and plan: break a job into steps, use tools, check its own work, keep going. Slow, deliberate thinking arrives.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9744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5" name="Text 13"/>
          <p:cNvSpPr/>
          <p:nvPr/>
        </p:nvSpPr>
        <p:spPr>
          <a:xfrm>
            <a:off x="4992624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992624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92624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92624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know-how it picks up only when a task needs it — your house style, your rules, on tap.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0296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20" name="Text 18"/>
          <p:cNvSpPr/>
          <p:nvPr/>
        </p:nvSpPr>
        <p:spPr>
          <a:xfrm>
            <a:off x="7123176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23176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23176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23176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them and you get something that doesn't just answer — it does the work, your way. That's what we'll watch.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343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made the tool do more of the work — and made it easier to use, not harder.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Trained on (almost) everything we've written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has read across the breadth of human writing: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46720" cy="1737360"/>
          </a:xfrm>
          <a:prstGeom prst="roundRect">
            <a:avLst>
              <a:gd name="adj" fmla="val 3158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Calculus textbooks and cookbooks. Annual reports and Sufi poetry. Case law, clinical trials, code, and centuries of argument — compressed into one system you brief in plain English.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real shift: the hard part is no longer operating the tool. It's knowing what to ask — which makes things easier, not harder.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Claude?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frontier AI model. In chat it answers questions; used as an agent, it completes tasks.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EEF3FC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3852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2039478"/>
            <a:ext cx="218724" cy="2187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7190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325880" y="20116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reports, interims, SENS announcements, spreadsheets — hundreds of pages at a time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572768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EEF3FC"/>
          </a:solidFill>
          <a:ln/>
        </p:spPr>
      </p:sp>
      <p:sp>
        <p:nvSpPr>
          <p:cNvPr id="11" name="Shape 8"/>
          <p:cNvSpPr/>
          <p:nvPr/>
        </p:nvSpPr>
        <p:spPr>
          <a:xfrm>
            <a:off x="4956048" y="193852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998" y="2039478"/>
            <a:ext cx="218724" cy="2187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7190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532120" y="20116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notes, decks, models — in the house format, every time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EEF3FC"/>
          </a:solidFill>
          <a:ln/>
        </p:spPr>
      </p:sp>
      <p:sp>
        <p:nvSpPr>
          <p:cNvPr id="16" name="Shape 12"/>
          <p:cNvSpPr/>
          <p:nvPr/>
        </p:nvSpPr>
        <p:spPr>
          <a:xfrm>
            <a:off x="749808" y="32369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8" y="3337926"/>
            <a:ext cx="218724" cy="2187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325880" y="33101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IR pages, downloads filings, monitors announcements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54880" y="2871216"/>
            <a:ext cx="3931920" cy="1152144"/>
          </a:xfrm>
          <a:prstGeom prst="roundRect">
            <a:avLst>
              <a:gd name="adj" fmla="val 4762"/>
            </a:avLst>
          </a:prstGeom>
          <a:solidFill>
            <a:srgbClr val="EEF3FC"/>
          </a:solidFill>
          <a:ln/>
        </p:spPr>
      </p:sp>
      <p:sp>
        <p:nvSpPr>
          <p:cNvPr id="21" name="Shape 16"/>
          <p:cNvSpPr/>
          <p:nvPr/>
        </p:nvSpPr>
        <p:spPr>
          <a:xfrm>
            <a:off x="4956048" y="32369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998" y="3337926"/>
            <a:ext cx="218724" cy="21872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32120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code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5532120" y="33101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Calculations, file management, document tooling — checked, not guessed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that matters today: chat answers. An agent does.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Cowork: Claude with hands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24328" cy="2331720"/>
          </a:xfrm>
          <a:prstGeom prst="roundRect">
            <a:avLst>
              <a:gd name="adj" fmla="val 2353"/>
            </a:avLst>
          </a:prstGeom>
          <a:solidFill>
            <a:srgbClr val="EEF3FC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3619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650309"/>
            <a:ext cx="247254" cy="2472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1762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77240" y="2505456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folder on your machine it can read and write — and nothing outside it.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55848" y="1280160"/>
            <a:ext cx="2624328" cy="2331720"/>
          </a:xfrm>
          <a:prstGeom prst="roundRect">
            <a:avLst>
              <a:gd name="adj" fmla="val 2353"/>
            </a:avLst>
          </a:prstGeom>
          <a:solidFill>
            <a:srgbClr val="EEF3FC"/>
          </a:solidFill>
          <a:ln/>
        </p:spPr>
      </p:sp>
      <p:sp>
        <p:nvSpPr>
          <p:cNvPr id="10" name="Shape 7"/>
          <p:cNvSpPr/>
          <p:nvPr/>
        </p:nvSpPr>
        <p:spPr>
          <a:xfrm>
            <a:off x="3584448" y="153619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565" y="1650309"/>
            <a:ext cx="247254" cy="24725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84448" y="21762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584448" y="2505456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a real, visible Chrome tab for the IR sites that block simple downloads.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63056" y="1280160"/>
            <a:ext cx="2624328" cy="2331720"/>
          </a:xfrm>
          <a:prstGeom prst="roundRect">
            <a:avLst>
              <a:gd name="adj" fmla="val 2353"/>
            </a:avLst>
          </a:prstGeom>
          <a:solidFill>
            <a:srgbClr val="EEF3FC"/>
          </a:solidFill>
          <a:ln/>
        </p:spPr>
      </p:sp>
      <p:sp>
        <p:nvSpPr>
          <p:cNvPr id="15" name="Shape 11"/>
          <p:cNvSpPr/>
          <p:nvPr/>
        </p:nvSpPr>
        <p:spPr>
          <a:xfrm>
            <a:off x="6391656" y="153619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773" y="1650309"/>
            <a:ext cx="247254" cy="24725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91656" y="21762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systems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391656" y="2505456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SharePoint, Outlook, Teams — your data, with admin consent.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sits behind an explicit permission prompt. Nothing happens silently.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Connectors: plug into your tools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947672" cy="214884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51790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147" y="1623243"/>
            <a:ext cx="228234" cy="2282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1031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9808" y="2414016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research, models and notes — read in place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79192" y="1280160"/>
            <a:ext cx="1947672" cy="214884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0" name="Shape 7"/>
          <p:cNvSpPr/>
          <p:nvPr/>
        </p:nvSpPr>
        <p:spPr>
          <a:xfrm>
            <a:off x="2880360" y="151790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699" y="1623243"/>
            <a:ext cx="228234" cy="2282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80360" y="21031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880360" y="2414016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notes and results emails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09744" y="1280160"/>
            <a:ext cx="1947672" cy="214884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010912" y="151790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251" y="1623243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10912" y="21031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010912" y="2414016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material findings to the desk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940296" y="1280160"/>
            <a:ext cx="1947672" cy="214884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20" name="Shape 15"/>
          <p:cNvSpPr/>
          <p:nvPr/>
        </p:nvSpPr>
        <p:spPr>
          <a:xfrm>
            <a:off x="7141464" y="151790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803" y="1623243"/>
            <a:ext cx="228234" cy="22823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41464" y="21031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Bloomberg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41464" y="2414016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and consensus (where licensed)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3794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once by an admin. Afterwards Claude can cite internal models alongside public filings.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AllWeather, SharePoint becomes the system of record — detail in the roadmap.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+ CLAUDE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does — and where you stay essential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52728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52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23444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and reads the filings — hundreds of pages in minutes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1109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89280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Re-keys and cross-checks every number, each one cited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56946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69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55117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first pass in your house format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278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095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tires, never cuts a corner, ready before the open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386791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routine 80% — so you begin at the judgement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0" y="1234440"/>
            <a:ext cx="2926080" cy="3246120"/>
          </a:xfrm>
          <a:prstGeom prst="roundRect">
            <a:avLst>
              <a:gd name="adj" fmla="val 1875"/>
            </a:avLst>
          </a:prstGeom>
          <a:solidFill>
            <a:srgbClr val="EEF3FC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0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DECIDE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0" y="1783080"/>
            <a:ext cx="1280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360920" y="17830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Scepticism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Originality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Cowork vs Copilot "Cowork"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2B367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plain text you can read, version and share. Radically transparent and portable, with no platform lock-in. A research preview today.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COWORK (FRONTIER)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920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Microsoft’s analogue, launched March 2026. Native to the M365 estate you already run, also built on reusable "skills" — and it runs Claude among its models.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2011680" y="363931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analogous. The real choice is fit — your estate, governance and how much transparency you want — and the way of working ports either way.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JSE coverage, before and after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2B367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IR page → download the PDF → re-key the numbers → only then, analysis. Hours per name, every results season.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920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"Tell me about Capitec." Discovery, downloads, cataloguing and a cited first-pass analysis happen on their own.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2011680" y="363931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JSE companies tracked in the pilot workspace today — onboarded by asking, not by building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skills, one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499616" cy="1691640"/>
          </a:xfrm>
          <a:prstGeom prst="roundRect">
            <a:avLst>
              <a:gd name="adj" fmla="val 3659"/>
            </a:avLst>
          </a:prstGeom>
          <a:solidFill>
            <a:srgbClr val="EEF3FC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5179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12648" y="182880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company's IR site and maps where documents live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93392" y="202996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212848" y="1371600"/>
            <a:ext cx="1499616" cy="1691640"/>
          </a:xfrm>
          <a:prstGeom prst="roundRect">
            <a:avLst>
              <a:gd name="adj" fmla="val 3659"/>
            </a:avLst>
          </a:prstGeom>
          <a:solidFill>
            <a:srgbClr val="EEF3FC"/>
          </a:solidFill>
          <a:ln/>
        </p:spPr>
      </p:sp>
      <p:sp>
        <p:nvSpPr>
          <p:cNvPr id="9" name="Text 7"/>
          <p:cNvSpPr/>
          <p:nvPr/>
        </p:nvSpPr>
        <p:spPr>
          <a:xfrm>
            <a:off x="2322576" y="15179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22576" y="182880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reports, SENS, presentations — automatically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3320" y="202996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922776" y="1371600"/>
            <a:ext cx="1499616" cy="1691640"/>
          </a:xfrm>
          <a:prstGeom prst="roundRect">
            <a:avLst>
              <a:gd name="adj" fmla="val 3659"/>
            </a:avLst>
          </a:prstGeom>
          <a:solidFill>
            <a:srgbClr val="EEF3FC"/>
          </a:solidFill>
          <a:ln/>
        </p:spPr>
      </p:sp>
      <p:sp>
        <p:nvSpPr>
          <p:cNvPr id="13" name="Text 11"/>
          <p:cNvSpPr/>
          <p:nvPr/>
        </p:nvSpPr>
        <p:spPr>
          <a:xfrm>
            <a:off x="4032504" y="15179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32504" y="182880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Catalogues everything; surfaces gaps and what's due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13248" y="202996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32704" y="1371600"/>
            <a:ext cx="1499616" cy="1691640"/>
          </a:xfrm>
          <a:prstGeom prst="roundRect">
            <a:avLst>
              <a:gd name="adj" fmla="val 3659"/>
            </a:avLst>
          </a:prstGeom>
          <a:solidFill>
            <a:srgbClr val="EEF3FC"/>
          </a:solidFill>
          <a:ln/>
        </p:spPr>
      </p:sp>
      <p:sp>
        <p:nvSpPr>
          <p:cNvPr id="17" name="Text 15"/>
          <p:cNvSpPr/>
          <p:nvPr/>
        </p:nvSpPr>
        <p:spPr>
          <a:xfrm>
            <a:off x="5742432" y="15179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Skill-builder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42432" y="182880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company its own skill, so next time is instant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23176" y="202996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42632" y="1371600"/>
            <a:ext cx="1499616" cy="1691640"/>
          </a:xfrm>
          <a:prstGeom prst="roundRect">
            <a:avLst>
              <a:gd name="adj" fmla="val 3659"/>
            </a:avLst>
          </a:prstGeom>
          <a:solidFill>
            <a:srgbClr val="EEF3FC"/>
          </a:solidFill>
          <a:ln/>
        </p:spPr>
      </p:sp>
      <p:sp>
        <p:nvSpPr>
          <p:cNvPr id="21" name="Text 19"/>
          <p:cNvSpPr/>
          <p:nvPr/>
        </p:nvSpPr>
        <p:spPr>
          <a:xfrm>
            <a:off x="7452360" y="15179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52360" y="182880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Standardised, cited analysis from local documents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3429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lives in one shared folder — documents, index, skills, configuration. Portable, inspectable, versioned.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website changes and a download breaks, the workspace re-discovers the source and repairs its own skill.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be trusted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EEF3FC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179259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4447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sacred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325880" y="1755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rounded or estimated; derived figures marked (e), working shown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280160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EEF3FC"/>
          </a:solidFill>
          <a:ln/>
        </p:spPr>
      </p:sp>
      <p:sp>
        <p:nvSpPr>
          <p:cNvPr id="10" name="Shape 7"/>
          <p:cNvSpPr/>
          <p:nvPr/>
        </p:nvSpPr>
        <p:spPr>
          <a:xfrm>
            <a:off x="4956048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998" y="17925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4447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everything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532120" y="17556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cited to its document and page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2697480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EEF3FC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310896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8" y="3209910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28620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uncertainty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325880" y="31729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reported as "not disclosed" — never papered over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2697480"/>
            <a:ext cx="3931920" cy="1261872"/>
          </a:xfrm>
          <a:prstGeom prst="roundRect">
            <a:avLst>
              <a:gd name="adj" fmla="val 4348"/>
            </a:avLst>
          </a:prstGeom>
          <a:solidFill>
            <a:srgbClr val="EEF3FC"/>
          </a:solidFill>
          <a:ln/>
        </p:spPr>
      </p:sp>
      <p:sp>
        <p:nvSpPr>
          <p:cNvPr id="20" name="Shape 15"/>
          <p:cNvSpPr/>
          <p:nvPr/>
        </p:nvSpPr>
        <p:spPr>
          <a:xfrm>
            <a:off x="4956048" y="310896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998" y="3209910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28620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always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5532120" y="31729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against the prior period, with the change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rules live in the workspace configuration — enforced on every analysis, not left to memory.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IT RUNS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"agentic" means — happening right now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me, Claude is working a loop — the same one any analyst uses: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6642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request, check what's already on disk, decide the next step. No grand script — it reasons as it goes.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253288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— and load a skill only when it's needed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417320" y="281635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in one skill at a time, use a tool, fetch a file. Skills it isn't using stay out of the way.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Check, then repeat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417320" y="36850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result to the goal, correct, continue — until the task is genuinely done, not just attempted.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"only when needed" matters: attention is finite. Load everything at once and quality drops — more on that next.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Demystifying skills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has three parts. All of them are plain English.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6642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when to act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phrases people actually say: "format my IC notes", "tidy these minutes"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253288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what to do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417320" y="281635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you would give a new team member: sections, order, format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— what never to do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417320" y="36850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"Never invent content." "Keep numbers exactly as written." Guardrails, encoded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we build one, live, in five minutes.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instructions, not software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"If you can write an email briefing a junior analyst, you can write a skill."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3886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markdown document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Claude when to act and what to do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fund's standards — formats, guardrails, house style — automatically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00600" y="1188720"/>
            <a:ext cx="3886200" cy="3520440"/>
          </a:xfrm>
          <a:prstGeom prst="roundRect">
            <a:avLst>
              <a:gd name="adj" fmla="val 155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ic-meeting-note-formatter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Formats rough IC meeting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notes into AllWeather's standard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minutes. Use when the user pastes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meeting notes...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Output format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Header - date, attendees, chair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Decisions taken - numbered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Actions - owner and due date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Dissenting 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Rules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Never invent content.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Keep numbers exactly as written.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800600" y="475488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actual skill from this workspace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LIMITS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it can let you down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attention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dumb 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 too much in at once and quality falls. An overloaded context thinks worse — like a desk buried under paper.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79192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2862072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862072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errors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62072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62072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state a wrong number with total confidence. Fluent is not the same as correct — so everything stays checkable.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9744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5" name="Text 13"/>
          <p:cNvSpPr/>
          <p:nvPr/>
        </p:nvSpPr>
        <p:spPr>
          <a:xfrm>
            <a:off x="4992624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992624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drift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92624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Misalignment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92624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vaguely and it optimises for the wrong thing. Most 'AI failures' are really briefing failures.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0296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20" name="Text 18"/>
          <p:cNvSpPr/>
          <p:nvPr/>
        </p:nvSpPr>
        <p:spPr>
          <a:xfrm>
            <a:off x="7123176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23176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calculator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23176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Non-deterministic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23176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prompt, slightly different wording each run. Great for drafting; wrong for anything that must reconcile.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343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are dealbreakers — each has a discipline that defangs it. That's the next slide.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HONEST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and how we keep it honest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0759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31673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every number to document and page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0" y="13350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checkable in seconds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9202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scope tight; load only the skill you need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9385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the dumb zone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5237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exact maths to code, not the model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5420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every time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12724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it like a junior: explicit goals and guardrails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1455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kills goal-drift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300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before anything leaves the building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749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analyst owns the call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389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where it must reconcile; non-deterministic where judgement helps — use each for what it is good at.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BACKGROUND JOB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Meanwhile, Claude was working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from minute 2: "Compare Clicks and Dis-Chem's latest results... cite every number."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514600"/>
          </a:xfrm>
          <a:prstGeom prst="roundRect">
            <a:avLst>
              <a:gd name="adj" fmla="val 2182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— H1 FY2026 (6m to 28 Feb 2026)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31720" y="197510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R24,872.2m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11880" y="197510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23591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HEPS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31720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652.8c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235915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77240" y="2743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margin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27432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9.1%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611880" y="2743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31272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DPS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331720" y="31272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258.0c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611880" y="31272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+8.4%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77240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H1 FY2026 interim results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63040"/>
            <a:ext cx="3931920" cy="2514600"/>
          </a:xfrm>
          <a:prstGeom prst="roundRect">
            <a:avLst>
              <a:gd name="adj" fmla="val 2182"/>
            </a:avLst>
          </a:prstGeom>
          <a:solidFill>
            <a:srgbClr val="EEF3FC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627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DIS-CHEM — FY2026 (12m to 28 Feb 2026)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19751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46520" y="197510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R42,825.8m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26680" y="197510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92040" y="23591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46520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113.7c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726680" y="235915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−17.3%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92040" y="2743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LFL retail sales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26680" y="2743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92040" y="31272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DPS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46520" y="31272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15.9c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726680" y="31272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−42.8%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892040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FY2026 audited AFS &amp; results presentation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periods differ (six vs twelve months, both to 28 February 2026) — a caveat Claude raised itself, with every figure cited to document and page.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skill from scratch: mining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idea, in one paragraph of plain English (let's write it together):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46720" cy="1737360"/>
          </a:xfrm>
          <a:prstGeom prst="roundRect">
            <a:avLst>
              <a:gd name="adj" fmla="val 3158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"Create a skill for analysing JSE mining results: pull revenue, EBITDA and margin, headline earnings and HEPS, net debt and net-debt-to-EBITDA, free cash flow and dividends — always versus the prior period, every figure cited to document and page. Flag commodity-price and rand sensitivity. Never invent a number; write 'not disclosed' where it is missing."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what we're really doing: writing down how a mining analyst reads a result. That is all a skill is.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 it come to life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3716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skill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70992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SKILL.md appears — read it back; it's plain English you can edit.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 miner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"Apply it to the latest results" — it loads the new skill and works the loop.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2918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turn it into Excel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63016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"Now a peer table as a formatted workbook" — same skill, a different output.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once, this skill now reads every miner on the JSE — this results season and every one after. That is the leverage.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skill, delivered as Excel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prompt: "Now turn the mining peer comparison into a formatted Excel workbook — one row per company, with a ratios-and-flags tab."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514600"/>
          </a:xfrm>
          <a:prstGeom prst="roundRect">
            <a:avLst>
              <a:gd name="adj" fmla="val 2182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THE SKILL FILLS (1 of 2)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(R'm)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31720" y="197510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11880" y="197510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pcp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23591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31720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%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235915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77240" y="2743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EPS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27432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611880" y="2743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pcp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77240" y="31272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/ EBITDA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331720" y="31272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611880" y="31272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77240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to document &amp; page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63040"/>
            <a:ext cx="3931920" cy="2514600"/>
          </a:xfrm>
          <a:prstGeom prst="roundRect">
            <a:avLst>
              <a:gd name="adj" fmla="val 2182"/>
            </a:avLst>
          </a:prstGeom>
          <a:solidFill>
            <a:srgbClr val="EEF3FC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627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THE SKILL FILLS (2 of 2)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19751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cash flow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46520" y="197510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26680" y="197510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pcp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92040" y="235915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/ share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46520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726680" y="235915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pcp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92040" y="2743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26680" y="2743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92040" y="31272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cost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46520" y="31272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726680" y="31272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892040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company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columns. The live build fills them with cited figures for real names — Anglo, BHP, Sasol, Gold Fields, Exxaro — every number sourced.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COMES FROM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Claude gets what it analyses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web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sites · SENS · filings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063240" y="148132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&amp; filed by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3258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EEF3FC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download skill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Chrome for hard sites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6772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52360" y="13258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146304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+ Claude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models &amp; notes join via the SharePoint connector — read in place, no migration.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&amp; fetch for anything public — prices, news, filings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download skill finds, names and files reports automatically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 drives IR sites that block plain downloads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fetch, file write and connector sits behind a permission prompt — nothing happens silently.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path from pilot to firm-wide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JSE workspace live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SharePoint; two pilot analysts; current coverage as the watchlist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79192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2862072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862072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3–6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62072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estate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62072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research and Outlook broker notes wired in; team-wide read access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9744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15" name="Text 13"/>
          <p:cNvSpPr/>
          <p:nvPr/>
        </p:nvSpPr>
        <p:spPr>
          <a:xfrm>
            <a:off x="4992624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992624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6–10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92624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rhythm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92624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watchlist updates; IC pack generation; analysts writing their own skills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0296" y="1280160"/>
            <a:ext cx="1947672" cy="2743200"/>
          </a:xfrm>
          <a:prstGeom prst="roundRect">
            <a:avLst>
              <a:gd name="adj" fmla="val 2817"/>
            </a:avLst>
          </a:prstGeom>
          <a:solidFill>
            <a:srgbClr val="EEF3FC"/>
          </a:solidFill>
          <a:ln/>
        </p:spPr>
      </p:sp>
      <p:sp>
        <p:nvSpPr>
          <p:cNvPr id="20" name="Text 18"/>
          <p:cNvSpPr/>
          <p:nvPr/>
        </p:nvSpPr>
        <p:spPr>
          <a:xfrm>
            <a:off x="7123176" y="1444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23176" y="193852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23176" y="223113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Firm-wide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23176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compliance and IR monitoring; skill governance; all-staff training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343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ships with its own one-page setup guide.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data lives: SharePoint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"JSE Research"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library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063240" y="148132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OneDrive sync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325880"/>
            <a:ext cx="2468880" cy="1143000"/>
          </a:xfrm>
          <a:prstGeom prst="roundRect">
            <a:avLst>
              <a:gd name="adj" fmla="val 4800"/>
            </a:avLst>
          </a:prstGeom>
          <a:solidFill>
            <a:srgbClr val="EEF3FC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working folder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(Cowork)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6772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52360" y="1325880"/>
            <a:ext cx="1325880" cy="1143000"/>
          </a:xfrm>
          <a:prstGeom prst="roundRect">
            <a:avLst>
              <a:gd name="adj" fmla="val 4800"/>
            </a:avLst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146304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 /Research/[Company]/  read directly via the SharePoint connector — no migration needed.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Team-wide visibility, versioning and retention — for free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works on local synced files: fast and reliable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internal research readable in place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writer (the pilot analyst); everyone else reads via SharePoint — avoids sync conflicts.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TODAY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have in your hands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have to remember any of this — it's all written down, for two audiences: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6642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guide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PM and analyst: what Claude is, how to ask well, a prompt cheat-sheet. No code.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253288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Builder's guide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417320" y="281635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hands-on: the anatomy of a skill, the workspace, MCP connectors, maintenance.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workspace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417320" y="36850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JSE workspace itself — yours to use, copy and grow. A starting point, not a finished product.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collaboration: we'll learn what works for AllWeather together, and the guides grow with us.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OBJECTIVES, REVISITED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— did we get there?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 opened with — and what you've now seen of each: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6642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real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watched Claude research two companies end-to-end, every figure cited — and turn one sentence into a peer-comparison spreadsheet.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253288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for you — and it compounds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417320" y="281635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brand-new mining skill in plain English, live. Written once, it now reads every miner on the JSE — this season and every season after.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8046720" cy="749808"/>
          </a:xfrm>
          <a:prstGeom prst="roundRect">
            <a:avLst>
              <a:gd name="adj" fmla="val 7317"/>
            </a:avLst>
          </a:prstGeom>
          <a:solidFill>
            <a:srgbClr val="EEF3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amplifies, it doesn't replace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417320" y="36850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removes your judgement. It hands back the hours around it, and shortens the path to the decision.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I opened with. Now — what I'm asking for.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asking for today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35608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173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 two pilot analysts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13055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"JSE Research" SharePoint library and connector consent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862072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2843784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minutes in week two to review pilot output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3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LANDSCAPE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vs Copilot, in more depth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2B367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CLAUDE LEADS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plain markdown: readable, diff-able, portable across machines and teams. Deep file and agent work with no M365 dependency — the easiest stack to inspect and trust.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31920" cy="1783080"/>
          </a:xfrm>
          <a:prstGeom prst="roundRect">
            <a:avLst>
              <a:gd name="adj" fmla="val 3077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48920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COPILOT LEADS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92040" y="18288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inside M365: native to Word, Excel, Teams and SharePoint, with admin governance you know and no new vendor. Strong if you live in Microsoft.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2011680" y="363931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sit behind Copilot (OpenAI, Anthropic, Google) — so it may already be running Claude. Choose on fit and governance, not the model badge.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HOW IT THINKS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vs non-deterministic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0759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31673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Non-deterministic by default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0" y="13350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 → slightly different wording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9202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drafting, summarising, ideas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9385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is a feature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5237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for exact, repeatable maths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5420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becomes a bug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12724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hand hard sums to code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1455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returns one answer, always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300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749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for judgement, code for arithmetic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389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workspace already does this: totals and ratios run in Python, not freehand by the model.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sentence in, an analysis out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252728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52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23444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"Tell me about Capitec"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1109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89280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IR site; downloads the latest results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56946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69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55117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Catalogues them in the document index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278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2095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analyses — every figure cited to document and page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386791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the note where the whole team can see 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0" y="1234440"/>
            <a:ext cx="2926080" cy="3246120"/>
          </a:xfrm>
          <a:prstGeom prst="roundRect">
            <a:avLst>
              <a:gd name="adj" fmla="val 1875"/>
            </a:avLst>
          </a:prstGeom>
          <a:solidFill>
            <a:srgbClr val="EEF3FC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0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TODAY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0" y="1783080"/>
            <a:ext cx="1280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Shoprite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Dis-Chem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Woolworths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Price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360920" y="1783080"/>
            <a:ext cx="1188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Naspers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FirstRand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Richemont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Reinet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actually takes: about half a day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0759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31673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Licences and the desktop app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0" y="13350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· ~1 hour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9202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folder and workspace configuration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9385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analyst · 30 min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5237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and the Chrome extension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5420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analyst · 20 min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12724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library and connector consent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1455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+ admin · 1–2 hours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300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tests against a tracked company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749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analyst · 15 min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389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guide — including the gotchas we hit so you don't — accompanies this deck.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SECURITY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and data handling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26680" y="292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8930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590" y="1390254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234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Folder-scoped access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179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reads and writes only the selected working folder — nothing else on the machine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13055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90" y="2231502"/>
            <a:ext cx="218724" cy="2187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permissions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188720" y="23591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command and web actions sit behind prompts; browser actions happen in a visible tab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90" y="30727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controls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188720" y="3200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owners control web access and connectors centrally (Admin settings → Capabilities)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81304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90" y="3913998"/>
            <a:ext cx="218724" cy="2187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88720" y="375818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188720" y="404164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terms govern training and retention — confirm the current policy at docs.claude.com at decision time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COST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costs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26680" y="292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EF3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38988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138988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Team or Enterprise, per seat. The pilot needs two seats.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EF3F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671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216712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half a day of IT time. No servers, no infrastructure, no consultants.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EF3F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9443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(M4)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51760" y="294436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seats per user. The workspace, skills and guides cost nothing to replicate.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EEF3F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216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51760" y="37216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maintained by the people who use them — editing a text file, not a vendor contract.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per-seat pricing: anthropic.com/pricing — quote at time of decision.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COMPLIANCE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and compliance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26680" y="292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66928" y="128016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34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 only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114800" y="1234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are research support, never investment advice — stated on every analysis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1938528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8928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enable spot-checks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0" y="18928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figure traces to document and page in seconds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596896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5511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0" y="25511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leaves the building without an analyst's sign-off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255264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095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periods flagged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0" y="32095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Dealing restrictions surface automatically in meeting notes and analyses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913632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8679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data flagged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14800" y="38679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Garbled PDF extractions are reported for verification, not presented as fact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SETUP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setup checklist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26680" y="292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Install &amp; access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1545336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Team/Enterprise licences with Cowork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 on pilot machines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admin enables Cowork + web access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Workspace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00600" y="1545336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working folder; grant access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CLAUDE.md (the 'employee handbook')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in .claude/skills/ inside the folder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manifest tooling; never hand-edit the index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Permissions &amp; browser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3328416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file/command/web prompts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connect the Chrome extension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SharePoint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00600" y="3328416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'JSE Research' library; sync via OneDrive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synced folder as the working folder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SharePoint connector (admin consent)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 to start; team reads via SharePoint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47365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Verify: "what are we tracking?" → "tell me about Shoprite" → paste rough notes. All three should just work.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All-Weather Analyst</dc:title>
  <dc:subject>PptxGenJS Presentation</dc:subject>
  <dc:creator>Simon Watkins</dc:creator>
  <cp:lastModifiedBy>Simon Watkins</cp:lastModifiedBy>
  <cp:revision>1</cp:revision>
  <dcterms:created xsi:type="dcterms:W3CDTF">2026-06-11T15:22:58Z</dcterms:created>
  <dcterms:modified xsi:type="dcterms:W3CDTF">2026-06-11T15:22:58Z</dcterms:modified>
</cp:coreProperties>
</file>